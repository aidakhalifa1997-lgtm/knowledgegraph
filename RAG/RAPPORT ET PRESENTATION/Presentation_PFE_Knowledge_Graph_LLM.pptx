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4.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b05bf1e-954d-9c12-b931-323610fdf785}">
          <p14:sldIdLst>
            <p14:sldId id="256"/>
            <p14:sldId id="257"/>
            <p14:sldId id="258"/>
            <p14:sldId id="259"/>
          </p14:sldIdLst>
        </p14:section>
        <p14:section name="La solution" id="{adc71822-a050-fe25-bd94-996f31deaa87}">
          <p14:sldIdLst>
            <p14:sldId id="260"/>
            <p14:sldId id="261"/>
            <p14:sldId id="262"/>
            <p14:sldId id="263"/>
            <p14:sldId id="264"/>
            <p14:sldId id="265"/>
            <p14:sldId id="266"/>
          </p14:sldIdLst>
        </p14:section>
        <p14:section name="Évaluation" id="{a300db8b-25d4-7ed5-f2c7-daae1111907f}">
          <p14:sldIdLst>
            <p14:sldId id="267"/>
            <p14:sldId id="268"/>
            <p14:sldId id="269"/>
            <p14:sldId id="270"/>
            <p14:sldId id="271"/>
            <p14:sldId id="272"/>
          </p14:sldIdLst>
        </p14:section>
        <p14:section name="Déploiement et conclusion" id="{66e82052-f440-4d98-8093-17eeaacff329}">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D2B3A"/>
                </a:solidFill>
                <a:latin typeface="+mn-lt"/>
              </a:defRPr>
            </a:pPr>
            <a:r>
              <a:rPr sz="1400" b="0" i="0" u="none" strike="noStrike">
                <a:solidFill>
                  <a:srgbClr val="1D2B3A"/>
                </a:solidFill>
                <a:latin typeface="+mn-lt"/>
              </a:rPr>
              <a:t>nDCG@5 moyen (55 questions)</a:t>
            </a:r>
          </a:p>
        </c:rich>
      </c:tx>
      <c:layout/>
      <c:overlay val="0"/>
    </c:title>
    <c:autoTitleDeleted val="0"/>
    <c:plotArea>
      <c:layout/>
      <c:barChart>
        <c:barDir val="bar"/>
        <c:grouping val="clustered"/>
        <c:varyColors val="0"/>
        <c:ser>
          <c:idx val="0"/>
          <c:order val="0"/>
          <c:tx>
            <c:strRef>
              <c:f>Sheet1!$B$1</c:f>
              <c:strCache>
                <c:ptCount val="1"/>
                <c:pt idx="0">
                  <c:v>nDCG@5</c:v>
                </c:pt>
              </c:strCache>
            </c:strRef>
          </c:tx>
          <c:spPr>
            <a:solidFill>
              <a:srgbClr val="8A9BAE"/>
            </a:solidFill>
            <a:effectLst/>
          </c:spPr>
          <c:invertIfNegative val="0"/>
          <c:dLbls>
            <c:numFmt formatCode="0.000" sourceLinked="0"/>
            <c:txPr>
              <a:bodyPr/>
              <a:lstStyle/>
              <a:p>
                <a:pPr>
                  <a:defRPr b="0" i="0" strike="noStrike" sz="1200" u="none">
                    <a:solidFill>
                      <a:srgbClr val="1D2B3A"/>
                    </a:solidFill>
                    <a:latin typeface="+mn-lt"/>
                  </a:defRPr>
                </a:pPr>
              </a:p>
            </c:txPr>
            <c:showLegendKey val="0"/>
            <c:showVal val="1"/>
            <c:showCatName val="0"/>
            <c:showSerName val="0"/>
            <c:showPercent val="0"/>
            <c:showBubbleSize val="0"/>
            <c:showLeaderLines val="0"/>
          </c:dLbls>
          <c:dPt>
            <c:idx val="0"/>
            <c:invertIfNegative val="0"/>
            <c:bubble3D val="0"/>
            <c:spPr>
              <a:solidFill>
                <a:srgbClr val="8A9BAE"/>
              </a:solidFill>
              <a:effectLst/>
            </c:spPr>
          </c:dPt>
          <c:dPt>
            <c:idx val="1"/>
            <c:invertIfNegative val="0"/>
            <c:bubble3D val="0"/>
            <c:spPr>
              <a:solidFill>
                <a:srgbClr val="8A9BAE"/>
              </a:solidFill>
              <a:effectLst/>
            </c:spPr>
          </c:dPt>
          <c:dPt>
            <c:idx val="2"/>
            <c:invertIfNegative val="0"/>
            <c:bubble3D val="0"/>
            <c:spPr>
              <a:solidFill>
                <a:srgbClr val="8A9BAE"/>
              </a:solidFill>
              <a:effectLst/>
            </c:spPr>
          </c:dPt>
          <c:dPt>
            <c:idx val="3"/>
            <c:invertIfNegative val="0"/>
            <c:bubble3D val="0"/>
            <c:spPr>
              <a:solidFill>
                <a:srgbClr val="8A9BAE"/>
              </a:solidFill>
              <a:effectLst/>
            </c:spPr>
          </c:dPt>
          <c:dPt>
            <c:idx val="4"/>
            <c:invertIfNegative val="0"/>
            <c:bubble3D val="0"/>
            <c:spPr>
              <a:solidFill>
                <a:srgbClr val="2E7D7A"/>
              </a:solidFill>
              <a:effectLst/>
            </c:spPr>
          </c:dPt>
          <c:dPt>
            <c:idx val="5"/>
            <c:invertIfNegative val="0"/>
            <c:bubble3D val="0"/>
            <c:spPr>
              <a:solidFill>
                <a:srgbClr val="C2643B"/>
              </a:solidFill>
              <a:effectLst/>
            </c:spPr>
          </c:dPt>
          <c:cat>
            <c:multiLvlStrRef>
              <c:f>Sheet1!$A$2:$A$7</c:f>
              <c:multiLvlStrCache>
                <c:ptCount val="6"/>
                <c:lvl>
                  <c:pt idx="0">
                    <c:v>Graphe seul</c:v>
                  </c:pt>
                  <c:pt idx="1">
                    <c:v>Vectoriel</c:v>
                  </c:pt>
                  <c:pt idx="2">
                    <c:v>Hybride</c:v>
                  </c:pt>
                  <c:pt idx="3">
                    <c:v>Hybride + graphe (fixe)</c:v>
                  </c:pt>
                  <c:pt idx="4">
                    <c:v>BM25</c:v>
                  </c:pt>
                  <c:pt idx="5">
                    <c:v>Final routé</c:v>
                  </c:pt>
                </c:lvl>
              </c:multiLvlStrCache>
            </c:multiLvlStrRef>
          </c:cat>
          <c:val>
            <c:numRef>
              <c:f>Sheet1!$B$2:$B$7</c:f>
              <c:numCache>
                <c:formatCode>General</c:formatCode>
                <c:ptCount val="6"/>
                <c:pt idx="0">
                  <c:v>0.708</c:v>
                </c:pt>
                <c:pt idx="1">
                  <c:v>0.72</c:v>
                </c:pt>
                <c:pt idx="2">
                  <c:v>0.803</c:v>
                </c:pt>
                <c:pt idx="3">
                  <c:v>0.813</c:v>
                </c:pt>
                <c:pt idx="4">
                  <c:v>0.831</c:v>
                </c:pt>
                <c:pt idx="5">
                  <c:v>0.839</c:v>
                </c:pt>
              </c:numCache>
            </c:numRef>
          </c:val>
        </c:ser>
        <c:dLbls>
          <c:numFmt formatCode="0.000" sourceLinked="0"/>
          <c:txPr>
            <a:bodyPr/>
            <a:lstStyle/>
            <a:p>
              <a:pPr>
                <a:defRPr b="0" i="0" strike="noStrike" sz="1200" u="none">
                  <a:solidFill>
                    <a:srgbClr val="1D2B3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5576A"/>
                </a:solidFill>
                <a:latin typeface="+mn-lt"/>
              </a:defRPr>
            </a:pPr>
            <a:endParaRPr lang="en-US"/>
          </a:p>
        </c:txPr>
        <c:crossAx val="2094734552"/>
        <c:crosses val="autoZero"/>
        <c:auto val="1"/>
        <c:lblAlgn val="ctr"/>
        <c:noMultiLvlLbl val="1"/>
      </c:catAx>
      <c:valAx>
        <c:axId val="2094734552"/>
        <c:scaling>
          <c:orientation val="minMax"/>
          <c:max val="0.9"/>
          <c:min val="0.5"/>
        </c:scaling>
        <c:delete val="0"/>
        <c:axPos val="b"/>
        <c:majorGridlines>
          <c:spPr>
            <a:ln w="6350" cap="flat">
              <a:solidFill>
                <a:srgbClr val="D5DCE3"/>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45576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D2B3A"/>
                </a:solidFill>
                <a:latin typeface="+mn-lt"/>
              </a:defRPr>
            </a:pPr>
            <a:r>
              <a:rPr sz="1400" b="0" i="0" u="none" strike="noStrike">
                <a:solidFill>
                  <a:srgbClr val="1D2B3A"/>
                </a:solidFill>
                <a:latin typeface="+mn-lt"/>
              </a:rPr>
              <a:t>Exactitude de bout en bout (66 questions)</a:t>
            </a:r>
          </a:p>
        </c:rich>
      </c:tx>
      <c:layout/>
      <c:overlay val="0"/>
    </c:title>
    <c:autoTitleDeleted val="0"/>
    <c:plotArea>
      <c:layout/>
      <c:barChart>
        <c:barDir val="bar"/>
        <c:grouping val="clustered"/>
        <c:varyColors val="0"/>
        <c:ser>
          <c:idx val="0"/>
          <c:order val="0"/>
          <c:tx>
            <c:strRef>
              <c:f>Sheet1!$B$1</c:f>
              <c:strCache>
                <c:ptCount val="1"/>
                <c:pt idx="0">
                  <c:v>Exactitude</c:v>
                </c:pt>
              </c:strCache>
            </c:strRef>
          </c:tx>
          <c:spPr>
            <a:solidFill>
              <a:srgbClr val="8A9BAE"/>
            </a:solidFill>
            <a:effectLst/>
          </c:spPr>
          <c:invertIfNegative val="0"/>
          <c:dLbls>
            <c:numFmt formatCode="0.000" sourceLinked="0"/>
            <c:txPr>
              <a:bodyPr/>
              <a:lstStyle/>
              <a:p>
                <a:pPr>
                  <a:defRPr b="0" i="0" strike="noStrike" sz="1200" u="none">
                    <a:solidFill>
                      <a:srgbClr val="1D2B3A"/>
                    </a:solidFill>
                    <a:latin typeface="+mn-lt"/>
                  </a:defRPr>
                </a:pPr>
              </a:p>
            </c:txPr>
            <c:showLegendKey val="0"/>
            <c:showVal val="1"/>
            <c:showCatName val="0"/>
            <c:showSerName val="0"/>
            <c:showPercent val="0"/>
            <c:showBubbleSize val="0"/>
            <c:showLeaderLines val="0"/>
          </c:dLbls>
          <c:dPt>
            <c:idx val="0"/>
            <c:invertIfNegative val="0"/>
            <c:bubble3D val="0"/>
            <c:spPr>
              <a:solidFill>
                <a:srgbClr val="8A9BAE"/>
              </a:solidFill>
              <a:effectLst/>
            </c:spPr>
          </c:dPt>
          <c:dPt>
            <c:idx val="1"/>
            <c:invertIfNegative val="0"/>
            <c:bubble3D val="0"/>
            <c:spPr>
              <a:solidFill>
                <a:srgbClr val="8A9BAE"/>
              </a:solidFill>
              <a:effectLst/>
            </c:spPr>
          </c:dPt>
          <c:dPt>
            <c:idx val="2"/>
            <c:invertIfNegative val="0"/>
            <c:bubble3D val="0"/>
            <c:spPr>
              <a:solidFill>
                <a:srgbClr val="8A9BAE"/>
              </a:solidFill>
              <a:effectLst/>
            </c:spPr>
          </c:dPt>
          <c:dPt>
            <c:idx val="3"/>
            <c:invertIfNegative val="0"/>
            <c:bubble3D val="0"/>
            <c:spPr>
              <a:solidFill>
                <a:srgbClr val="C2643B"/>
              </a:solidFill>
              <a:effectLst/>
            </c:spPr>
          </c:dPt>
          <c:dPt>
            <c:idx val="4"/>
            <c:invertIfNegative val="0"/>
            <c:bubble3D val="0"/>
            <c:spPr>
              <a:solidFill>
                <a:srgbClr val="2E7D7A"/>
              </a:solidFill>
              <a:effectLst/>
            </c:spPr>
          </c:dPt>
          <c:cat>
            <c:multiLvlStrRef>
              <c:f>Sheet1!$A$2:$A$6</c:f>
              <c:multiLvlStrCache>
                <c:ptCount val="5"/>
                <c:lvl>
                  <c:pt idx="0">
                    <c:v>GraphRAG</c:v>
                  </c:pt>
                  <c:pt idx="1">
                    <c:v>RAG hybride</c:v>
                  </c:pt>
                  <c:pt idx="2">
                    <c:v>RAG vectoriel</c:v>
                  </c:pt>
                  <c:pt idx="3">
                    <c:v>Final routé</c:v>
                  </c:pt>
                  <c:pt idx="4">
                    <c:v>Hybride + graphe (fixe)</c:v>
                  </c:pt>
                </c:lvl>
              </c:multiLvlStrCache>
            </c:multiLvlStrRef>
          </c:cat>
          <c:val>
            <c:numRef>
              <c:f>Sheet1!$B$2:$B$6</c:f>
              <c:numCache>
                <c:formatCode>General</c:formatCode>
                <c:ptCount val="5"/>
                <c:pt idx="0">
                  <c:v>0.515</c:v>
                </c:pt>
                <c:pt idx="1">
                  <c:v>0.606</c:v>
                </c:pt>
                <c:pt idx="2">
                  <c:v>0.651</c:v>
                </c:pt>
                <c:pt idx="3">
                  <c:v>0.742</c:v>
                </c:pt>
                <c:pt idx="4">
                  <c:v>0.773</c:v>
                </c:pt>
              </c:numCache>
            </c:numRef>
          </c:val>
        </c:ser>
        <c:dLbls>
          <c:numFmt formatCode="0.000" sourceLinked="0"/>
          <c:txPr>
            <a:bodyPr/>
            <a:lstStyle/>
            <a:p>
              <a:pPr>
                <a:defRPr b="0" i="0" strike="noStrike" sz="1200" u="none">
                  <a:solidFill>
                    <a:srgbClr val="1D2B3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5576A"/>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b"/>
        <c:majorGridlines>
          <c:spPr>
            <a:ln w="6350" cap="flat">
              <a:solidFill>
                <a:srgbClr val="D5DCE3"/>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45576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D2B3A"/>
                </a:solidFill>
                <a:latin typeface="+mn-lt"/>
              </a:defRPr>
            </a:pPr>
            <a:r>
              <a:rPr sz="1400" b="0" i="0" u="none" strike="noStrike">
                <a:solidFill>
                  <a:srgbClr val="1D2B3A"/>
                </a:solidFill>
                <a:latin typeface="+mn-lt"/>
              </a:rPr>
              <a:t>Exactitude par catégorie</a:t>
            </a:r>
          </a:p>
        </c:rich>
      </c:tx>
      <c:layout/>
      <c:overlay val="0"/>
    </c:title>
    <c:autoTitleDeleted val="0"/>
    <c:plotArea>
      <c:layout/>
      <c:barChart>
        <c:barDir val="col"/>
        <c:grouping val="clustered"/>
        <c:varyColors val="0"/>
        <c:ser>
          <c:idx val="0"/>
          <c:order val="0"/>
          <c:tx>
            <c:strRef>
              <c:f>Sheet1!$B$1</c:f>
              <c:strCache>
                <c:ptCount val="1"/>
                <c:pt idx="0">
                  <c:v>RAG vectoriel</c:v>
                </c:pt>
              </c:strCache>
            </c:strRef>
          </c:tx>
          <c:spPr>
            <a:solidFill>
              <a:srgbClr val="8A9BAE"/>
            </a:solidFill>
            <a:effectLst/>
          </c:spPr>
          <c:invertIfNegative val="0"/>
          <c:dLbls>
            <c:numFmt formatCode="0.00" sourceLinked="0"/>
            <c:txPr>
              <a:bodyPr/>
              <a:lstStyle/>
              <a:p>
                <a:pPr>
                  <a:defRPr b="0" i="0" strike="noStrike" sz="1200" u="none">
                    <a:solidFill>
                      <a:srgbClr val="1D2B3A"/>
                    </a:solidFill>
                    <a:latin typeface="+mn-lt"/>
                  </a:defRPr>
                </a:pPr>
              </a:p>
            </c:txPr>
            <c:showLegendKey val="0"/>
            <c:showVal val="1"/>
            <c:showCatName val="0"/>
            <c:showSerName val="0"/>
            <c:showPercent val="0"/>
            <c:showBubbleSize val="0"/>
            <c:showLeaderLines val="0"/>
          </c:dLbls>
          <c:cat>
            <c:multiLvlStrRef>
              <c:f>Sheet1!$A$2:$A$4</c:f>
              <c:multiLvlStrCache>
                <c:ptCount val="3"/>
                <c:lvl>
                  <c:pt idx="0">
                    <c:v>Factuelles</c:v>
                  </c:pt>
                  <c:pt idx="1">
                    <c:v>Relationnelles</c:v>
                  </c:pt>
                  <c:pt idx="2">
                    <c:v>Multi-sauts</c:v>
                  </c:pt>
                </c:lvl>
              </c:multiLvlStrCache>
            </c:multiLvlStrRef>
          </c:cat>
          <c:val>
            <c:numRef>
              <c:f>Sheet1!$B$2:$B$4</c:f>
              <c:numCache>
                <c:formatCode>General</c:formatCode>
                <c:ptCount val="3"/>
                <c:pt idx="0">
                  <c:v>0.92</c:v>
                </c:pt>
                <c:pt idx="1">
                  <c:v>0.12</c:v>
                </c:pt>
                <c:pt idx="2">
                  <c:v>0.3</c:v>
                </c:pt>
              </c:numCache>
            </c:numRef>
          </c:val>
        </c:ser>
        <c:ser>
          <c:idx val="1"/>
          <c:order val="1"/>
          <c:tx>
            <c:strRef>
              <c:f>Sheet1!$C$1</c:f>
              <c:strCache>
                <c:ptCount val="1"/>
                <c:pt idx="0">
                  <c:v>Final routé</c:v>
                </c:pt>
              </c:strCache>
            </c:strRef>
          </c:tx>
          <c:spPr>
            <a:solidFill>
              <a:srgbClr val="C2643B"/>
            </a:solidFill>
            <a:effectLst/>
          </c:spPr>
          <c:invertIfNegative val="0"/>
          <c:dLbls>
            <c:numFmt formatCode="0.00" sourceLinked="0"/>
            <c:txPr>
              <a:bodyPr/>
              <a:lstStyle/>
              <a:p>
                <a:pPr>
                  <a:defRPr b="0" i="0" strike="noStrike" sz="1200" u="none">
                    <a:solidFill>
                      <a:srgbClr val="1D2B3A"/>
                    </a:solidFill>
                    <a:latin typeface="+mn-lt"/>
                  </a:defRPr>
                </a:pPr>
              </a:p>
            </c:txPr>
            <c:showLegendKey val="0"/>
            <c:showVal val="1"/>
            <c:showCatName val="0"/>
            <c:showSerName val="0"/>
            <c:showPercent val="0"/>
            <c:showBubbleSize val="0"/>
            <c:showLeaderLines val="0"/>
          </c:dLbls>
          <c:cat>
            <c:multiLvlStrRef>
              <c:f>Sheet1!$A$2:$A$4</c:f>
              <c:multiLvlStrCache>
                <c:ptCount val="3"/>
                <c:lvl>
                  <c:pt idx="0">
                    <c:v>Factuelles</c:v>
                  </c:pt>
                  <c:pt idx="1">
                    <c:v>Relationnelles</c:v>
                  </c:pt>
                  <c:pt idx="2">
                    <c:v>Multi-sauts</c:v>
                  </c:pt>
                </c:lvl>
              </c:multiLvlStrCache>
            </c:multiLvlStrRef>
          </c:cat>
          <c:val>
            <c:numRef>
              <c:f>Sheet1!$C$2:$C$4</c:f>
              <c:numCache>
                <c:formatCode>General</c:formatCode>
                <c:ptCount val="3"/>
                <c:pt idx="0">
                  <c:v>0.92</c:v>
                </c:pt>
                <c:pt idx="1">
                  <c:v>0.62</c:v>
                </c:pt>
                <c:pt idx="2">
                  <c:v>0.6</c:v>
                </c:pt>
              </c:numCache>
            </c:numRef>
          </c:val>
        </c:ser>
        <c:dLbls>
          <c:numFmt formatCode="0.00" sourceLinked="0"/>
          <c:txPr>
            <a:bodyPr/>
            <a:lstStyle/>
            <a:p>
              <a:pPr>
                <a:defRPr b="0" i="0" strike="noStrike" sz="1200" u="none">
                  <a:solidFill>
                    <a:srgbClr val="1D2B3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5576A"/>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5DCE3"/>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5576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45576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D2B3A"/>
                </a:solidFill>
                <a:latin typeface="+mn-lt"/>
              </a:defRPr>
            </a:pPr>
            <a:r>
              <a:rPr sz="1400" b="0" i="0" u="none" strike="noStrike">
                <a:solidFill>
                  <a:srgbClr val="1D2B3A"/>
                </a:solidFill>
                <a:latin typeface="+mn-lt"/>
              </a:rPr>
              <a:t>Sensibilité au seuil de suffisance (0,55 fixé a priori)</a:t>
            </a:r>
          </a:p>
        </c:rich>
      </c:tx>
      <c:layout/>
      <c:overlay val="0"/>
    </c:title>
    <c:autoTitleDeleted val="0"/>
    <c:plotArea>
      <c:layout/>
      <c:lineChart>
        <c:varyColors val="0"/>
        <c:ser>
          <c:idx val="0"/>
          <c:order val="0"/>
          <c:tx>
            <c:strRef>
              <c:f>Sheet1!$B$1</c:f>
              <c:strCache>
                <c:ptCount val="1"/>
                <c:pt idx="0">
                  <c:v>Rappel d'abstention</c:v>
                </c:pt>
              </c:strCache>
            </c:strRef>
          </c:tx>
          <c:spPr>
            <a:solidFill>
              <a:srgbClr val="2E7D7A"/>
            </a:solidFill>
            <a:ln w="31750" cap="flat">
              <a:solidFill>
                <a:srgbClr val="2E7D7A"/>
              </a:solidFill>
              <a:prstDash val="solid"/>
              <a:round/>
            </a:ln>
            <a:effectLst/>
          </c:spPr>
          <c:invertIfNegative val="0"/>
          <c:dLbls>
            <c:numFmt formatCode="0.00" sourceLinked="0"/>
            <c:txPr>
              <a:bodyPr/>
              <a:lstStyle/>
              <a:p>
                <a:pPr>
                  <a:defRPr b="0" i="0" strike="noStrike" sz="1200" u="none">
                    <a:solidFill>
                      <a:srgbClr val="1D2B3A"/>
                    </a:solidFill>
                    <a:latin typeface="+mn-lt"/>
                  </a:defRPr>
                </a:pPr>
              </a:p>
            </c:txPr>
            <c:dLblPos val="t"/>
            <c:showLegendKey val="0"/>
            <c:showVal val="1"/>
            <c:showCatName val="0"/>
            <c:showSerName val="0"/>
            <c:showPercent val="0"/>
            <c:showBubbleSize val="0"/>
            <c:showLeaderLines val="0"/>
          </c:dLbls>
          <c:marker>
            <c:symbol val="circle"/>
            <c:size val="8"/>
            <c:spPr>
              <a:solidFill>
                <a:srgbClr val="2E7D7A"/>
              </a:solidFill>
              <a:ln w="9525" cap="flat">
                <a:solidFill>
                  <a:srgbClr val="2E7D7A"/>
                </a:solidFill>
                <a:prstDash val="solid"/>
                <a:round/>
              </a:ln>
              <a:effectLst/>
            </c:spPr>
          </c:marker>
          <c:cat>
            <c:multiLvlStrRef>
              <c:f>Sheet1!$A$2:$A$6</c:f>
              <c:multiLvlStrCache>
                <c:ptCount val="5"/>
                <c:lvl>
                  <c:pt idx="0">
                    <c:v>0,35</c:v>
                  </c:pt>
                  <c:pt idx="1">
                    <c:v>0,45</c:v>
                  </c:pt>
                  <c:pt idx="2">
                    <c:v>0,55</c:v>
                  </c:pt>
                  <c:pt idx="3">
                    <c:v>0,65</c:v>
                  </c:pt>
                  <c:pt idx="4">
                    <c:v>0,75</c:v>
                  </c:pt>
                </c:lvl>
              </c:multiLvlStrCache>
            </c:multiLvlStrRef>
          </c:cat>
          <c:val>
            <c:numRef>
              <c:f>Sheet1!$B$2:$B$6</c:f>
              <c:numCache>
                <c:formatCode>General</c:formatCode>
                <c:ptCount val="5"/>
                <c:pt idx="0">
                  <c:v>0.727</c:v>
                </c:pt>
                <c:pt idx="1">
                  <c:v>0.818</c:v>
                </c:pt>
                <c:pt idx="2">
                  <c:v>0.909</c:v>
                </c:pt>
                <c:pt idx="3">
                  <c:v>1</c:v>
                </c:pt>
                <c:pt idx="4">
                  <c:v>1</c:v>
                </c:pt>
              </c:numCache>
            </c:numRef>
          </c:val>
          <c:smooth val="0"/>
        </c:ser>
        <c:ser>
          <c:idx val="1"/>
          <c:order val="1"/>
          <c:tx>
            <c:strRef>
              <c:f>Sheet1!$C$1</c:f>
              <c:strCache>
                <c:ptCount val="1"/>
                <c:pt idx="0">
                  <c:v>Abstention abusive</c:v>
                </c:pt>
              </c:strCache>
            </c:strRef>
          </c:tx>
          <c:spPr>
            <a:solidFill>
              <a:srgbClr val="B23A48"/>
            </a:solidFill>
            <a:ln w="31750" cap="flat">
              <a:solidFill>
                <a:srgbClr val="B23A48"/>
              </a:solidFill>
              <a:prstDash val="solid"/>
              <a:round/>
            </a:ln>
            <a:effectLst/>
          </c:spPr>
          <c:invertIfNegative val="0"/>
          <c:dLbls>
            <c:numFmt formatCode="0.00" sourceLinked="0"/>
            <c:txPr>
              <a:bodyPr/>
              <a:lstStyle/>
              <a:p>
                <a:pPr>
                  <a:defRPr b="0" i="0" strike="noStrike" sz="1200" u="none">
                    <a:solidFill>
                      <a:srgbClr val="1D2B3A"/>
                    </a:solidFill>
                    <a:latin typeface="+mn-lt"/>
                  </a:defRPr>
                </a:pPr>
              </a:p>
            </c:txPr>
            <c:dLblPos val="t"/>
            <c:showLegendKey val="0"/>
            <c:showVal val="1"/>
            <c:showCatName val="0"/>
            <c:showSerName val="0"/>
            <c:showPercent val="0"/>
            <c:showBubbleSize val="0"/>
            <c:showLeaderLines val="0"/>
          </c:dLbls>
          <c:marker>
            <c:symbol val="circle"/>
            <c:size val="8"/>
            <c:spPr>
              <a:solidFill>
                <a:srgbClr val="B23A48"/>
              </a:solidFill>
              <a:ln w="9525" cap="flat">
                <a:solidFill>
                  <a:srgbClr val="B23A48"/>
                </a:solidFill>
                <a:prstDash val="solid"/>
                <a:round/>
              </a:ln>
              <a:effectLst/>
            </c:spPr>
          </c:marker>
          <c:cat>
            <c:multiLvlStrRef>
              <c:f>Sheet1!$A$2:$A$6</c:f>
              <c:multiLvlStrCache>
                <c:ptCount val="5"/>
                <c:lvl>
                  <c:pt idx="0">
                    <c:v>0,35</c:v>
                  </c:pt>
                  <c:pt idx="1">
                    <c:v>0,45</c:v>
                  </c:pt>
                  <c:pt idx="2">
                    <c:v>0,55</c:v>
                  </c:pt>
                  <c:pt idx="3">
                    <c:v>0,65</c:v>
                  </c:pt>
                  <c:pt idx="4">
                    <c:v>0,75</c:v>
                  </c:pt>
                </c:lvl>
              </c:multiLvlStrCache>
            </c:multiLvlStrRef>
          </c:cat>
          <c:val>
            <c:numRef>
              <c:f>Sheet1!$C$2:$C$6</c:f>
              <c:numCache>
                <c:formatCode>General</c:formatCode>
                <c:ptCount val="5"/>
                <c:pt idx="0">
                  <c:v>0.127</c:v>
                </c:pt>
                <c:pt idx="1">
                  <c:v>0.164</c:v>
                </c:pt>
                <c:pt idx="2">
                  <c:v>0.182</c:v>
                </c:pt>
                <c:pt idx="3">
                  <c:v>0.218</c:v>
                </c:pt>
                <c:pt idx="4">
                  <c:v>0.327</c:v>
                </c:pt>
              </c:numCache>
            </c:numRef>
          </c:val>
          <c:smooth val="0"/>
        </c:ser>
        <c:dLbls>
          <c:numFmt formatCode="0.00" sourceLinked="0"/>
          <c:txPr>
            <a:bodyPr/>
            <a:lstStyle/>
            <a:p>
              <a:pPr>
                <a:defRPr b="0" i="0" strike="noStrike" sz="1200" u="none">
                  <a:solidFill>
                    <a:srgbClr val="1D2B3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5576A"/>
                </a:solidFill>
                <a:latin typeface="+mn-lt"/>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6350" cap="flat">
              <a:solidFill>
                <a:srgbClr val="D5DCE3"/>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5576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45576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D2B3A"/>
                </a:solidFill>
                <a:latin typeface="+mn-lt"/>
              </a:defRPr>
            </a:pPr>
            <a:r>
              <a:rPr sz="1400" b="0" i="0" u="none" strike="noStrike">
                <a:solidFill>
                  <a:srgbClr val="1D2B3A"/>
                </a:solidFill>
                <a:latin typeface="+mn-lt"/>
              </a:rPr>
              <a:t>Experts : nDCG@3 (15 domaines)</a:t>
            </a:r>
          </a:p>
        </c:rich>
      </c:tx>
      <c:layout/>
      <c:overlay val="0"/>
    </c:title>
    <c:autoTitleDeleted val="0"/>
    <c:plotArea>
      <c:layout/>
      <c:barChart>
        <c:barDir val="col"/>
        <c:grouping val="clustered"/>
        <c:varyColors val="0"/>
        <c:ser>
          <c:idx val="0"/>
          <c:order val="0"/>
          <c:tx>
            <c:strRef>
              <c:f>Sheet1!$B$1</c:f>
              <c:strCache>
                <c:ptCount val="1"/>
                <c:pt idx="0">
                  <c:v>nDCG@3</c:v>
                </c:pt>
              </c:strCache>
            </c:strRef>
          </c:tx>
          <c:spPr>
            <a:solidFill>
              <a:srgbClr val="8A9BAE"/>
            </a:solidFill>
            <a:effectLst/>
          </c:spPr>
          <c:invertIfNegative val="0"/>
          <c:dLbls>
            <c:numFmt formatCode="0.000" sourceLinked="0"/>
            <c:txPr>
              <a:bodyPr/>
              <a:lstStyle/>
              <a:p>
                <a:pPr>
                  <a:defRPr b="0" i="0" strike="noStrike" sz="1200" u="none">
                    <a:solidFill>
                      <a:srgbClr val="1D2B3A"/>
                    </a:solidFill>
                    <a:latin typeface="+mn-lt"/>
                  </a:defRPr>
                </a:pPr>
              </a:p>
            </c:txPr>
            <c:showLegendKey val="0"/>
            <c:showVal val="1"/>
            <c:showCatName val="0"/>
            <c:showSerName val="0"/>
            <c:showPercent val="0"/>
            <c:showBubbleSize val="0"/>
            <c:showLeaderLines val="0"/>
          </c:dLbls>
          <c:dPt>
            <c:idx val="0"/>
            <c:invertIfNegative val="0"/>
            <c:bubble3D val="0"/>
            <c:spPr>
              <a:solidFill>
                <a:srgbClr val="8A9BAE"/>
              </a:solidFill>
              <a:effectLst/>
            </c:spPr>
          </c:dPt>
          <c:dPt>
            <c:idx val="1"/>
            <c:invertIfNegative val="0"/>
            <c:bubble3D val="0"/>
            <c:spPr>
              <a:solidFill>
                <a:srgbClr val="C2643B"/>
              </a:solidFill>
              <a:effectLst/>
            </c:spPr>
          </c:dPt>
          <c:cat>
            <c:multiLvlStrRef>
              <c:f>Sheet1!$A$2:$A$3</c:f>
              <c:multiLvlStrCache>
                <c:ptCount val="2"/>
                <c:lvl>
                  <c:pt idx="0">
                    <c:v>Comptage de mentions</c:v>
                  </c:pt>
                  <c:pt idx="1">
                    <c:v>Preuves typées</c:v>
                  </c:pt>
                </c:lvl>
              </c:multiLvlStrCache>
            </c:multiLvlStrRef>
          </c:cat>
          <c:val>
            <c:numRef>
              <c:f>Sheet1!$B$2:$B$3</c:f>
              <c:numCache>
                <c:formatCode>General</c:formatCode>
                <c:ptCount val="2"/>
                <c:pt idx="0">
                  <c:v>0.911</c:v>
                </c:pt>
                <c:pt idx="1">
                  <c:v>0.975</c:v>
                </c:pt>
              </c:numCache>
            </c:numRef>
          </c:val>
        </c:ser>
        <c:dLbls>
          <c:numFmt formatCode="0.000" sourceLinked="0"/>
          <c:txPr>
            <a:bodyPr/>
            <a:lstStyle/>
            <a:p>
              <a:pPr>
                <a:defRPr b="0" i="0" strike="noStrike" sz="1200" u="none">
                  <a:solidFill>
                    <a:srgbClr val="1D2B3A"/>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5576A"/>
                </a:solidFill>
                <a:latin typeface="+mn-lt"/>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6350" cap="flat">
              <a:solidFill>
                <a:srgbClr val="D5DCE3"/>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5576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D2B3A"/>
                </a:solidFill>
                <a:latin typeface="+mn-lt"/>
              </a:defRPr>
            </a:pPr>
            <a:r>
              <a:rPr sz="1400" b="0" i="0" u="none" strike="noStrike">
                <a:solidFill>
                  <a:srgbClr val="1D2B3A"/>
                </a:solidFill>
                <a:latin typeface="+mn-lt"/>
              </a:rPr>
              <a:t>Recommandations : nDCG@5 (10 documents)</a:t>
            </a:r>
          </a:p>
        </c:rich>
      </c:tx>
      <c:layout/>
      <c:overlay val="0"/>
    </c:title>
    <c:autoTitleDeleted val="0"/>
    <c:plotArea>
      <c:layout/>
      <c:barChart>
        <c:barDir val="col"/>
        <c:grouping val="clustered"/>
        <c:varyColors val="0"/>
        <c:ser>
          <c:idx val="0"/>
          <c:order val="0"/>
          <c:tx>
            <c:strRef>
              <c:f>Sheet1!$B$1</c:f>
              <c:strCache>
                <c:ptCount val="1"/>
                <c:pt idx="0">
                  <c:v>nDCG@5</c:v>
                </c:pt>
              </c:strCache>
            </c:strRef>
          </c:tx>
          <c:spPr>
            <a:solidFill>
              <a:srgbClr val="8A9BAE"/>
            </a:solidFill>
            <a:effectLst/>
          </c:spPr>
          <c:invertIfNegative val="0"/>
          <c:dLbls>
            <c:numFmt formatCode="0.000" sourceLinked="0"/>
            <c:txPr>
              <a:bodyPr/>
              <a:lstStyle/>
              <a:p>
                <a:pPr>
                  <a:defRPr b="0" i="0" strike="noStrike" sz="1200" u="none">
                    <a:solidFill>
                      <a:srgbClr val="1D2B3A"/>
                    </a:solidFill>
                    <a:latin typeface="+mn-lt"/>
                  </a:defRPr>
                </a:pPr>
              </a:p>
            </c:txPr>
            <c:showLegendKey val="0"/>
            <c:showVal val="1"/>
            <c:showCatName val="0"/>
            <c:showSerName val="0"/>
            <c:showPercent val="0"/>
            <c:showBubbleSize val="0"/>
            <c:showLeaderLines val="0"/>
          </c:dLbls>
          <c:dPt>
            <c:idx val="0"/>
            <c:invertIfNegative val="0"/>
            <c:bubble3D val="0"/>
            <c:spPr>
              <a:solidFill>
                <a:srgbClr val="8A9BAE"/>
              </a:solidFill>
              <a:effectLst/>
            </c:spPr>
          </c:dPt>
          <c:dPt>
            <c:idx val="1"/>
            <c:invertIfNegative val="0"/>
            <c:bubble3D val="0"/>
            <c:spPr>
              <a:solidFill>
                <a:srgbClr val="2E7D7A"/>
              </a:solidFill>
              <a:effectLst/>
            </c:spPr>
          </c:dPt>
          <c:dPt>
            <c:idx val="2"/>
            <c:invertIfNegative val="0"/>
            <c:bubble3D val="0"/>
            <c:spPr>
              <a:solidFill>
                <a:srgbClr val="C2643B"/>
              </a:solidFill>
              <a:effectLst/>
            </c:spPr>
          </c:dPt>
          <c:cat>
            <c:multiLvlStrRef>
              <c:f>Sheet1!$A$2:$A$4</c:f>
              <c:multiLvlStrCache>
                <c:ptCount val="3"/>
                <c:lvl>
                  <c:pt idx="0">
                    <c:v>Contenu seul</c:v>
                  </c:pt>
                  <c:pt idx="1">
                    <c:v>Graphe</c:v>
                  </c:pt>
                  <c:pt idx="2">
                    <c:v>Hybride</c:v>
                  </c:pt>
                </c:lvl>
              </c:multiLvlStrCache>
            </c:multiLvlStrRef>
          </c:cat>
          <c:val>
            <c:numRef>
              <c:f>Sheet1!$B$2:$B$4</c:f>
              <c:numCache>
                <c:formatCode>General</c:formatCode>
                <c:ptCount val="3"/>
                <c:pt idx="0">
                  <c:v>0.648</c:v>
                </c:pt>
                <c:pt idx="1">
                  <c:v>0.877</c:v>
                </c:pt>
                <c:pt idx="2">
                  <c:v>0.908</c:v>
                </c:pt>
              </c:numCache>
            </c:numRef>
          </c:val>
        </c:ser>
        <c:dLbls>
          <c:numFmt formatCode="0.000" sourceLinked="0"/>
          <c:txPr>
            <a:bodyPr/>
            <a:lstStyle/>
            <a:p>
              <a:pPr>
                <a:defRPr b="0" i="0" strike="noStrike" sz="1200" u="none">
                  <a:solidFill>
                    <a:srgbClr val="1D2B3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5576A"/>
                </a:solidFill>
                <a:latin typeface="+mn-lt"/>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6350" cap="flat">
              <a:solidFill>
                <a:srgbClr val="D5DCE3"/>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5576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présente mon projet de fin d'études : une plateforme qui permet d'interroger la documentation interne d'une banque en langage naturel, avec des réponses citées et conformes aux droits d'accès. Mon profil est double : consultante en organisation dans une banque, où je rédige des procédures, et étudiante en Data Engineering. Ce projet est né de cette double pratique. Toutes les données utilisées sont synthétiques : la banque « Orizia » est fictive.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Dans une banque, la connaissance est largement écrite : procédures, comptes rendus, chartes, guides, rapports d'audit. Le problème n'est pas l'absence d'information, c'est sa mobilisation. Six difficultés, toutes présentes dans mon corpus : la dispersion, les versions, les contradictions, la diffusion restreinte, les doublons, et la question de savoir qui sait. Dans un établissement contrôlé, s'ajoutent la traçabilité et le respect des habilitations.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problématique : comment interroger la documentation en langage naturel avec des réponses exactes, sourcées et conformes aux droits, y compris quand la réponse relie plusieurs documents. J'en ai tiré cinq questions de recherche, chacune associée à une hypothèse testable : l'apport du graphe sur les questions relationnelles, l'absence de dégradation du factuel, l'abstention, la recherche d'experts et les recommandations.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documents réels d'une banque ne peuvent pas sortir de l'établissement. J'ai donc rédigé un corpus de 35 documents d'une banque fictive, en y intégrant les difficultés que je rencontre dans mon métier : versions, contradictions, doublons, document scanné, diffusion restreinte et un mémo piégé. J'ai annoté 66 questions en dix catégories, avec les documents justificatifs et les réponses attendues, puis comparé cinq architectures.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L'architecture comporte six couches : documents, connaissances, recherche, services métier, API et interface. Trois choix structurants. Premièrement, le LLM est un maillon optionnel : la plateforme fonctionne et se mesure sans lui. Deuxièmement, une seule base, Neo4j, porte le graphe, les vecteurs et le plein texte. Troisièmement, le contrôle d'accès n'est pas une couche ajoutée à la fin : il est appliqué avant toute recherche.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L'ingestion est volontairement prudente. Chaque fichier est contrôlé, lu, au besoin par OCR, nettoyé ; le cartouche est lu, y compris la diffusion, qui alimente directement le contrôle d'accès. Les doublons sont détectés par empreinte et par MinHash, et un document contenant des instructions pour un assistant est mis en quarantaine. Dans le graphe, chaque fait garde ses preuves : par exemple, la dépendance d'AML Watch à CoreNova est confirmée par trois documents. L'ingestion est idempotente : la relancer sans changement prend 0,38 seconde.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recherche combine trois sources aux forces différentes : BM25 pour les termes exacts, les vecteurs pour le sens, et le graphe pour les relations, avec un PageRank personnalisé à partir des entités de la question, à la manière de HippoRAG. Les scores ne sont pas comparables, donc la fusion n'utilise que les rangs : c'est la Reciprocal Rank Fusion. Le poids du graphe dépend du type de question, détecté de façon déterministe.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workflow est un graphe d'états explicite : analyse, recherche, contrôle de suffisance, relance au plus une fois, génération, vérification, ou abstention. Le contrôle de suffisance s'inspire des approches correctives : avant de répondre, on vérifie que le contexte couvre la question, y compris la présence d'une valeur chiffrée quand on demande un délai. Après la génération, on vérifie les citations et on assainit la réponse. Sans clé, le générateur est extractif : il ne peut pas inventer.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même question, « Quel est le RTO de CoreNova ? », donne deux résultats selon le compte. Le collaborateur n'est pas destinataire du plan de continuité : la plateforme s'abstient, sans même révéler que le document existe. L'ingénieur de la DSI obtient la valeur et sa source. C'est possible parce que la liste des documents autorisés est calculée avant la recherche et passée à chaque requête. Résultat mesuré : aucune fuite, quelle que soit la stratégie.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exemples de réponses réelles. À gauche, une question relationnelle : les faits viennent du graphe, les extraits des documents, et chaque marqueur renvoie à sa preuve. À droite, la plateforme répond 12 mois selon la procédure en vigueur, mais signale que la version 1.0, le guide de l'outil Sentinel KYC, le rapport d'audit et un compte rendu indiquent 24 mois. Pour un auditeur, c'est un constat : l'outil n'a pas été mis à jour. Si le temps le permet, je fais la démonstration en direct.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Au-delà de l'assistant, trois fonctions. L'explorateur affiche le graphe autour d'une entité, avec les mêmes règles de visibilité. La recherche d'experts classe les personnes selon des preuves typées : expertise déclarée, pilotage de projet, responsabilité applicative ; elle est réservée aux managers et chaque rang est justifié. Les recommandations combinent similarité de contenu, entités partagées et proximité dans le graphe.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principal risque, quand on écrit soi-même le corpus et le système, est de sur-ajuster. Quatre mesures : une partition des documents pour l'extraction, une séparation entre 17 questions de développement et 49 jamais inspectées, un gel de la configuration avant la campagne, et un journal des modifications post-gel. Avec 66 questions, j'accompagne chaque moyenne d'un intervalle de confiance et chaque comparaison d'un test apparié.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recherche documentaire, l'architecture finale obtient le meilleur nDCG@5, 0,839, mais BM25 est très proche et l'écart n'est pas significatif : BM25 est une référence très forte sur des questions riches en termes exacts. L'ablation de l'encodeur montre que l'intérêt de l'hybride dépend de la qualité des vecteurs : avec spaCy, le vectoriel tombe à 0,409. Le graphe seul est excellent sur le relationnel, 0,96, mais mauvais sur le factuel, 0,52.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réponses de bout en bout, les architectures avec graphe dominent. L'architecture finale atteint 0,742, et l'hybride à graphe fixe 0,773, un écart de deux questions qui n'est pas significatif. L'effet du graphe est net là où on l'attendait : sur les questions relationnelles, on passe de 0,12 à 0,62, sur les multi-sauts de 0,30 à 0,60, sans perte sur le factuel. Le chiffre que je retiens est 0,694, sur les questions jamais inspectées : l'écart avec 0,882 mesure le sur-ajustement de mes heuristiques.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fiabilité est obtenue par construction : aucune citation inventée, aucune fuite, aucune chaîne interdite. Le point faible est l'abstention : la plateforme détecte dix des onze questions sans réponse, mais s'abstient à tort sur 18 % des questions qui en ont une, parce que le contrôle est lexical. Le graphique montre le compromis : monter le seuil améliore le rappel d'abstention mais augmente les abstentions abusives. C'est une décision métier.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les experts, le score fondé sur des preuves typées fait mieux que le comptage de mentions, mais l'écart n'est pas significatif sur quinze domaines : l'hypothèse 4 n'est pas démontrée. Son intérêt est ailleurs : chaque classement est justifié. Pour les recommandations, combiner contenu, entités partagées et graphe améliore nettement le résultat : plus 0,26 de nDCG, significatif.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synthèse : deux hypothèses validées, l'absence de dégradation du factuel et les recommandations ; deux partiellement validées, l'apport du graphe et l'abstention ; une non démontrée, les experts. Je rappelle les menaces à la validité : biais de conception, corpus synthétique, petits effectifs. Je ne conclus que lorsque l'incertitude le permet.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un usage réel, je propose une trajectoire progressive : cadrage et homologation, puis un pilote sur un domaine délimité, avec des questions réelles annotées par les métiers, ce qui reproduit mon protocole sur des documents réels. Côté gouvernance, mon expérience d'organisation m'a conduite à proposer un gestionnaire des connaissances, des contrôles par échantillonnage confiés à la conformité, une finalité limitée pour la recherche d'experts et une décision formelle avant tout recours à un LLM externe. Le détail, avec la matrice RACI, est au chapitre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préfère annoncer moi-même les limites. Aucun LLM n'a été évalué, faute de clé : la plateforme est prête, la mesure reste à faire. Le corpus est synthétique. Les encodeurs sont légers. Le contrôle de suffisance est lexical. Les règles d'extraction perdent en rappel sur les documents jamais vus. Et la plateforme n'est ni déployée à distance ni prête pour la production. Chaque limite ouvre une perspective concrète, la première étant de rejouer la campagne avec un LLM, sur les mêmes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 la valeur d'un assistant documentaire en banque tient moins à la sophistication de son modèle de langage qu'à la rigueur de ce qui l'entoure : la qualité des documents, la traçabilité des faits, le respect des droits et la capacité à dire « je ne sais pas ». C'est ce que j'ai cherché à construire et à mesurer. Je vous remercie et je suis prête à répondre à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7498080" cy="2011680"/>
          </a:xfrm>
          <a:prstGeom prst="rect">
            <a:avLst/>
          </a:prstGeom>
          <a:noFill/>
          <a:ln/>
        </p:spPr>
        <p:txBody>
          <a:bodyPr wrap="square" rtlCol="0"/>
          <a:lstStyle>
            <a:lvl1pPr algn="l" indent="0" marL="0">
              <a:buNone/>
              <a:defRPr lang="en-US" sz="3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800" dirty="0"/>
          </a:p>
        </p:txBody>
      </p:sp>
      <p:sp>
        <p:nvSpPr>
          <p:cNvPr id="3" name="Text 0"/>
          <p:cNvSpPr/>
          <p:nvPr>
            <p:ph idx="101" type="body" hasCustomPrompt="1"/>
          </p:nvPr>
        </p:nvSpPr>
        <p:spPr>
          <a:xfrm>
            <a:off x="548640" y="3703320"/>
            <a:ext cx="7498080" cy="100584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
        <p:nvSpPr>
          <p:cNvPr id="4" name="Text 0"/>
          <p:cNvSpPr/>
          <p:nvPr>
            <p:ph idx="102" type="body" hasCustomPrompt="1"/>
          </p:nvPr>
        </p:nvSpPr>
        <p:spPr>
          <a:xfrm>
            <a:off x="548640" y="5577840"/>
            <a:ext cx="8686800" cy="731520"/>
          </a:xfrm>
          <a:prstGeom prst="rect">
            <a:avLst/>
          </a:prstGeom>
          <a:noFill/>
          <a:ln/>
        </p:spPr>
        <p:txBody>
          <a:bodyPr wrap="square" rtlCol="0"/>
          <a:lstStyle>
            <a:lvl1pPr algn="l" indent="0" marL="0">
              <a:buNone/>
              <a:defRPr lang="en-US" sz="1300" dirty="0">
                <a:solidFill>
                  <a:schemeClr val="accent3"/>
                </a:solidFill>
              </a:defRPr>
            </a:lvl1pPr>
          </a:lstStyle>
          <a:p>
            <a:pPr algn="l" indent="0" marL="0">
              <a:buNone/>
            </a:pPr>
            <a:endParaRPr lang="en-US" sz="13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rtlCol="0"/>
          <a:lstStyle>
            <a:lvl1pPr indent="0" marL="0">
              <a:buNone/>
              <a:defRPr lang="en-US" sz="3000" b="1" dirty="0">
                <a:solidFill>
                  <a:schemeClr val="tx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3"/>
                </a:solidFill>
              </a:rPr>
              <a:t>Knowledge Graph et LLM pour la gestion des connaissances — PFE Master Data Engineering</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3.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7498080" cy="2011680"/>
          </a:xfrm>
          <a:prstGeom prst="rect">
            <a:avLst/>
          </a:prstGeom>
          <a:noFill/>
          <a:ln/>
        </p:spPr>
        <p:txBody>
          <a:bodyPr wrap="square" lIns="0" tIns="0" rIns="0" bIns="0" rtlCol="0" anchor="b"/>
          <a:lstStyle/>
          <a:p>
            <a:pPr algn="l" indent="0" marL="0">
              <a:buNone/>
            </a:pPr>
            <a:r>
              <a:rPr lang="en-US" sz="3800" b="1" dirty="0">
                <a:solidFill>
                  <a:schemeClr val="bg1"/>
                </a:solidFill>
                <a:latin typeface="Cambria" pitchFamily="34" charset="0"/>
                <a:ea typeface="Cambria" pitchFamily="34" charset="-122"/>
                <a:cs typeface="Cambria" pitchFamily="34" charset="-120"/>
              </a:rPr>
              <a:t>Une plateforme de gestion des connaissances fondée sur un Knowledge Graph enrichi par un LLM</a:t>
            </a:r>
            <a:endParaRPr lang="en-US" sz="3800" dirty="0"/>
          </a:p>
        </p:txBody>
      </p:sp>
      <p:sp>
        <p:nvSpPr>
          <p:cNvPr id="3" name="Text 0"/>
          <p:cNvSpPr/>
          <p:nvPr>
            <p:ph idx="101" type="body" hasCustomPrompt="1"/>
          </p:nvPr>
        </p:nvSpPr>
        <p:spPr>
          <a:xfrm>
            <a:off x="548640" y="3703320"/>
            <a:ext cx="7498080" cy="1005840"/>
          </a:xfrm>
          <a:prstGeom prst="rect">
            <a:avLst/>
          </a:prstGeom>
          <a:noFill/>
          <a:ln/>
        </p:spPr>
        <p:txBody>
          <a:bodyPr wrap="square" lIns="0" tIns="0" rIns="0" bIns="0" rtlCol="0" anchor="t"/>
          <a:lstStyle/>
          <a:p>
            <a:pPr algn="l" indent="0" marL="0">
              <a:buNone/>
            </a:pPr>
            <a:r>
              <a:rPr lang="en-US" sz="1800" dirty="0">
                <a:solidFill>
                  <a:schemeClr val="bg2"/>
                </a:solidFill>
              </a:rPr>
              <a:t>Conception, développement et évaluation d'une architecture hybride RAG / GraphRAG pour un contexte bancaire</a:t>
            </a:r>
            <a:endParaRPr lang="en-US" sz="1800" dirty="0"/>
          </a:p>
        </p:txBody>
      </p:sp>
      <p:sp>
        <p:nvSpPr>
          <p:cNvPr id="4" name="Text 0"/>
          <p:cNvSpPr/>
          <p:nvPr>
            <p:ph idx="102" type="body" hasCustomPrompt="1"/>
          </p:nvPr>
        </p:nvSpPr>
        <p:spPr>
          <a:xfrm>
            <a:off x="548640" y="5577840"/>
            <a:ext cx="8686800" cy="731520"/>
          </a:xfrm>
          <a:prstGeom prst="rect">
            <a:avLst/>
          </a:prstGeom>
          <a:noFill/>
          <a:ln/>
        </p:spPr>
        <p:txBody>
          <a:bodyPr wrap="square" lIns="0" tIns="0" rIns="0" bIns="0" rtlCol="0" anchor="t"/>
          <a:lstStyle/>
          <a:p>
            <a:pPr algn="l" indent="0" marL="0">
              <a:buNone/>
            </a:pPr>
            <a:r>
              <a:rPr lang="en-US" sz="1300" dirty="0">
                <a:solidFill>
                  <a:schemeClr val="accent3"/>
                </a:solidFill>
              </a:rPr>
              <a:t>Projet de fin d'études — Master Data Engineering · [Prénom NOM — à compléter] · Année universitaire 2025–2026</a:t>
            </a:r>
            <a:endParaRPr lang="en-US" sz="1300" dirty="0"/>
          </a:p>
        </p:txBody>
      </p:sp>
      <p:sp>
        <p:nvSpPr>
          <p:cNvPr id="5" name="motif lien"/>
          <p:cNvSpPr/>
          <p:nvPr/>
        </p:nvSpPr>
        <p:spPr>
          <a:xfrm>
            <a:off x="9669780" y="1714500"/>
            <a:ext cx="617220" cy="1714500"/>
          </a:xfrm>
          <a:prstGeom prst="line">
            <a:avLst/>
          </a:prstGeom>
          <a:noFill/>
          <a:ln w="15875">
            <a:solidFill>
              <a:schemeClr val="accent3"/>
            </a:solidFill>
            <a:prstDash val="solid"/>
          </a:ln>
        </p:spPr>
      </p:sp>
      <p:sp>
        <p:nvSpPr>
          <p:cNvPr id="6" name="motif lien"/>
          <p:cNvSpPr/>
          <p:nvPr/>
        </p:nvSpPr>
        <p:spPr>
          <a:xfrm flipH="1">
            <a:off x="10287000" y="2295144"/>
            <a:ext cx="786384" cy="1133856"/>
          </a:xfrm>
          <a:prstGeom prst="line">
            <a:avLst/>
          </a:prstGeom>
          <a:noFill/>
          <a:ln w="15875">
            <a:solidFill>
              <a:schemeClr val="accent3"/>
            </a:solidFill>
            <a:prstDash val="solid"/>
          </a:ln>
        </p:spPr>
      </p:sp>
      <p:sp>
        <p:nvSpPr>
          <p:cNvPr id="7" name="motif lien"/>
          <p:cNvSpPr/>
          <p:nvPr/>
        </p:nvSpPr>
        <p:spPr>
          <a:xfrm>
            <a:off x="10287000" y="3429000"/>
            <a:ext cx="1042416" cy="585216"/>
          </a:xfrm>
          <a:prstGeom prst="line">
            <a:avLst/>
          </a:prstGeom>
          <a:noFill/>
          <a:ln w="15875">
            <a:solidFill>
              <a:schemeClr val="accent3"/>
            </a:solidFill>
            <a:prstDash val="solid"/>
          </a:ln>
        </p:spPr>
      </p:sp>
      <p:sp>
        <p:nvSpPr>
          <p:cNvPr id="8" name="motif lien"/>
          <p:cNvSpPr/>
          <p:nvPr/>
        </p:nvSpPr>
        <p:spPr>
          <a:xfrm flipH="1">
            <a:off x="8983980" y="3429000"/>
            <a:ext cx="1303020" cy="891540"/>
          </a:xfrm>
          <a:prstGeom prst="line">
            <a:avLst/>
          </a:prstGeom>
          <a:noFill/>
          <a:ln w="15875">
            <a:solidFill>
              <a:schemeClr val="accent3"/>
            </a:solidFill>
            <a:prstDash val="solid"/>
          </a:ln>
        </p:spPr>
      </p:sp>
      <p:sp>
        <p:nvSpPr>
          <p:cNvPr id="9" name="motif lien"/>
          <p:cNvSpPr/>
          <p:nvPr/>
        </p:nvSpPr>
        <p:spPr>
          <a:xfrm>
            <a:off x="10287000" y="3429000"/>
            <a:ext cx="182880" cy="1554480"/>
          </a:xfrm>
          <a:prstGeom prst="line">
            <a:avLst/>
          </a:prstGeom>
          <a:noFill/>
          <a:ln w="15875">
            <a:solidFill>
              <a:schemeClr val="accent3"/>
            </a:solidFill>
            <a:prstDash val="solid"/>
          </a:ln>
        </p:spPr>
      </p:sp>
      <p:sp>
        <p:nvSpPr>
          <p:cNvPr id="10" name="motif lien"/>
          <p:cNvSpPr/>
          <p:nvPr/>
        </p:nvSpPr>
        <p:spPr>
          <a:xfrm>
            <a:off x="9669780" y="1714500"/>
            <a:ext cx="1403604" cy="580644"/>
          </a:xfrm>
          <a:prstGeom prst="line">
            <a:avLst/>
          </a:prstGeom>
          <a:noFill/>
          <a:ln w="15875">
            <a:solidFill>
              <a:schemeClr val="accent3"/>
            </a:solidFill>
            <a:prstDash val="solid"/>
          </a:ln>
        </p:spPr>
      </p:sp>
      <p:sp>
        <p:nvSpPr>
          <p:cNvPr id="11" name="motif lien"/>
          <p:cNvSpPr/>
          <p:nvPr/>
        </p:nvSpPr>
        <p:spPr>
          <a:xfrm>
            <a:off x="8983980" y="4320540"/>
            <a:ext cx="1485900" cy="662940"/>
          </a:xfrm>
          <a:prstGeom prst="line">
            <a:avLst/>
          </a:prstGeom>
          <a:noFill/>
          <a:ln w="15875">
            <a:solidFill>
              <a:schemeClr val="accent3"/>
            </a:solidFill>
            <a:prstDash val="solid"/>
          </a:ln>
        </p:spPr>
      </p:sp>
      <p:sp>
        <p:nvSpPr>
          <p:cNvPr id="12" name="motif nœud 0"/>
          <p:cNvSpPr/>
          <p:nvPr/>
        </p:nvSpPr>
        <p:spPr>
          <a:xfrm>
            <a:off x="9418320" y="1463040"/>
            <a:ext cx="502920" cy="502920"/>
          </a:xfrm>
          <a:prstGeom prst="ellipse">
            <a:avLst/>
          </a:prstGeom>
          <a:solidFill>
            <a:schemeClr val="accent1"/>
          </a:solidFill>
          <a:ln w="19050">
            <a:solidFill>
              <a:schemeClr val="bg1"/>
            </a:solidFill>
            <a:prstDash val="solid"/>
          </a:ln>
        </p:spPr>
      </p:sp>
      <p:sp>
        <p:nvSpPr>
          <p:cNvPr id="13" name="motif nœud 1"/>
          <p:cNvSpPr/>
          <p:nvPr/>
        </p:nvSpPr>
        <p:spPr>
          <a:xfrm>
            <a:off x="10881360" y="2103120"/>
            <a:ext cx="384048" cy="384048"/>
          </a:xfrm>
          <a:prstGeom prst="ellipse">
            <a:avLst/>
          </a:prstGeom>
          <a:solidFill>
            <a:schemeClr val="accent2"/>
          </a:solidFill>
          <a:ln w="19050">
            <a:solidFill>
              <a:schemeClr val="bg1"/>
            </a:solidFill>
            <a:prstDash val="solid"/>
          </a:ln>
        </p:spPr>
      </p:sp>
      <p:sp>
        <p:nvSpPr>
          <p:cNvPr id="14" name="motif nœud 2"/>
          <p:cNvSpPr/>
          <p:nvPr/>
        </p:nvSpPr>
        <p:spPr>
          <a:xfrm>
            <a:off x="9966960" y="3108960"/>
            <a:ext cx="640080" cy="640080"/>
          </a:xfrm>
          <a:prstGeom prst="ellipse">
            <a:avLst/>
          </a:prstGeom>
          <a:solidFill>
            <a:schemeClr val="accent2"/>
          </a:solidFill>
          <a:ln w="19050">
            <a:solidFill>
              <a:schemeClr val="bg1"/>
            </a:solidFill>
            <a:prstDash val="solid"/>
          </a:ln>
        </p:spPr>
      </p:sp>
      <p:sp>
        <p:nvSpPr>
          <p:cNvPr id="15" name="motif nœud 3"/>
          <p:cNvSpPr/>
          <p:nvPr/>
        </p:nvSpPr>
        <p:spPr>
          <a:xfrm>
            <a:off x="11155680" y="3840480"/>
            <a:ext cx="347472" cy="347472"/>
          </a:xfrm>
          <a:prstGeom prst="ellipse">
            <a:avLst/>
          </a:prstGeom>
          <a:solidFill>
            <a:schemeClr val="accent4"/>
          </a:solidFill>
          <a:ln w="19050">
            <a:solidFill>
              <a:schemeClr val="bg1"/>
            </a:solidFill>
            <a:prstDash val="solid"/>
          </a:ln>
        </p:spPr>
      </p:sp>
      <p:sp>
        <p:nvSpPr>
          <p:cNvPr id="16" name="motif nœud 4"/>
          <p:cNvSpPr/>
          <p:nvPr/>
        </p:nvSpPr>
        <p:spPr>
          <a:xfrm>
            <a:off x="8778240" y="4114800"/>
            <a:ext cx="411480" cy="411480"/>
          </a:xfrm>
          <a:prstGeom prst="ellipse">
            <a:avLst/>
          </a:prstGeom>
          <a:solidFill>
            <a:schemeClr val="accent3"/>
          </a:solidFill>
          <a:ln w="19050">
            <a:solidFill>
              <a:schemeClr val="bg1"/>
            </a:solidFill>
            <a:prstDash val="solid"/>
          </a:ln>
        </p:spPr>
      </p:sp>
      <p:sp>
        <p:nvSpPr>
          <p:cNvPr id="17" name="motif nœud 5"/>
          <p:cNvSpPr/>
          <p:nvPr/>
        </p:nvSpPr>
        <p:spPr>
          <a:xfrm>
            <a:off x="10241280" y="4754880"/>
            <a:ext cx="457200" cy="457200"/>
          </a:xfrm>
          <a:prstGeom prst="ellipse">
            <a:avLst/>
          </a:prstGeom>
          <a:solidFill>
            <a:schemeClr val="accent1"/>
          </a:solidFill>
          <a:ln w="19050">
            <a:solidFill>
              <a:schemeClr val="bg1"/>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Une connaissance écrite, mais difficile à mobiliser</a:t>
            </a:r>
            <a:endParaRPr lang="en-US" sz="3000" dirty="0"/>
          </a:p>
        </p:txBody>
      </p:sp>
      <p:sp>
        <p:nvSpPr>
          <p:cNvPr id="3" name="carte Dispersion"/>
          <p:cNvSpPr/>
          <p:nvPr/>
        </p:nvSpPr>
        <p:spPr>
          <a:xfrm>
            <a:off x="548640" y="1417320"/>
            <a:ext cx="3520440" cy="2011680"/>
          </a:xfrm>
          <a:prstGeom prst="roundRect">
            <a:avLst>
              <a:gd name="adj" fmla="val 3636"/>
            </a:avLst>
          </a:prstGeom>
          <a:solidFill>
            <a:schemeClr val="bg2"/>
          </a:solidFill>
          <a:ln w="12700">
            <a:solidFill>
              <a:schemeClr val="bg2"/>
            </a:solidFill>
            <a:prstDash val="solid"/>
          </a:ln>
        </p:spPr>
      </p:sp>
      <p:sp>
        <p:nvSpPr>
          <p:cNvPr id="4" name="Dispersion cercle"/>
          <p:cNvSpPr/>
          <p:nvPr/>
        </p:nvSpPr>
        <p:spPr>
          <a:xfrm>
            <a:off x="822960" y="1691640"/>
            <a:ext cx="640080" cy="640080"/>
          </a:xfrm>
          <a:prstGeom prst="ellipse">
            <a:avLst/>
          </a:prstGeom>
          <a:solidFill>
            <a:schemeClr val="accent2"/>
          </a:solidFill>
          <a:ln w="12700">
            <a:solidFill>
              <a:schemeClr val="accent2"/>
            </a:solidFill>
            <a:prstDash val="solid"/>
          </a:ln>
        </p:spPr>
      </p:sp>
      <p:pic>
        <p:nvPicPr>
          <p:cNvPr id="5" name="Dispersion icône" descr="Dispersion">    </p:cNvPr>
          <p:cNvPicPr>
            <a:picLocks noChangeAspect="1"/>
          </p:cNvPicPr>
          <p:nvPr/>
        </p:nvPicPr>
        <p:blipFill>
          <a:blip r:embed="rId1"/>
          <a:stretch>
            <a:fillRect/>
          </a:stretch>
        </p:blipFill>
        <p:spPr>
          <a:xfrm>
            <a:off x="982980" y="1851660"/>
            <a:ext cx="320040" cy="320040"/>
          </a:xfrm>
          <a:prstGeom prst="rect">
            <a:avLst/>
          </a:prstGeom>
        </p:spPr>
      </p:pic>
      <p:sp>
        <p:nvSpPr>
          <p:cNvPr id="6" name="Text 3"/>
          <p:cNvSpPr txBox="1"/>
          <p:nvPr/>
        </p:nvSpPr>
        <p:spPr>
          <a:xfrm>
            <a:off x="1600200" y="1737360"/>
            <a:ext cx="2286000" cy="548640"/>
          </a:xfrm>
          <a:prstGeom prst="rect">
            <a:avLst/>
          </a:prstGeom>
          <a:noFill/>
          <a:ln/>
        </p:spPr>
        <p:txBody>
          <a:bodyPr wrap="square" lIns="0" tIns="0" rIns="0" bIns="0" rtlCol="0" anchor="ctr"/>
          <a:lstStyle/>
          <a:p>
            <a:pPr indent="0" marL="0">
              <a:buNone/>
            </a:pPr>
            <a:r>
              <a:rPr lang="en-US" sz="1900" b="1" dirty="0">
                <a:solidFill>
                  <a:schemeClr val="tx1"/>
                </a:solidFill>
              </a:rPr>
              <a:t>Dispersion</a:t>
            </a:r>
            <a:endParaRPr lang="en-US" sz="1900" dirty="0"/>
          </a:p>
        </p:txBody>
      </p:sp>
      <p:sp>
        <p:nvSpPr>
          <p:cNvPr id="7" name="Text 4"/>
          <p:cNvSpPr txBox="1"/>
          <p:nvPr/>
        </p:nvSpPr>
        <p:spPr>
          <a:xfrm>
            <a:off x="822960" y="2441448"/>
            <a:ext cx="3017520" cy="868680"/>
          </a:xfrm>
          <a:prstGeom prst="rect">
            <a:avLst/>
          </a:prstGeom>
          <a:noFill/>
          <a:ln/>
        </p:spPr>
        <p:txBody>
          <a:bodyPr wrap="square" lIns="0" tIns="0" rIns="0" bIns="0" rtlCol="0" anchor="t"/>
          <a:lstStyle/>
          <a:p>
            <a:pPr indent="0" marL="0">
              <a:buNone/>
            </a:pPr>
            <a:r>
              <a:rPr lang="en-US" sz="1400" dirty="0">
                <a:solidFill>
                  <a:schemeClr val="tx2"/>
                </a:solidFill>
              </a:rPr>
              <a:t>Les dépendances de CoreNova sont réparties entre un compte rendu, une note d'architecture et une cartographie</a:t>
            </a:r>
            <a:endParaRPr lang="en-US" sz="1400" dirty="0"/>
          </a:p>
        </p:txBody>
      </p:sp>
      <p:sp>
        <p:nvSpPr>
          <p:cNvPr id="8" name="carte Versions"/>
          <p:cNvSpPr/>
          <p:nvPr/>
        </p:nvSpPr>
        <p:spPr>
          <a:xfrm>
            <a:off x="4297680" y="1417320"/>
            <a:ext cx="3520440" cy="2011680"/>
          </a:xfrm>
          <a:prstGeom prst="roundRect">
            <a:avLst>
              <a:gd name="adj" fmla="val 3636"/>
            </a:avLst>
          </a:prstGeom>
          <a:solidFill>
            <a:schemeClr val="bg2"/>
          </a:solidFill>
          <a:ln w="12700">
            <a:solidFill>
              <a:schemeClr val="bg2"/>
            </a:solidFill>
            <a:prstDash val="solid"/>
          </a:ln>
        </p:spPr>
      </p:sp>
      <p:sp>
        <p:nvSpPr>
          <p:cNvPr id="9" name="Versions cercle"/>
          <p:cNvSpPr/>
          <p:nvPr/>
        </p:nvSpPr>
        <p:spPr>
          <a:xfrm>
            <a:off x="4572000" y="1691640"/>
            <a:ext cx="640080" cy="640080"/>
          </a:xfrm>
          <a:prstGeom prst="ellipse">
            <a:avLst/>
          </a:prstGeom>
          <a:solidFill>
            <a:schemeClr val="accent2"/>
          </a:solidFill>
          <a:ln w="12700">
            <a:solidFill>
              <a:schemeClr val="accent2"/>
            </a:solidFill>
            <a:prstDash val="solid"/>
          </a:ln>
        </p:spPr>
      </p:sp>
      <p:pic>
        <p:nvPicPr>
          <p:cNvPr id="10" name="Versions icône" descr="Versions">    </p:cNvPr>
          <p:cNvPicPr>
            <a:picLocks noChangeAspect="1"/>
          </p:cNvPicPr>
          <p:nvPr/>
        </p:nvPicPr>
        <p:blipFill>
          <a:blip r:embed="rId2"/>
          <a:stretch>
            <a:fillRect/>
          </a:stretch>
        </p:blipFill>
        <p:spPr>
          <a:xfrm>
            <a:off x="4732020" y="1851660"/>
            <a:ext cx="320040" cy="320040"/>
          </a:xfrm>
          <a:prstGeom prst="rect">
            <a:avLst/>
          </a:prstGeom>
        </p:spPr>
      </p:pic>
      <p:sp>
        <p:nvSpPr>
          <p:cNvPr id="11" name="Text 7"/>
          <p:cNvSpPr txBox="1"/>
          <p:nvPr/>
        </p:nvSpPr>
        <p:spPr>
          <a:xfrm>
            <a:off x="5349240" y="1737360"/>
            <a:ext cx="2286000" cy="548640"/>
          </a:xfrm>
          <a:prstGeom prst="rect">
            <a:avLst/>
          </a:prstGeom>
          <a:noFill/>
          <a:ln/>
        </p:spPr>
        <p:txBody>
          <a:bodyPr wrap="square" lIns="0" tIns="0" rIns="0" bIns="0" rtlCol="0" anchor="ctr"/>
          <a:lstStyle/>
          <a:p>
            <a:pPr indent="0" marL="0">
              <a:buNone/>
            </a:pPr>
            <a:r>
              <a:rPr lang="en-US" sz="1900" b="1" dirty="0">
                <a:solidFill>
                  <a:schemeClr val="tx1"/>
                </a:solidFill>
              </a:rPr>
              <a:t>Versions</a:t>
            </a:r>
            <a:endParaRPr lang="en-US" sz="1900" dirty="0"/>
          </a:p>
        </p:txBody>
      </p:sp>
      <p:sp>
        <p:nvSpPr>
          <p:cNvPr id="12" name="Text 8"/>
          <p:cNvSpPr txBox="1"/>
          <p:nvPr/>
        </p:nvSpPr>
        <p:spPr>
          <a:xfrm>
            <a:off x="4572000" y="2441448"/>
            <a:ext cx="3017520" cy="868680"/>
          </a:xfrm>
          <a:prstGeom prst="rect">
            <a:avLst/>
          </a:prstGeom>
          <a:noFill/>
          <a:ln/>
        </p:spPr>
        <p:txBody>
          <a:bodyPr wrap="square" lIns="0" tIns="0" rIns="0" bIns="0" rtlCol="0" anchor="t"/>
          <a:lstStyle/>
          <a:p>
            <a:pPr indent="0" marL="0">
              <a:buNone/>
            </a:pPr>
            <a:r>
              <a:rPr lang="en-US" sz="1400" dirty="0">
                <a:solidFill>
                  <a:schemeClr val="tx2"/>
                </a:solidFill>
              </a:rPr>
              <a:t>La procédure KYC existe en version 1.0 (revue à 24 mois) et 2.0 (12 mois)</a:t>
            </a:r>
            <a:endParaRPr lang="en-US" sz="1400" dirty="0"/>
          </a:p>
        </p:txBody>
      </p:sp>
      <p:sp>
        <p:nvSpPr>
          <p:cNvPr id="13" name="carte Contradictions"/>
          <p:cNvSpPr/>
          <p:nvPr/>
        </p:nvSpPr>
        <p:spPr>
          <a:xfrm>
            <a:off x="8046720" y="1417320"/>
            <a:ext cx="3520440" cy="2011680"/>
          </a:xfrm>
          <a:prstGeom prst="roundRect">
            <a:avLst>
              <a:gd name="adj" fmla="val 3636"/>
            </a:avLst>
          </a:prstGeom>
          <a:solidFill>
            <a:schemeClr val="bg2"/>
          </a:solidFill>
          <a:ln w="12700">
            <a:solidFill>
              <a:schemeClr val="bg2"/>
            </a:solidFill>
            <a:prstDash val="solid"/>
          </a:ln>
        </p:spPr>
      </p:sp>
      <p:sp>
        <p:nvSpPr>
          <p:cNvPr id="14" name="Contradictions cercle"/>
          <p:cNvSpPr/>
          <p:nvPr/>
        </p:nvSpPr>
        <p:spPr>
          <a:xfrm>
            <a:off x="8321040" y="1691640"/>
            <a:ext cx="640080" cy="640080"/>
          </a:xfrm>
          <a:prstGeom prst="ellipse">
            <a:avLst/>
          </a:prstGeom>
          <a:solidFill>
            <a:schemeClr val="accent1"/>
          </a:solidFill>
          <a:ln w="12700">
            <a:solidFill>
              <a:schemeClr val="accent1"/>
            </a:solidFill>
            <a:prstDash val="solid"/>
          </a:ln>
        </p:spPr>
      </p:sp>
      <p:pic>
        <p:nvPicPr>
          <p:cNvPr id="15" name="Contradictions icône" descr="Contradictions">    </p:cNvPr>
          <p:cNvPicPr>
            <a:picLocks noChangeAspect="1"/>
          </p:cNvPicPr>
          <p:nvPr/>
        </p:nvPicPr>
        <p:blipFill>
          <a:blip r:embed="rId3"/>
          <a:stretch>
            <a:fillRect/>
          </a:stretch>
        </p:blipFill>
        <p:spPr>
          <a:xfrm>
            <a:off x="8481060" y="1851660"/>
            <a:ext cx="320040" cy="320040"/>
          </a:xfrm>
          <a:prstGeom prst="rect">
            <a:avLst/>
          </a:prstGeom>
        </p:spPr>
      </p:pic>
      <p:sp>
        <p:nvSpPr>
          <p:cNvPr id="16" name="Text 11"/>
          <p:cNvSpPr txBox="1"/>
          <p:nvPr/>
        </p:nvSpPr>
        <p:spPr>
          <a:xfrm>
            <a:off x="9098280" y="1737360"/>
            <a:ext cx="2286000" cy="548640"/>
          </a:xfrm>
          <a:prstGeom prst="rect">
            <a:avLst/>
          </a:prstGeom>
          <a:noFill/>
          <a:ln/>
        </p:spPr>
        <p:txBody>
          <a:bodyPr wrap="square" lIns="0" tIns="0" rIns="0" bIns="0" rtlCol="0" anchor="ctr"/>
          <a:lstStyle/>
          <a:p>
            <a:pPr indent="0" marL="0">
              <a:buNone/>
            </a:pPr>
            <a:r>
              <a:rPr lang="en-US" sz="1900" b="1" dirty="0">
                <a:solidFill>
                  <a:schemeClr val="tx1"/>
                </a:solidFill>
              </a:rPr>
              <a:t>Contradictions</a:t>
            </a:r>
            <a:endParaRPr lang="en-US" sz="1900" dirty="0"/>
          </a:p>
        </p:txBody>
      </p:sp>
      <p:sp>
        <p:nvSpPr>
          <p:cNvPr id="17" name="Text 12"/>
          <p:cNvSpPr txBox="1"/>
          <p:nvPr/>
        </p:nvSpPr>
        <p:spPr>
          <a:xfrm>
            <a:off x="8321040" y="2441448"/>
            <a:ext cx="3017520" cy="868680"/>
          </a:xfrm>
          <a:prstGeom prst="rect">
            <a:avLst/>
          </a:prstGeom>
          <a:noFill/>
          <a:ln/>
        </p:spPr>
        <p:txBody>
          <a:bodyPr wrap="square" lIns="0" tIns="0" rIns="0" bIns="0" rtlCol="0" anchor="t"/>
          <a:lstStyle/>
          <a:p>
            <a:pPr indent="0" marL="0">
              <a:buNone/>
            </a:pPr>
            <a:r>
              <a:rPr lang="en-US" sz="1400" dirty="0">
                <a:solidFill>
                  <a:schemeClr val="tx2"/>
                </a:solidFill>
              </a:rPr>
              <a:t>Le guide de l'outil Sentinel KYC indique encore 24 mois</a:t>
            </a:r>
            <a:endParaRPr lang="en-US" sz="1400" dirty="0"/>
          </a:p>
        </p:txBody>
      </p:sp>
      <p:sp>
        <p:nvSpPr>
          <p:cNvPr id="18" name="carte Diffusion restreinte"/>
          <p:cNvSpPr/>
          <p:nvPr/>
        </p:nvSpPr>
        <p:spPr>
          <a:xfrm>
            <a:off x="548640" y="3657600"/>
            <a:ext cx="3520440" cy="2011680"/>
          </a:xfrm>
          <a:prstGeom prst="roundRect">
            <a:avLst>
              <a:gd name="adj" fmla="val 3636"/>
            </a:avLst>
          </a:prstGeom>
          <a:solidFill>
            <a:schemeClr val="bg2"/>
          </a:solidFill>
          <a:ln w="12700">
            <a:solidFill>
              <a:schemeClr val="bg2"/>
            </a:solidFill>
            <a:prstDash val="solid"/>
          </a:ln>
        </p:spPr>
      </p:sp>
      <p:sp>
        <p:nvSpPr>
          <p:cNvPr id="19" name="Diffusion restreinte cercle"/>
          <p:cNvSpPr/>
          <p:nvPr/>
        </p:nvSpPr>
        <p:spPr>
          <a:xfrm>
            <a:off x="822960" y="3931920"/>
            <a:ext cx="640080" cy="640080"/>
          </a:xfrm>
          <a:prstGeom prst="ellipse">
            <a:avLst/>
          </a:prstGeom>
          <a:solidFill>
            <a:schemeClr val="accent2"/>
          </a:solidFill>
          <a:ln w="12700">
            <a:solidFill>
              <a:schemeClr val="accent2"/>
            </a:solidFill>
            <a:prstDash val="solid"/>
          </a:ln>
        </p:spPr>
      </p:sp>
      <p:pic>
        <p:nvPicPr>
          <p:cNvPr id="20" name="Diffusion restreinte icône" descr="Diffusion restreinte">    </p:cNvPr>
          <p:cNvPicPr>
            <a:picLocks noChangeAspect="1"/>
          </p:cNvPicPr>
          <p:nvPr/>
        </p:nvPicPr>
        <p:blipFill>
          <a:blip r:embed="rId4"/>
          <a:stretch>
            <a:fillRect/>
          </a:stretch>
        </p:blipFill>
        <p:spPr>
          <a:xfrm>
            <a:off x="982980" y="4091940"/>
            <a:ext cx="320040" cy="320040"/>
          </a:xfrm>
          <a:prstGeom prst="rect">
            <a:avLst/>
          </a:prstGeom>
        </p:spPr>
      </p:pic>
      <p:sp>
        <p:nvSpPr>
          <p:cNvPr id="21" name="Text 15"/>
          <p:cNvSpPr txBox="1"/>
          <p:nvPr/>
        </p:nvSpPr>
        <p:spPr>
          <a:xfrm>
            <a:off x="1600200" y="3977640"/>
            <a:ext cx="2286000" cy="548640"/>
          </a:xfrm>
          <a:prstGeom prst="rect">
            <a:avLst/>
          </a:prstGeom>
          <a:noFill/>
          <a:ln/>
        </p:spPr>
        <p:txBody>
          <a:bodyPr wrap="square" lIns="0" tIns="0" rIns="0" bIns="0" rtlCol="0" anchor="ctr"/>
          <a:lstStyle/>
          <a:p>
            <a:pPr indent="0" marL="0">
              <a:buNone/>
            </a:pPr>
            <a:r>
              <a:rPr lang="en-US" sz="1900" b="1" dirty="0">
                <a:solidFill>
                  <a:schemeClr val="tx1"/>
                </a:solidFill>
              </a:rPr>
              <a:t>Diffusion restreinte</a:t>
            </a:r>
            <a:endParaRPr lang="en-US" sz="1900" dirty="0"/>
          </a:p>
        </p:txBody>
      </p:sp>
      <p:sp>
        <p:nvSpPr>
          <p:cNvPr id="22" name="Text 16"/>
          <p:cNvSpPr txBox="1"/>
          <p:nvPr/>
        </p:nvSpPr>
        <p:spPr>
          <a:xfrm>
            <a:off x="822960" y="4681728"/>
            <a:ext cx="3017520" cy="868680"/>
          </a:xfrm>
          <a:prstGeom prst="rect">
            <a:avLst/>
          </a:prstGeom>
          <a:noFill/>
          <a:ln/>
        </p:spPr>
        <p:txBody>
          <a:bodyPr wrap="square" lIns="0" tIns="0" rIns="0" bIns="0" rtlCol="0" anchor="t"/>
          <a:lstStyle/>
          <a:p>
            <a:pPr indent="0" marL="0">
              <a:buNone/>
            </a:pPr>
            <a:r>
              <a:rPr lang="en-US" sz="1400" dirty="0">
                <a:solidFill>
                  <a:schemeClr val="tx2"/>
                </a:solidFill>
              </a:rPr>
              <a:t>Le plan de continuité n'est diffusé qu'à trois directions</a:t>
            </a:r>
            <a:endParaRPr lang="en-US" sz="1400" dirty="0"/>
          </a:p>
        </p:txBody>
      </p:sp>
      <p:sp>
        <p:nvSpPr>
          <p:cNvPr id="23" name="carte Doublons"/>
          <p:cNvSpPr/>
          <p:nvPr/>
        </p:nvSpPr>
        <p:spPr>
          <a:xfrm>
            <a:off x="4297680" y="3657600"/>
            <a:ext cx="3520440" cy="2011680"/>
          </a:xfrm>
          <a:prstGeom prst="roundRect">
            <a:avLst>
              <a:gd name="adj" fmla="val 3636"/>
            </a:avLst>
          </a:prstGeom>
          <a:solidFill>
            <a:schemeClr val="bg2"/>
          </a:solidFill>
          <a:ln w="12700">
            <a:solidFill>
              <a:schemeClr val="bg2"/>
            </a:solidFill>
            <a:prstDash val="solid"/>
          </a:ln>
        </p:spPr>
      </p:sp>
      <p:sp>
        <p:nvSpPr>
          <p:cNvPr id="24" name="Doublons cercle"/>
          <p:cNvSpPr/>
          <p:nvPr/>
        </p:nvSpPr>
        <p:spPr>
          <a:xfrm>
            <a:off x="4572000" y="3931920"/>
            <a:ext cx="640080" cy="640080"/>
          </a:xfrm>
          <a:prstGeom prst="ellipse">
            <a:avLst/>
          </a:prstGeom>
          <a:solidFill>
            <a:schemeClr val="accent2"/>
          </a:solidFill>
          <a:ln w="12700">
            <a:solidFill>
              <a:schemeClr val="accent2"/>
            </a:solidFill>
            <a:prstDash val="solid"/>
          </a:ln>
        </p:spPr>
      </p:sp>
      <p:pic>
        <p:nvPicPr>
          <p:cNvPr id="25" name="Doublons icône" descr="Doublons">    </p:cNvPr>
          <p:cNvPicPr>
            <a:picLocks noChangeAspect="1"/>
          </p:cNvPicPr>
          <p:nvPr/>
        </p:nvPicPr>
        <p:blipFill>
          <a:blip r:embed="rId5"/>
          <a:stretch>
            <a:fillRect/>
          </a:stretch>
        </p:blipFill>
        <p:spPr>
          <a:xfrm>
            <a:off x="4732020" y="4091940"/>
            <a:ext cx="320040" cy="320040"/>
          </a:xfrm>
          <a:prstGeom prst="rect">
            <a:avLst/>
          </a:prstGeom>
        </p:spPr>
      </p:pic>
      <p:sp>
        <p:nvSpPr>
          <p:cNvPr id="26" name="Text 19"/>
          <p:cNvSpPr txBox="1"/>
          <p:nvPr/>
        </p:nvSpPr>
        <p:spPr>
          <a:xfrm>
            <a:off x="5349240" y="3977640"/>
            <a:ext cx="2286000" cy="548640"/>
          </a:xfrm>
          <a:prstGeom prst="rect">
            <a:avLst/>
          </a:prstGeom>
          <a:noFill/>
          <a:ln/>
        </p:spPr>
        <p:txBody>
          <a:bodyPr wrap="square" lIns="0" tIns="0" rIns="0" bIns="0" rtlCol="0" anchor="ctr"/>
          <a:lstStyle/>
          <a:p>
            <a:pPr indent="0" marL="0">
              <a:buNone/>
            </a:pPr>
            <a:r>
              <a:rPr lang="en-US" sz="1900" b="1" dirty="0">
                <a:solidFill>
                  <a:schemeClr val="tx1"/>
                </a:solidFill>
              </a:rPr>
              <a:t>Doublons</a:t>
            </a:r>
            <a:endParaRPr lang="en-US" sz="1900" dirty="0"/>
          </a:p>
        </p:txBody>
      </p:sp>
      <p:sp>
        <p:nvSpPr>
          <p:cNvPr id="27" name="Text 20"/>
          <p:cNvSpPr txBox="1"/>
          <p:nvPr/>
        </p:nvSpPr>
        <p:spPr>
          <a:xfrm>
            <a:off x="4572000" y="4681728"/>
            <a:ext cx="3017520" cy="868680"/>
          </a:xfrm>
          <a:prstGeom prst="rect">
            <a:avLst/>
          </a:prstGeom>
          <a:noFill/>
          <a:ln/>
        </p:spPr>
        <p:txBody>
          <a:bodyPr wrap="square" lIns="0" tIns="0" rIns="0" bIns="0" rtlCol="0" anchor="t"/>
          <a:lstStyle/>
          <a:p>
            <a:pPr indent="0" marL="0">
              <a:buNone/>
            </a:pPr>
            <a:r>
              <a:rPr lang="en-US" sz="1400" dirty="0">
                <a:solidFill>
                  <a:schemeClr val="tx2"/>
                </a:solidFill>
              </a:rPr>
              <a:t>Copies exactes et copies de travail coexistent avec l'original</a:t>
            </a:r>
            <a:endParaRPr lang="en-US" sz="1400" dirty="0"/>
          </a:p>
        </p:txBody>
      </p:sp>
      <p:sp>
        <p:nvSpPr>
          <p:cNvPr id="28" name="carte Expertise"/>
          <p:cNvSpPr/>
          <p:nvPr/>
        </p:nvSpPr>
        <p:spPr>
          <a:xfrm>
            <a:off x="8046720" y="3657600"/>
            <a:ext cx="3520440" cy="2011680"/>
          </a:xfrm>
          <a:prstGeom prst="roundRect">
            <a:avLst>
              <a:gd name="adj" fmla="val 3636"/>
            </a:avLst>
          </a:prstGeom>
          <a:solidFill>
            <a:schemeClr val="bg2"/>
          </a:solidFill>
          <a:ln w="12700">
            <a:solidFill>
              <a:schemeClr val="bg2"/>
            </a:solidFill>
            <a:prstDash val="solid"/>
          </a:ln>
        </p:spPr>
      </p:sp>
      <p:sp>
        <p:nvSpPr>
          <p:cNvPr id="29" name="Expertise cercle"/>
          <p:cNvSpPr/>
          <p:nvPr/>
        </p:nvSpPr>
        <p:spPr>
          <a:xfrm>
            <a:off x="8321040" y="3931920"/>
            <a:ext cx="640080" cy="640080"/>
          </a:xfrm>
          <a:prstGeom prst="ellipse">
            <a:avLst/>
          </a:prstGeom>
          <a:solidFill>
            <a:schemeClr val="accent2"/>
          </a:solidFill>
          <a:ln w="12700">
            <a:solidFill>
              <a:schemeClr val="accent2"/>
            </a:solidFill>
            <a:prstDash val="solid"/>
          </a:ln>
        </p:spPr>
      </p:sp>
      <p:pic>
        <p:nvPicPr>
          <p:cNvPr id="30" name="Expertise icône" descr="Expertise">    </p:cNvPr>
          <p:cNvPicPr>
            <a:picLocks noChangeAspect="1"/>
          </p:cNvPicPr>
          <p:nvPr/>
        </p:nvPicPr>
        <p:blipFill>
          <a:blip r:embed="rId6"/>
          <a:stretch>
            <a:fillRect/>
          </a:stretch>
        </p:blipFill>
        <p:spPr>
          <a:xfrm>
            <a:off x="8481060" y="4091940"/>
            <a:ext cx="320040" cy="320040"/>
          </a:xfrm>
          <a:prstGeom prst="rect">
            <a:avLst/>
          </a:prstGeom>
        </p:spPr>
      </p:pic>
      <p:sp>
        <p:nvSpPr>
          <p:cNvPr id="31" name="Text 23"/>
          <p:cNvSpPr txBox="1"/>
          <p:nvPr/>
        </p:nvSpPr>
        <p:spPr>
          <a:xfrm>
            <a:off x="9098280" y="3977640"/>
            <a:ext cx="2286000" cy="548640"/>
          </a:xfrm>
          <a:prstGeom prst="rect">
            <a:avLst/>
          </a:prstGeom>
          <a:noFill/>
          <a:ln/>
        </p:spPr>
        <p:txBody>
          <a:bodyPr wrap="square" lIns="0" tIns="0" rIns="0" bIns="0" rtlCol="0" anchor="ctr"/>
          <a:lstStyle/>
          <a:p>
            <a:pPr indent="0" marL="0">
              <a:buNone/>
            </a:pPr>
            <a:r>
              <a:rPr lang="en-US" sz="1900" b="1" dirty="0">
                <a:solidFill>
                  <a:schemeClr val="tx1"/>
                </a:solidFill>
              </a:rPr>
              <a:t>Expertise</a:t>
            </a:r>
            <a:endParaRPr lang="en-US" sz="1900" dirty="0"/>
          </a:p>
        </p:txBody>
      </p:sp>
      <p:sp>
        <p:nvSpPr>
          <p:cNvPr id="32" name="Text 24"/>
          <p:cNvSpPr txBox="1"/>
          <p:nvPr/>
        </p:nvSpPr>
        <p:spPr>
          <a:xfrm>
            <a:off x="8321040" y="4681728"/>
            <a:ext cx="3017520" cy="868680"/>
          </a:xfrm>
          <a:prstGeom prst="rect">
            <a:avLst/>
          </a:prstGeom>
          <a:noFill/>
          <a:ln/>
        </p:spPr>
        <p:txBody>
          <a:bodyPr wrap="square" lIns="0" tIns="0" rIns="0" bIns="0" rtlCol="0" anchor="t"/>
          <a:lstStyle/>
          <a:p>
            <a:pPr indent="0" marL="0">
              <a:buNone/>
            </a:pPr>
            <a:r>
              <a:rPr lang="en-US" sz="1400" dirty="0">
                <a:solidFill>
                  <a:schemeClr val="tx2"/>
                </a:solidFill>
              </a:rPr>
              <a:t>Savoir qui maîtrise la lutte anti-blanchiment est aussi utile que le texte</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Problématique et questions de recherche</a:t>
            </a:r>
            <a:endParaRPr lang="en-US" sz="3000" dirty="0"/>
          </a:p>
        </p:txBody>
      </p:sp>
      <p:sp>
        <p:nvSpPr>
          <p:cNvPr id="3" name="encadré problématique"/>
          <p:cNvSpPr/>
          <p:nvPr/>
        </p:nvSpPr>
        <p:spPr>
          <a:xfrm>
            <a:off x="548640" y="1371600"/>
            <a:ext cx="4206240" cy="4526280"/>
          </a:xfrm>
          <a:prstGeom prst="roundRect">
            <a:avLst>
              <a:gd name="adj" fmla="val 1739"/>
            </a:avLst>
          </a:prstGeom>
          <a:solidFill>
            <a:schemeClr val="tx1"/>
          </a:solidFill>
          <a:ln w="12700">
            <a:solidFill>
              <a:schemeClr val="tx1"/>
            </a:solidFill>
            <a:prstDash val="solid"/>
          </a:ln>
        </p:spPr>
      </p:sp>
      <p:sp>
        <p:nvSpPr>
          <p:cNvPr id="4" name="Text 2"/>
          <p:cNvSpPr txBox="1"/>
          <p:nvPr/>
        </p:nvSpPr>
        <p:spPr>
          <a:xfrm>
            <a:off x="868680" y="1691640"/>
            <a:ext cx="3566160" cy="3931920"/>
          </a:xfrm>
          <a:prstGeom prst="rect">
            <a:avLst/>
          </a:prstGeom>
          <a:noFill/>
          <a:ln/>
        </p:spPr>
        <p:txBody>
          <a:bodyPr wrap="square" lIns="0" tIns="0" rIns="0" bIns="0" rtlCol="0" anchor="t"/>
          <a:lstStyle/>
          <a:p>
            <a:pPr indent="0" marL="0">
              <a:buNone/>
            </a:pPr>
            <a:r>
              <a:rPr lang="en-US" sz="1900" i="1" dirty="0">
                <a:solidFill>
                  <a:schemeClr val="bg1"/>
                </a:solidFill>
                <a:latin typeface="Cambria" pitchFamily="34" charset="0"/>
                <a:ea typeface="Cambria" pitchFamily="34" charset="-122"/>
                <a:cs typeface="Cambria" pitchFamily="34" charset="-120"/>
              </a:rPr>
              <a:t>Comment permettre à un collaborateur d'interroger la documentation interne d'une banque en langage naturel, en obtenant des réponses exactes, sourcées et conformes à ses droits, y compris lorsque la réponse relie plusieurs documents, entités et versions ?</a:t>
            </a:r>
            <a:endParaRPr lang="en-US" sz="1900" dirty="0"/>
          </a:p>
        </p:txBody>
      </p:sp>
      <p:sp>
        <p:nvSpPr>
          <p:cNvPr id="5" name="QR1 pastille"/>
          <p:cNvSpPr/>
          <p:nvPr/>
        </p:nvSpPr>
        <p:spPr>
          <a:xfrm>
            <a:off x="5120640" y="1463040"/>
            <a:ext cx="640080" cy="640080"/>
          </a:xfrm>
          <a:prstGeom prst="ellipse">
            <a:avLst/>
          </a:prstGeom>
          <a:solidFill>
            <a:schemeClr val="accent1"/>
          </a:solidFill>
          <a:ln w="12700">
            <a:solidFill>
              <a:schemeClr val="accent1"/>
            </a:solidFill>
            <a:prstDash val="solid"/>
          </a:ln>
        </p:spPr>
      </p:sp>
      <p:sp>
        <p:nvSpPr>
          <p:cNvPr id="6" name="Text 4"/>
          <p:cNvSpPr txBox="1"/>
          <p:nvPr/>
        </p:nvSpPr>
        <p:spPr>
          <a:xfrm>
            <a:off x="5120640" y="1463040"/>
            <a:ext cx="640080" cy="640080"/>
          </a:xfrm>
          <a:prstGeom prst="rect">
            <a:avLst/>
          </a:prstGeom>
          <a:noFill/>
          <a:ln/>
        </p:spPr>
        <p:txBody>
          <a:bodyPr wrap="square" lIns="0" tIns="0" rIns="0" bIns="0" rtlCol="0" anchor="ctr"/>
          <a:lstStyle/>
          <a:p>
            <a:pPr algn="ctr" indent="0" marL="0">
              <a:buNone/>
            </a:pPr>
            <a:r>
              <a:rPr lang="en-US" sz="1400" b="1" dirty="0">
                <a:solidFill>
                  <a:schemeClr val="bg1"/>
                </a:solidFill>
              </a:rPr>
              <a:t>QR1</a:t>
            </a:r>
            <a:endParaRPr lang="en-US" sz="1400" dirty="0"/>
          </a:p>
        </p:txBody>
      </p:sp>
      <p:sp>
        <p:nvSpPr>
          <p:cNvPr id="7" name="Text 5"/>
          <p:cNvSpPr txBox="1"/>
          <p:nvPr/>
        </p:nvSpPr>
        <p:spPr>
          <a:xfrm>
            <a:off x="5989320" y="1417320"/>
            <a:ext cx="5623560" cy="731520"/>
          </a:xfrm>
          <a:prstGeom prst="rect">
            <a:avLst/>
          </a:prstGeom>
          <a:noFill/>
          <a:ln/>
        </p:spPr>
        <p:txBody>
          <a:bodyPr wrap="square" lIns="0" tIns="0" rIns="0" bIns="0" rtlCol="0" anchor="ctr"/>
          <a:lstStyle/>
          <a:p>
            <a:pPr indent="0" marL="0">
              <a:buNone/>
            </a:pPr>
            <a:r>
              <a:rPr lang="en-US" sz="1600" dirty="0">
                <a:solidFill>
                  <a:schemeClr val="tx1"/>
                </a:solidFill>
              </a:rPr>
              <a:t>Le graphe améliore-t-il la recherche pour les questions relationnelles et multi-sauts ?</a:t>
            </a:r>
            <a:endParaRPr lang="en-US" sz="1600" dirty="0"/>
          </a:p>
        </p:txBody>
      </p:sp>
      <p:sp>
        <p:nvSpPr>
          <p:cNvPr id="8" name="QR2 pastille"/>
          <p:cNvSpPr/>
          <p:nvPr/>
        </p:nvSpPr>
        <p:spPr>
          <a:xfrm>
            <a:off x="5120640" y="2377440"/>
            <a:ext cx="640080" cy="640080"/>
          </a:xfrm>
          <a:prstGeom prst="ellipse">
            <a:avLst/>
          </a:prstGeom>
          <a:solidFill>
            <a:schemeClr val="accent1"/>
          </a:solidFill>
          <a:ln w="12700">
            <a:solidFill>
              <a:schemeClr val="accent1"/>
            </a:solidFill>
            <a:prstDash val="solid"/>
          </a:ln>
        </p:spPr>
      </p:sp>
      <p:sp>
        <p:nvSpPr>
          <p:cNvPr id="9" name="Text 7"/>
          <p:cNvSpPr txBox="1"/>
          <p:nvPr/>
        </p:nvSpPr>
        <p:spPr>
          <a:xfrm>
            <a:off x="5120640" y="2377440"/>
            <a:ext cx="640080" cy="640080"/>
          </a:xfrm>
          <a:prstGeom prst="rect">
            <a:avLst/>
          </a:prstGeom>
          <a:noFill/>
          <a:ln/>
        </p:spPr>
        <p:txBody>
          <a:bodyPr wrap="square" lIns="0" tIns="0" rIns="0" bIns="0" rtlCol="0" anchor="ctr"/>
          <a:lstStyle/>
          <a:p>
            <a:pPr algn="ctr" indent="0" marL="0">
              <a:buNone/>
            </a:pPr>
            <a:r>
              <a:rPr lang="en-US" sz="1400" b="1" dirty="0">
                <a:solidFill>
                  <a:schemeClr val="bg1"/>
                </a:solidFill>
              </a:rPr>
              <a:t>QR2</a:t>
            </a:r>
            <a:endParaRPr lang="en-US" sz="1400" dirty="0"/>
          </a:p>
        </p:txBody>
      </p:sp>
      <p:sp>
        <p:nvSpPr>
          <p:cNvPr id="10" name="Text 8"/>
          <p:cNvSpPr txBox="1"/>
          <p:nvPr/>
        </p:nvSpPr>
        <p:spPr>
          <a:xfrm>
            <a:off x="5989320" y="2331720"/>
            <a:ext cx="5623560" cy="731520"/>
          </a:xfrm>
          <a:prstGeom prst="rect">
            <a:avLst/>
          </a:prstGeom>
          <a:noFill/>
          <a:ln/>
        </p:spPr>
        <p:txBody>
          <a:bodyPr wrap="square" lIns="0" tIns="0" rIns="0" bIns="0" rtlCol="0" anchor="ctr"/>
          <a:lstStyle/>
          <a:p>
            <a:pPr indent="0" marL="0">
              <a:buNone/>
            </a:pPr>
            <a:r>
              <a:rPr lang="en-US" sz="1600" dirty="0">
                <a:solidFill>
                  <a:schemeClr val="tx1"/>
                </a:solidFill>
              </a:rPr>
              <a:t>Le graphe dégrade-t-il les questions factuelles simples ?</a:t>
            </a:r>
            <a:endParaRPr lang="en-US" sz="1600" dirty="0"/>
          </a:p>
        </p:txBody>
      </p:sp>
      <p:sp>
        <p:nvSpPr>
          <p:cNvPr id="11" name="QR3 pastille"/>
          <p:cNvSpPr/>
          <p:nvPr/>
        </p:nvSpPr>
        <p:spPr>
          <a:xfrm>
            <a:off x="5120640" y="3291840"/>
            <a:ext cx="640080" cy="640080"/>
          </a:xfrm>
          <a:prstGeom prst="ellipse">
            <a:avLst/>
          </a:prstGeom>
          <a:solidFill>
            <a:schemeClr val="accent1"/>
          </a:solidFill>
          <a:ln w="12700">
            <a:solidFill>
              <a:schemeClr val="accent1"/>
            </a:solidFill>
            <a:prstDash val="solid"/>
          </a:ln>
        </p:spPr>
      </p:sp>
      <p:sp>
        <p:nvSpPr>
          <p:cNvPr id="12" name="Text 10"/>
          <p:cNvSpPr txBox="1"/>
          <p:nvPr/>
        </p:nvSpPr>
        <p:spPr>
          <a:xfrm>
            <a:off x="5120640" y="3291840"/>
            <a:ext cx="640080" cy="640080"/>
          </a:xfrm>
          <a:prstGeom prst="rect">
            <a:avLst/>
          </a:prstGeom>
          <a:noFill/>
          <a:ln/>
        </p:spPr>
        <p:txBody>
          <a:bodyPr wrap="square" lIns="0" tIns="0" rIns="0" bIns="0" rtlCol="0" anchor="ctr"/>
          <a:lstStyle/>
          <a:p>
            <a:pPr algn="ctr" indent="0" marL="0">
              <a:buNone/>
            </a:pPr>
            <a:r>
              <a:rPr lang="en-US" sz="1400" b="1" dirty="0">
                <a:solidFill>
                  <a:schemeClr val="bg1"/>
                </a:solidFill>
              </a:rPr>
              <a:t>QR3</a:t>
            </a:r>
            <a:endParaRPr lang="en-US" sz="1400" dirty="0"/>
          </a:p>
        </p:txBody>
      </p:sp>
      <p:sp>
        <p:nvSpPr>
          <p:cNvPr id="13" name="Text 11"/>
          <p:cNvSpPr txBox="1"/>
          <p:nvPr/>
        </p:nvSpPr>
        <p:spPr>
          <a:xfrm>
            <a:off x="5989320" y="3246120"/>
            <a:ext cx="5623560" cy="731520"/>
          </a:xfrm>
          <a:prstGeom prst="rect">
            <a:avLst/>
          </a:prstGeom>
          <a:noFill/>
          <a:ln/>
        </p:spPr>
        <p:txBody>
          <a:bodyPr wrap="square" lIns="0" tIns="0" rIns="0" bIns="0" rtlCol="0" anchor="ctr"/>
          <a:lstStyle/>
          <a:p>
            <a:pPr indent="0" marL="0">
              <a:buNone/>
            </a:pPr>
            <a:r>
              <a:rPr lang="en-US" sz="1600" dirty="0">
                <a:solidFill>
                  <a:schemeClr val="tx1"/>
                </a:solidFill>
              </a:rPr>
              <a:t>Le contrôle de suffisance permet-il de s'abstenir à bon escient ?</a:t>
            </a:r>
            <a:endParaRPr lang="en-US" sz="1600" dirty="0"/>
          </a:p>
        </p:txBody>
      </p:sp>
      <p:sp>
        <p:nvSpPr>
          <p:cNvPr id="14" name="QR4 pastille"/>
          <p:cNvSpPr/>
          <p:nvPr/>
        </p:nvSpPr>
        <p:spPr>
          <a:xfrm>
            <a:off x="5120640" y="4206240"/>
            <a:ext cx="640080" cy="640080"/>
          </a:xfrm>
          <a:prstGeom prst="ellipse">
            <a:avLst/>
          </a:prstGeom>
          <a:solidFill>
            <a:schemeClr val="accent1"/>
          </a:solidFill>
          <a:ln w="12700">
            <a:solidFill>
              <a:schemeClr val="accent1"/>
            </a:solidFill>
            <a:prstDash val="solid"/>
          </a:ln>
        </p:spPr>
      </p:sp>
      <p:sp>
        <p:nvSpPr>
          <p:cNvPr id="15" name="Text 13"/>
          <p:cNvSpPr txBox="1"/>
          <p:nvPr/>
        </p:nvSpPr>
        <p:spPr>
          <a:xfrm>
            <a:off x="5120640" y="4206240"/>
            <a:ext cx="640080" cy="640080"/>
          </a:xfrm>
          <a:prstGeom prst="rect">
            <a:avLst/>
          </a:prstGeom>
          <a:noFill/>
          <a:ln/>
        </p:spPr>
        <p:txBody>
          <a:bodyPr wrap="square" lIns="0" tIns="0" rIns="0" bIns="0" rtlCol="0" anchor="ctr"/>
          <a:lstStyle/>
          <a:p>
            <a:pPr algn="ctr" indent="0" marL="0">
              <a:buNone/>
            </a:pPr>
            <a:r>
              <a:rPr lang="en-US" sz="1400" b="1" dirty="0">
                <a:solidFill>
                  <a:schemeClr val="bg1"/>
                </a:solidFill>
              </a:rPr>
              <a:t>QR4</a:t>
            </a:r>
            <a:endParaRPr lang="en-US" sz="1400" dirty="0"/>
          </a:p>
        </p:txBody>
      </p:sp>
      <p:sp>
        <p:nvSpPr>
          <p:cNvPr id="16" name="Text 14"/>
          <p:cNvSpPr txBox="1"/>
          <p:nvPr/>
        </p:nvSpPr>
        <p:spPr>
          <a:xfrm>
            <a:off x="5989320" y="4160520"/>
            <a:ext cx="5623560" cy="731520"/>
          </a:xfrm>
          <a:prstGeom prst="rect">
            <a:avLst/>
          </a:prstGeom>
          <a:noFill/>
          <a:ln/>
        </p:spPr>
        <p:txBody>
          <a:bodyPr wrap="square" lIns="0" tIns="0" rIns="0" bIns="0" rtlCol="0" anchor="ctr"/>
          <a:lstStyle/>
          <a:p>
            <a:pPr indent="0" marL="0">
              <a:buNone/>
            </a:pPr>
            <a:r>
              <a:rPr lang="en-US" sz="1600" dirty="0">
                <a:solidFill>
                  <a:schemeClr val="tx1"/>
                </a:solidFill>
              </a:rPr>
              <a:t>Des preuves typées trouvent-elles mieux les experts qu'un comptage de mentions ?</a:t>
            </a:r>
            <a:endParaRPr lang="en-US" sz="1600" dirty="0"/>
          </a:p>
        </p:txBody>
      </p:sp>
      <p:sp>
        <p:nvSpPr>
          <p:cNvPr id="17" name="QR5 pastille"/>
          <p:cNvSpPr/>
          <p:nvPr/>
        </p:nvSpPr>
        <p:spPr>
          <a:xfrm>
            <a:off x="5120640" y="5120640"/>
            <a:ext cx="640080" cy="640080"/>
          </a:xfrm>
          <a:prstGeom prst="ellipse">
            <a:avLst/>
          </a:prstGeom>
          <a:solidFill>
            <a:schemeClr val="accent1"/>
          </a:solidFill>
          <a:ln w="12700">
            <a:solidFill>
              <a:schemeClr val="accent1"/>
            </a:solidFill>
            <a:prstDash val="solid"/>
          </a:ln>
        </p:spPr>
      </p:sp>
      <p:sp>
        <p:nvSpPr>
          <p:cNvPr id="18" name="Text 16"/>
          <p:cNvSpPr txBox="1"/>
          <p:nvPr/>
        </p:nvSpPr>
        <p:spPr>
          <a:xfrm>
            <a:off x="5120640" y="5120640"/>
            <a:ext cx="640080" cy="640080"/>
          </a:xfrm>
          <a:prstGeom prst="rect">
            <a:avLst/>
          </a:prstGeom>
          <a:noFill/>
          <a:ln/>
        </p:spPr>
        <p:txBody>
          <a:bodyPr wrap="square" lIns="0" tIns="0" rIns="0" bIns="0" rtlCol="0" anchor="ctr"/>
          <a:lstStyle/>
          <a:p>
            <a:pPr algn="ctr" indent="0" marL="0">
              <a:buNone/>
            </a:pPr>
            <a:r>
              <a:rPr lang="en-US" sz="1400" b="1" dirty="0">
                <a:solidFill>
                  <a:schemeClr val="bg1"/>
                </a:solidFill>
              </a:rPr>
              <a:t>QR5</a:t>
            </a:r>
            <a:endParaRPr lang="en-US" sz="1400" dirty="0"/>
          </a:p>
        </p:txBody>
      </p:sp>
      <p:sp>
        <p:nvSpPr>
          <p:cNvPr id="19" name="Text 17"/>
          <p:cNvSpPr txBox="1"/>
          <p:nvPr/>
        </p:nvSpPr>
        <p:spPr>
          <a:xfrm>
            <a:off x="5989320" y="5074920"/>
            <a:ext cx="5623560" cy="731520"/>
          </a:xfrm>
          <a:prstGeom prst="rect">
            <a:avLst/>
          </a:prstGeom>
          <a:noFill/>
          <a:ln/>
        </p:spPr>
        <p:txBody>
          <a:bodyPr wrap="square" lIns="0" tIns="0" rIns="0" bIns="0" rtlCol="0" anchor="ctr"/>
          <a:lstStyle/>
          <a:p>
            <a:pPr indent="0" marL="0">
              <a:buNone/>
            </a:pPr>
            <a:r>
              <a:rPr lang="en-US" sz="1600" dirty="0">
                <a:solidFill>
                  <a:schemeClr val="tx1"/>
                </a:solidFill>
              </a:rPr>
              <a:t>Contenu + graphe recommandent-ils mieux que le contenu seul ?</a:t>
            </a:r>
            <a:endParaRPr lang="en-US" sz="16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Démarche : un banc d'essai bancaire synthétique</a:t>
            </a:r>
            <a:endParaRPr lang="en-US" sz="3000" dirty="0"/>
          </a:p>
        </p:txBody>
      </p:sp>
      <p:sp>
        <p:nvSpPr>
          <p:cNvPr id="3" name="statistique documents d'une banque fictive"/>
          <p:cNvSpPr/>
          <p:nvPr/>
        </p:nvSpPr>
        <p:spPr>
          <a:xfrm>
            <a:off x="548640" y="1417320"/>
            <a:ext cx="2606040" cy="2011680"/>
          </a:xfrm>
          <a:prstGeom prst="roundRect">
            <a:avLst>
              <a:gd name="adj" fmla="val 3636"/>
            </a:avLst>
          </a:prstGeom>
          <a:solidFill>
            <a:schemeClr val="bg2"/>
          </a:solidFill>
          <a:ln w="12700">
            <a:solidFill>
              <a:schemeClr val="bg2"/>
            </a:solidFill>
            <a:prstDash val="solid"/>
          </a:ln>
        </p:spPr>
      </p:sp>
      <p:sp>
        <p:nvSpPr>
          <p:cNvPr id="4" name="Text 2"/>
          <p:cNvSpPr txBox="1"/>
          <p:nvPr/>
        </p:nvSpPr>
        <p:spPr>
          <a:xfrm>
            <a:off x="777240" y="1600200"/>
            <a:ext cx="2194560" cy="1005840"/>
          </a:xfrm>
          <a:prstGeom prst="rect">
            <a:avLst/>
          </a:prstGeom>
          <a:noFill/>
          <a:ln/>
        </p:spPr>
        <p:txBody>
          <a:bodyPr wrap="square" lIns="0" tIns="0" rIns="0" bIns="0" rtlCol="0" anchor="ctr"/>
          <a:lstStyle/>
          <a:p>
            <a:pPr indent="0" marL="0">
              <a:buNone/>
            </a:pPr>
            <a:r>
              <a:rPr lang="en-US" sz="5400" b="1" dirty="0">
                <a:solidFill>
                  <a:schemeClr val="accent1"/>
                </a:solidFill>
                <a:latin typeface="Cambria" pitchFamily="34" charset="0"/>
                <a:ea typeface="Cambria" pitchFamily="34" charset="-122"/>
                <a:cs typeface="Cambria" pitchFamily="34" charset="-120"/>
              </a:rPr>
              <a:t>35</a:t>
            </a:r>
            <a:endParaRPr lang="en-US" sz="5400" dirty="0"/>
          </a:p>
        </p:txBody>
      </p:sp>
      <p:sp>
        <p:nvSpPr>
          <p:cNvPr id="5" name="Text 3"/>
          <p:cNvSpPr txBox="1"/>
          <p:nvPr/>
        </p:nvSpPr>
        <p:spPr>
          <a:xfrm>
            <a:off x="777240" y="2651760"/>
            <a:ext cx="2194560" cy="640080"/>
          </a:xfrm>
          <a:prstGeom prst="rect">
            <a:avLst/>
          </a:prstGeom>
          <a:noFill/>
          <a:ln/>
        </p:spPr>
        <p:txBody>
          <a:bodyPr wrap="square" lIns="0" tIns="0" rIns="0" bIns="0" rtlCol="0" anchor="t"/>
          <a:lstStyle/>
          <a:p>
            <a:pPr indent="0" marL="0">
              <a:buNone/>
            </a:pPr>
            <a:r>
              <a:rPr lang="en-US" sz="1400" dirty="0">
                <a:solidFill>
                  <a:schemeClr val="tx2"/>
                </a:solidFill>
              </a:rPr>
              <a:t>documents d'une banque fictive</a:t>
            </a:r>
            <a:endParaRPr lang="en-US" sz="1400" dirty="0"/>
          </a:p>
        </p:txBody>
      </p:sp>
      <p:sp>
        <p:nvSpPr>
          <p:cNvPr id="6" name="statistique questions annotées, 10 catégories"/>
          <p:cNvSpPr/>
          <p:nvPr/>
        </p:nvSpPr>
        <p:spPr>
          <a:xfrm>
            <a:off x="3337560" y="1417320"/>
            <a:ext cx="2606040" cy="2011680"/>
          </a:xfrm>
          <a:prstGeom prst="roundRect">
            <a:avLst>
              <a:gd name="adj" fmla="val 3636"/>
            </a:avLst>
          </a:prstGeom>
          <a:solidFill>
            <a:schemeClr val="bg2"/>
          </a:solidFill>
          <a:ln w="12700">
            <a:solidFill>
              <a:schemeClr val="bg2"/>
            </a:solidFill>
            <a:prstDash val="solid"/>
          </a:ln>
        </p:spPr>
      </p:sp>
      <p:sp>
        <p:nvSpPr>
          <p:cNvPr id="7" name="Text 5"/>
          <p:cNvSpPr txBox="1"/>
          <p:nvPr/>
        </p:nvSpPr>
        <p:spPr>
          <a:xfrm>
            <a:off x="3566160" y="1600200"/>
            <a:ext cx="2194560" cy="1005840"/>
          </a:xfrm>
          <a:prstGeom prst="rect">
            <a:avLst/>
          </a:prstGeom>
          <a:noFill/>
          <a:ln/>
        </p:spPr>
        <p:txBody>
          <a:bodyPr wrap="square" lIns="0" tIns="0" rIns="0" bIns="0" rtlCol="0" anchor="ctr"/>
          <a:lstStyle/>
          <a:p>
            <a:pPr indent="0" marL="0">
              <a:buNone/>
            </a:pPr>
            <a:r>
              <a:rPr lang="en-US" sz="5400" b="1" dirty="0">
                <a:solidFill>
                  <a:schemeClr val="accent1"/>
                </a:solidFill>
                <a:latin typeface="Cambria" pitchFamily="34" charset="0"/>
                <a:ea typeface="Cambria" pitchFamily="34" charset="-122"/>
                <a:cs typeface="Cambria" pitchFamily="34" charset="-120"/>
              </a:rPr>
              <a:t>66</a:t>
            </a:r>
            <a:endParaRPr lang="en-US" sz="5400" dirty="0"/>
          </a:p>
        </p:txBody>
      </p:sp>
      <p:sp>
        <p:nvSpPr>
          <p:cNvPr id="8" name="Text 6"/>
          <p:cNvSpPr txBox="1"/>
          <p:nvPr/>
        </p:nvSpPr>
        <p:spPr>
          <a:xfrm>
            <a:off x="3566160" y="2651760"/>
            <a:ext cx="2194560" cy="640080"/>
          </a:xfrm>
          <a:prstGeom prst="rect">
            <a:avLst/>
          </a:prstGeom>
          <a:noFill/>
          <a:ln/>
        </p:spPr>
        <p:txBody>
          <a:bodyPr wrap="square" lIns="0" tIns="0" rIns="0" bIns="0" rtlCol="0" anchor="t"/>
          <a:lstStyle/>
          <a:p>
            <a:pPr indent="0" marL="0">
              <a:buNone/>
            </a:pPr>
            <a:r>
              <a:rPr lang="en-US" sz="1400" dirty="0">
                <a:solidFill>
                  <a:schemeClr val="tx2"/>
                </a:solidFill>
              </a:rPr>
              <a:t>questions annotées, 10 catégories</a:t>
            </a:r>
            <a:endParaRPr lang="en-US" sz="1400" dirty="0"/>
          </a:p>
        </p:txBody>
      </p:sp>
      <p:sp>
        <p:nvSpPr>
          <p:cNvPr id="9" name="statistique architectures comparées"/>
          <p:cNvSpPr/>
          <p:nvPr/>
        </p:nvSpPr>
        <p:spPr>
          <a:xfrm>
            <a:off x="548640" y="3657600"/>
            <a:ext cx="2606040" cy="2011680"/>
          </a:xfrm>
          <a:prstGeom prst="roundRect">
            <a:avLst>
              <a:gd name="adj" fmla="val 3636"/>
            </a:avLst>
          </a:prstGeom>
          <a:solidFill>
            <a:schemeClr val="bg2"/>
          </a:solidFill>
          <a:ln w="12700">
            <a:solidFill>
              <a:schemeClr val="bg2"/>
            </a:solidFill>
            <a:prstDash val="solid"/>
          </a:ln>
        </p:spPr>
      </p:sp>
      <p:sp>
        <p:nvSpPr>
          <p:cNvPr id="10" name="Text 8"/>
          <p:cNvSpPr txBox="1"/>
          <p:nvPr/>
        </p:nvSpPr>
        <p:spPr>
          <a:xfrm>
            <a:off x="777240" y="3840480"/>
            <a:ext cx="2194560" cy="1005840"/>
          </a:xfrm>
          <a:prstGeom prst="rect">
            <a:avLst/>
          </a:prstGeom>
          <a:noFill/>
          <a:ln/>
        </p:spPr>
        <p:txBody>
          <a:bodyPr wrap="square" lIns="0" tIns="0" rIns="0" bIns="0" rtlCol="0" anchor="ctr"/>
          <a:lstStyle/>
          <a:p>
            <a:pPr indent="0" marL="0">
              <a:buNone/>
            </a:pPr>
            <a:r>
              <a:rPr lang="en-US" sz="5400" b="1" dirty="0">
                <a:solidFill>
                  <a:schemeClr val="accent1"/>
                </a:solidFill>
                <a:latin typeface="Cambria" pitchFamily="34" charset="0"/>
                <a:ea typeface="Cambria" pitchFamily="34" charset="-122"/>
                <a:cs typeface="Cambria" pitchFamily="34" charset="-120"/>
              </a:rPr>
              <a:t>5</a:t>
            </a:r>
            <a:endParaRPr lang="en-US" sz="5400" dirty="0"/>
          </a:p>
        </p:txBody>
      </p:sp>
      <p:sp>
        <p:nvSpPr>
          <p:cNvPr id="11" name="Text 9"/>
          <p:cNvSpPr txBox="1"/>
          <p:nvPr/>
        </p:nvSpPr>
        <p:spPr>
          <a:xfrm>
            <a:off x="777240" y="4892040"/>
            <a:ext cx="2194560" cy="640080"/>
          </a:xfrm>
          <a:prstGeom prst="rect">
            <a:avLst/>
          </a:prstGeom>
          <a:noFill/>
          <a:ln/>
        </p:spPr>
        <p:txBody>
          <a:bodyPr wrap="square" lIns="0" tIns="0" rIns="0" bIns="0" rtlCol="0" anchor="t"/>
          <a:lstStyle/>
          <a:p>
            <a:pPr indent="0" marL="0">
              <a:buNone/>
            </a:pPr>
            <a:r>
              <a:rPr lang="en-US" sz="1400" dirty="0">
                <a:solidFill>
                  <a:schemeClr val="tx2"/>
                </a:solidFill>
              </a:rPr>
              <a:t>architectures comparées</a:t>
            </a:r>
            <a:endParaRPr lang="en-US" sz="1400" dirty="0"/>
          </a:p>
        </p:txBody>
      </p:sp>
      <p:sp>
        <p:nvSpPr>
          <p:cNvPr id="12" name="statistique donnée réelle d'entreprise"/>
          <p:cNvSpPr/>
          <p:nvPr/>
        </p:nvSpPr>
        <p:spPr>
          <a:xfrm>
            <a:off x="3337560" y="3657600"/>
            <a:ext cx="2606040" cy="2011680"/>
          </a:xfrm>
          <a:prstGeom prst="roundRect">
            <a:avLst>
              <a:gd name="adj" fmla="val 3636"/>
            </a:avLst>
          </a:prstGeom>
          <a:solidFill>
            <a:schemeClr val="bg2"/>
          </a:solidFill>
          <a:ln w="12700">
            <a:solidFill>
              <a:schemeClr val="bg2"/>
            </a:solidFill>
            <a:prstDash val="solid"/>
          </a:ln>
        </p:spPr>
      </p:sp>
      <p:sp>
        <p:nvSpPr>
          <p:cNvPr id="13" name="Text 11"/>
          <p:cNvSpPr txBox="1"/>
          <p:nvPr/>
        </p:nvSpPr>
        <p:spPr>
          <a:xfrm>
            <a:off x="3566160" y="3840480"/>
            <a:ext cx="2194560" cy="1005840"/>
          </a:xfrm>
          <a:prstGeom prst="rect">
            <a:avLst/>
          </a:prstGeom>
          <a:noFill/>
          <a:ln/>
        </p:spPr>
        <p:txBody>
          <a:bodyPr wrap="square" lIns="0" tIns="0" rIns="0" bIns="0" rtlCol="0" anchor="ctr"/>
          <a:lstStyle/>
          <a:p>
            <a:pPr indent="0" marL="0">
              <a:buNone/>
            </a:pPr>
            <a:r>
              <a:rPr lang="en-US" sz="5400" b="1" dirty="0">
                <a:solidFill>
                  <a:schemeClr val="accent2"/>
                </a:solidFill>
                <a:latin typeface="Cambria" pitchFamily="34" charset="0"/>
                <a:ea typeface="Cambria" pitchFamily="34" charset="-122"/>
                <a:cs typeface="Cambria" pitchFamily="34" charset="-120"/>
              </a:rPr>
              <a:t>0</a:t>
            </a:r>
            <a:endParaRPr lang="en-US" sz="5400" dirty="0"/>
          </a:p>
        </p:txBody>
      </p:sp>
      <p:sp>
        <p:nvSpPr>
          <p:cNvPr id="14" name="Text 12"/>
          <p:cNvSpPr txBox="1"/>
          <p:nvPr/>
        </p:nvSpPr>
        <p:spPr>
          <a:xfrm>
            <a:off x="3566160" y="4892040"/>
            <a:ext cx="2194560" cy="640080"/>
          </a:xfrm>
          <a:prstGeom prst="rect">
            <a:avLst/>
          </a:prstGeom>
          <a:noFill/>
          <a:ln/>
        </p:spPr>
        <p:txBody>
          <a:bodyPr wrap="square" lIns="0" tIns="0" rIns="0" bIns="0" rtlCol="0" anchor="t"/>
          <a:lstStyle/>
          <a:p>
            <a:pPr indent="0" marL="0">
              <a:buNone/>
            </a:pPr>
            <a:r>
              <a:rPr lang="en-US" sz="1400" dirty="0">
                <a:solidFill>
                  <a:schemeClr val="tx2"/>
                </a:solidFill>
              </a:rPr>
              <a:t>donnée réelle d'entreprise</a:t>
            </a:r>
            <a:endParaRPr lang="en-US" sz="1400" dirty="0"/>
          </a:p>
        </p:txBody>
      </p:sp>
      <p:sp>
        <p:nvSpPr>
          <p:cNvPr id="15" name="Text 13"/>
          <p:cNvSpPr txBox="1"/>
          <p:nvPr/>
        </p:nvSpPr>
        <p:spPr>
          <a:xfrm>
            <a:off x="6492240" y="1417320"/>
            <a:ext cx="5120640" cy="457200"/>
          </a:xfrm>
          <a:prstGeom prst="rect">
            <a:avLst/>
          </a:prstGeom>
          <a:noFill/>
          <a:ln/>
        </p:spPr>
        <p:txBody>
          <a:bodyPr wrap="square" lIns="0" tIns="0" rIns="0" bIns="0" rtlCol="0" anchor="t"/>
          <a:lstStyle/>
          <a:p>
            <a:pPr indent="0" marL="0">
              <a:buNone/>
            </a:pPr>
            <a:r>
              <a:rPr lang="en-US" sz="2000" b="1" dirty="0">
                <a:solidFill>
                  <a:schemeClr val="tx1"/>
                </a:solidFill>
              </a:rPr>
              <a:t>Des pièges intégrés volontairement</a:t>
            </a:r>
            <a:endParaRPr lang="en-US" sz="2000" dirty="0"/>
          </a:p>
        </p:txBody>
      </p:sp>
      <p:sp>
        <p:nvSpPr>
          <p:cNvPr id="16" name="Versions successives d'une même procédure cercle"/>
          <p:cNvSpPr/>
          <p:nvPr/>
        </p:nvSpPr>
        <p:spPr>
          <a:xfrm>
            <a:off x="6492240" y="2011680"/>
            <a:ext cx="457200" cy="457200"/>
          </a:xfrm>
          <a:prstGeom prst="ellipse">
            <a:avLst/>
          </a:prstGeom>
          <a:solidFill>
            <a:schemeClr val="accent2"/>
          </a:solidFill>
          <a:ln w="12700">
            <a:solidFill>
              <a:schemeClr val="accent2"/>
            </a:solidFill>
            <a:prstDash val="solid"/>
          </a:ln>
        </p:spPr>
      </p:sp>
      <p:pic>
        <p:nvPicPr>
          <p:cNvPr id="17" name="Versions successives d'une même procédure icône" descr="Versions successives d'une même procédure">    </p:cNvPr>
          <p:cNvPicPr>
            <a:picLocks noChangeAspect="1"/>
          </p:cNvPicPr>
          <p:nvPr/>
        </p:nvPicPr>
        <p:blipFill>
          <a:blip r:embed="rId1"/>
          <a:stretch>
            <a:fillRect/>
          </a:stretch>
        </p:blipFill>
        <p:spPr>
          <a:xfrm>
            <a:off x="6606540" y="2125980"/>
            <a:ext cx="228600" cy="228600"/>
          </a:xfrm>
          <a:prstGeom prst="rect">
            <a:avLst/>
          </a:prstGeom>
        </p:spPr>
      </p:pic>
      <p:sp>
        <p:nvSpPr>
          <p:cNvPr id="18" name="Text 15"/>
          <p:cNvSpPr txBox="1"/>
          <p:nvPr/>
        </p:nvSpPr>
        <p:spPr>
          <a:xfrm>
            <a:off x="7132320" y="2011680"/>
            <a:ext cx="4480560" cy="457200"/>
          </a:xfrm>
          <a:prstGeom prst="rect">
            <a:avLst/>
          </a:prstGeom>
          <a:noFill/>
          <a:ln/>
        </p:spPr>
        <p:txBody>
          <a:bodyPr wrap="square" lIns="0" tIns="0" rIns="0" bIns="0" rtlCol="0" anchor="ctr"/>
          <a:lstStyle/>
          <a:p>
            <a:pPr indent="0" marL="0">
              <a:buNone/>
            </a:pPr>
            <a:r>
              <a:rPr lang="en-US" sz="1500" dirty="0">
                <a:solidFill>
                  <a:schemeClr val="tx1"/>
                </a:solidFill>
              </a:rPr>
              <a:t>Versions successives d'une même procédure</a:t>
            </a:r>
            <a:endParaRPr lang="en-US" sz="1500" dirty="0"/>
          </a:p>
        </p:txBody>
      </p:sp>
      <p:sp>
        <p:nvSpPr>
          <p:cNvPr id="19" name="Valeurs contradictoires : 12 ou 24 mois, 33 ou 40 % cercle"/>
          <p:cNvSpPr/>
          <p:nvPr/>
        </p:nvSpPr>
        <p:spPr>
          <a:xfrm>
            <a:off x="6492240" y="2670048"/>
            <a:ext cx="457200" cy="457200"/>
          </a:xfrm>
          <a:prstGeom prst="ellipse">
            <a:avLst/>
          </a:prstGeom>
          <a:solidFill>
            <a:schemeClr val="accent2"/>
          </a:solidFill>
          <a:ln w="12700">
            <a:solidFill>
              <a:schemeClr val="accent2"/>
            </a:solidFill>
            <a:prstDash val="solid"/>
          </a:ln>
        </p:spPr>
      </p:sp>
      <p:pic>
        <p:nvPicPr>
          <p:cNvPr id="20" name="Valeurs contradictoires : 12 ou 24 mois, 33 ou 40 % icône" descr="Valeurs contradictoires : 12 ou 24 mois, 33 ou 40 %">    </p:cNvPr>
          <p:cNvPicPr>
            <a:picLocks noChangeAspect="1"/>
          </p:cNvPicPr>
          <p:nvPr/>
        </p:nvPicPr>
        <p:blipFill>
          <a:blip r:embed="rId2"/>
          <a:stretch>
            <a:fillRect/>
          </a:stretch>
        </p:blipFill>
        <p:spPr>
          <a:xfrm>
            <a:off x="6606540" y="2784348"/>
            <a:ext cx="228600" cy="228600"/>
          </a:xfrm>
          <a:prstGeom prst="rect">
            <a:avLst/>
          </a:prstGeom>
        </p:spPr>
      </p:pic>
      <p:sp>
        <p:nvSpPr>
          <p:cNvPr id="21" name="Text 17"/>
          <p:cNvSpPr txBox="1"/>
          <p:nvPr/>
        </p:nvSpPr>
        <p:spPr>
          <a:xfrm>
            <a:off x="7132320" y="2670048"/>
            <a:ext cx="4480560" cy="457200"/>
          </a:xfrm>
          <a:prstGeom prst="rect">
            <a:avLst/>
          </a:prstGeom>
          <a:noFill/>
          <a:ln/>
        </p:spPr>
        <p:txBody>
          <a:bodyPr wrap="square" lIns="0" tIns="0" rIns="0" bIns="0" rtlCol="0" anchor="ctr"/>
          <a:lstStyle/>
          <a:p>
            <a:pPr indent="0" marL="0">
              <a:buNone/>
            </a:pPr>
            <a:r>
              <a:rPr lang="en-US" sz="1500" dirty="0">
                <a:solidFill>
                  <a:schemeClr val="tx1"/>
                </a:solidFill>
              </a:rPr>
              <a:t>Valeurs contradictoires : 12 ou 24 mois, 33 ou 40 %</a:t>
            </a:r>
            <a:endParaRPr lang="en-US" sz="1500" dirty="0"/>
          </a:p>
        </p:txBody>
      </p:sp>
      <p:sp>
        <p:nvSpPr>
          <p:cNvPr id="22" name="Doublon exact et copie de travail cercle"/>
          <p:cNvSpPr/>
          <p:nvPr/>
        </p:nvSpPr>
        <p:spPr>
          <a:xfrm>
            <a:off x="6492240" y="3328416"/>
            <a:ext cx="457200" cy="457200"/>
          </a:xfrm>
          <a:prstGeom prst="ellipse">
            <a:avLst/>
          </a:prstGeom>
          <a:solidFill>
            <a:schemeClr val="accent2"/>
          </a:solidFill>
          <a:ln w="12700">
            <a:solidFill>
              <a:schemeClr val="accent2"/>
            </a:solidFill>
            <a:prstDash val="solid"/>
          </a:ln>
        </p:spPr>
      </p:sp>
      <p:pic>
        <p:nvPicPr>
          <p:cNvPr id="23" name="Doublon exact et copie de travail icône" descr="Doublon exact et copie de travail">    </p:cNvPr>
          <p:cNvPicPr>
            <a:picLocks noChangeAspect="1"/>
          </p:cNvPicPr>
          <p:nvPr/>
        </p:nvPicPr>
        <p:blipFill>
          <a:blip r:embed="rId3"/>
          <a:stretch>
            <a:fillRect/>
          </a:stretch>
        </p:blipFill>
        <p:spPr>
          <a:xfrm>
            <a:off x="6606540" y="3442716"/>
            <a:ext cx="228600" cy="228600"/>
          </a:xfrm>
          <a:prstGeom prst="rect">
            <a:avLst/>
          </a:prstGeom>
        </p:spPr>
      </p:pic>
      <p:sp>
        <p:nvSpPr>
          <p:cNvPr id="24" name="Text 19"/>
          <p:cNvSpPr txBox="1"/>
          <p:nvPr/>
        </p:nvSpPr>
        <p:spPr>
          <a:xfrm>
            <a:off x="7132320" y="3328416"/>
            <a:ext cx="4480560" cy="457200"/>
          </a:xfrm>
          <a:prstGeom prst="rect">
            <a:avLst/>
          </a:prstGeom>
          <a:noFill/>
          <a:ln/>
        </p:spPr>
        <p:txBody>
          <a:bodyPr wrap="square" lIns="0" tIns="0" rIns="0" bIns="0" rtlCol="0" anchor="ctr"/>
          <a:lstStyle/>
          <a:p>
            <a:pPr indent="0" marL="0">
              <a:buNone/>
            </a:pPr>
            <a:r>
              <a:rPr lang="en-US" sz="1500" dirty="0">
                <a:solidFill>
                  <a:schemeClr val="tx1"/>
                </a:solidFill>
              </a:rPr>
              <a:t>Doublon exact et copie de travail</a:t>
            </a:r>
            <a:endParaRPr lang="en-US" sz="1500" dirty="0"/>
          </a:p>
        </p:txBody>
      </p:sp>
      <p:sp>
        <p:nvSpPr>
          <p:cNvPr id="25" name="Note de service scannée, lue par OCR cercle"/>
          <p:cNvSpPr/>
          <p:nvPr/>
        </p:nvSpPr>
        <p:spPr>
          <a:xfrm>
            <a:off x="6492240" y="3986784"/>
            <a:ext cx="457200" cy="457200"/>
          </a:xfrm>
          <a:prstGeom prst="ellipse">
            <a:avLst/>
          </a:prstGeom>
          <a:solidFill>
            <a:schemeClr val="accent2"/>
          </a:solidFill>
          <a:ln w="12700">
            <a:solidFill>
              <a:schemeClr val="accent2"/>
            </a:solidFill>
            <a:prstDash val="solid"/>
          </a:ln>
        </p:spPr>
      </p:sp>
      <p:pic>
        <p:nvPicPr>
          <p:cNvPr id="26" name="Note de service scannée, lue par OCR icône" descr="Note de service scannée, lue par OCR">    </p:cNvPr>
          <p:cNvPicPr>
            <a:picLocks noChangeAspect="1"/>
          </p:cNvPicPr>
          <p:nvPr/>
        </p:nvPicPr>
        <p:blipFill>
          <a:blip r:embed="rId4"/>
          <a:stretch>
            <a:fillRect/>
          </a:stretch>
        </p:blipFill>
        <p:spPr>
          <a:xfrm>
            <a:off x="6606540" y="4101084"/>
            <a:ext cx="228600" cy="228600"/>
          </a:xfrm>
          <a:prstGeom prst="rect">
            <a:avLst/>
          </a:prstGeom>
        </p:spPr>
      </p:pic>
      <p:sp>
        <p:nvSpPr>
          <p:cNvPr id="27" name="Text 21"/>
          <p:cNvSpPr txBox="1"/>
          <p:nvPr/>
        </p:nvSpPr>
        <p:spPr>
          <a:xfrm>
            <a:off x="7132320" y="3986784"/>
            <a:ext cx="4480560" cy="457200"/>
          </a:xfrm>
          <a:prstGeom prst="rect">
            <a:avLst/>
          </a:prstGeom>
          <a:noFill/>
          <a:ln/>
        </p:spPr>
        <p:txBody>
          <a:bodyPr wrap="square" lIns="0" tIns="0" rIns="0" bIns="0" rtlCol="0" anchor="ctr"/>
          <a:lstStyle/>
          <a:p>
            <a:pPr indent="0" marL="0">
              <a:buNone/>
            </a:pPr>
            <a:r>
              <a:rPr lang="en-US" sz="1500" dirty="0">
                <a:solidFill>
                  <a:schemeClr val="tx1"/>
                </a:solidFill>
              </a:rPr>
              <a:t>Note de service scannée, lue par OCR</a:t>
            </a:r>
            <a:endParaRPr lang="en-US" sz="1500" dirty="0"/>
          </a:p>
        </p:txBody>
      </p:sp>
      <p:sp>
        <p:nvSpPr>
          <p:cNvPr id="28" name="Cinq documents à diffusion restreinte cercle"/>
          <p:cNvSpPr/>
          <p:nvPr/>
        </p:nvSpPr>
        <p:spPr>
          <a:xfrm>
            <a:off x="6492240" y="4645152"/>
            <a:ext cx="457200" cy="457200"/>
          </a:xfrm>
          <a:prstGeom prst="ellipse">
            <a:avLst/>
          </a:prstGeom>
          <a:solidFill>
            <a:schemeClr val="accent2"/>
          </a:solidFill>
          <a:ln w="12700">
            <a:solidFill>
              <a:schemeClr val="accent2"/>
            </a:solidFill>
            <a:prstDash val="solid"/>
          </a:ln>
        </p:spPr>
      </p:sp>
      <p:pic>
        <p:nvPicPr>
          <p:cNvPr id="29" name="Cinq documents à diffusion restreinte icône" descr="Cinq documents à diffusion restreinte">    </p:cNvPr>
          <p:cNvPicPr>
            <a:picLocks noChangeAspect="1"/>
          </p:cNvPicPr>
          <p:nvPr/>
        </p:nvPicPr>
        <p:blipFill>
          <a:blip r:embed="rId5"/>
          <a:stretch>
            <a:fillRect/>
          </a:stretch>
        </p:blipFill>
        <p:spPr>
          <a:xfrm>
            <a:off x="6606540" y="4759452"/>
            <a:ext cx="228600" cy="228600"/>
          </a:xfrm>
          <a:prstGeom prst="rect">
            <a:avLst/>
          </a:prstGeom>
        </p:spPr>
      </p:pic>
      <p:sp>
        <p:nvSpPr>
          <p:cNvPr id="30" name="Text 23"/>
          <p:cNvSpPr txBox="1"/>
          <p:nvPr/>
        </p:nvSpPr>
        <p:spPr>
          <a:xfrm>
            <a:off x="7132320" y="4645152"/>
            <a:ext cx="4480560" cy="457200"/>
          </a:xfrm>
          <a:prstGeom prst="rect">
            <a:avLst/>
          </a:prstGeom>
          <a:noFill/>
          <a:ln/>
        </p:spPr>
        <p:txBody>
          <a:bodyPr wrap="square" lIns="0" tIns="0" rIns="0" bIns="0" rtlCol="0" anchor="ctr"/>
          <a:lstStyle/>
          <a:p>
            <a:pPr indent="0" marL="0">
              <a:buNone/>
            </a:pPr>
            <a:r>
              <a:rPr lang="en-US" sz="1500" dirty="0">
                <a:solidFill>
                  <a:schemeClr val="tx1"/>
                </a:solidFill>
              </a:rPr>
              <a:t>Cinq documents à diffusion restreinte</a:t>
            </a:r>
            <a:endParaRPr lang="en-US" sz="1500" dirty="0"/>
          </a:p>
        </p:txBody>
      </p:sp>
      <p:sp>
        <p:nvSpPr>
          <p:cNvPr id="31" name="Mémo contenant une injection de prompt cercle"/>
          <p:cNvSpPr/>
          <p:nvPr/>
        </p:nvSpPr>
        <p:spPr>
          <a:xfrm>
            <a:off x="6492240" y="5303520"/>
            <a:ext cx="457200" cy="457200"/>
          </a:xfrm>
          <a:prstGeom prst="ellipse">
            <a:avLst/>
          </a:prstGeom>
          <a:solidFill>
            <a:schemeClr val="accent6"/>
          </a:solidFill>
          <a:ln w="12700">
            <a:solidFill>
              <a:schemeClr val="accent6"/>
            </a:solidFill>
            <a:prstDash val="solid"/>
          </a:ln>
        </p:spPr>
      </p:sp>
      <p:pic>
        <p:nvPicPr>
          <p:cNvPr id="32" name="Mémo contenant une injection de prompt icône" descr="Mémo contenant une injection de prompt">    </p:cNvPr>
          <p:cNvPicPr>
            <a:picLocks noChangeAspect="1"/>
          </p:cNvPicPr>
          <p:nvPr/>
        </p:nvPicPr>
        <p:blipFill>
          <a:blip r:embed="rId6"/>
          <a:stretch>
            <a:fillRect/>
          </a:stretch>
        </p:blipFill>
        <p:spPr>
          <a:xfrm>
            <a:off x="6606540" y="5417820"/>
            <a:ext cx="228600" cy="228600"/>
          </a:xfrm>
          <a:prstGeom prst="rect">
            <a:avLst/>
          </a:prstGeom>
        </p:spPr>
      </p:pic>
      <p:sp>
        <p:nvSpPr>
          <p:cNvPr id="33" name="Text 25"/>
          <p:cNvSpPr txBox="1"/>
          <p:nvPr/>
        </p:nvSpPr>
        <p:spPr>
          <a:xfrm>
            <a:off x="7132320" y="5303520"/>
            <a:ext cx="4480560" cy="457200"/>
          </a:xfrm>
          <a:prstGeom prst="rect">
            <a:avLst/>
          </a:prstGeom>
          <a:noFill/>
          <a:ln/>
        </p:spPr>
        <p:txBody>
          <a:bodyPr wrap="square" lIns="0" tIns="0" rIns="0" bIns="0" rtlCol="0" anchor="ctr"/>
          <a:lstStyle/>
          <a:p>
            <a:pPr indent="0" marL="0">
              <a:buNone/>
            </a:pPr>
            <a:r>
              <a:rPr lang="en-US" sz="1500" dirty="0">
                <a:solidFill>
                  <a:schemeClr val="tx1"/>
                </a:solidFill>
              </a:rPr>
              <a:t>Mémo contenant une injection de prompt</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Architecture : six couches, un LLM optionnel</a:t>
            </a:r>
            <a:endParaRPr lang="en-US" sz="3000" dirty="0"/>
          </a:p>
        </p:txBody>
      </p:sp>
      <p:sp>
        <p:nvSpPr>
          <p:cNvPr id="3" name="schéma d'architecture cadre"/>
          <p:cNvSpPr/>
          <p:nvPr/>
        </p:nvSpPr>
        <p:spPr>
          <a:xfrm>
            <a:off x="512064" y="1289304"/>
            <a:ext cx="7022592" cy="4675430"/>
          </a:xfrm>
          <a:prstGeom prst="rect">
            <a:avLst/>
          </a:prstGeom>
          <a:solidFill>
            <a:schemeClr val="bg1"/>
          </a:solidFill>
          <a:ln w="9525">
            <a:solidFill>
              <a:schemeClr val="accent3"/>
            </a:solidFill>
            <a:prstDash val="solid"/>
          </a:ln>
          <a:effectLst>
            <a:outerShdw sx="100000" sy="100000" kx="0" ky="0" algn="bl" rotWithShape="0" blurRad="76200" dist="25400" dir="5400000">
              <a:srgbClr val="1D2B3A">
                <a:alpha val="18000"/>
              </a:srgbClr>
            </a:outerShdw>
          </a:effectLst>
        </p:spPr>
      </p:sp>
      <p:pic>
        <p:nvPicPr>
          <p:cNvPr id="4" name="schéma d'architecture" descr="schéma d'architecture">    </p:cNvPr>
          <p:cNvPicPr>
            <a:picLocks noChangeAspect="1"/>
          </p:cNvPicPr>
          <p:nvPr/>
        </p:nvPicPr>
        <p:blipFill>
          <a:blip r:embed="rId1"/>
          <a:stretch>
            <a:fillRect/>
          </a:stretch>
        </p:blipFill>
        <p:spPr>
          <a:xfrm>
            <a:off x="548640" y="1325880"/>
            <a:ext cx="6949440" cy="4602278"/>
          </a:xfrm>
          <a:prstGeom prst="rect">
            <a:avLst/>
          </a:prstGeom>
        </p:spPr>
      </p:pic>
      <p:sp>
        <p:nvSpPr>
          <p:cNvPr id="5" name="LLM optionnel cercle"/>
          <p:cNvSpPr/>
          <p:nvPr/>
        </p:nvSpPr>
        <p:spPr>
          <a:xfrm>
            <a:off x="7909560" y="1417320"/>
            <a:ext cx="566928" cy="566928"/>
          </a:xfrm>
          <a:prstGeom prst="ellipse">
            <a:avLst/>
          </a:prstGeom>
          <a:solidFill>
            <a:schemeClr val="accent1"/>
          </a:solidFill>
          <a:ln w="12700">
            <a:solidFill>
              <a:schemeClr val="accent1"/>
            </a:solidFill>
            <a:prstDash val="solid"/>
          </a:ln>
        </p:spPr>
      </p:sp>
      <p:pic>
        <p:nvPicPr>
          <p:cNvPr id="6" name="LLM optionnel icône" descr="LLM optionnel">    </p:cNvPr>
          <p:cNvPicPr>
            <a:picLocks noChangeAspect="1"/>
          </p:cNvPicPr>
          <p:nvPr/>
        </p:nvPicPr>
        <p:blipFill>
          <a:blip r:embed="rId2"/>
          <a:stretch>
            <a:fillRect/>
          </a:stretch>
        </p:blipFill>
        <p:spPr>
          <a:xfrm>
            <a:off x="8051292" y="1559052"/>
            <a:ext cx="283464" cy="283464"/>
          </a:xfrm>
          <a:prstGeom prst="rect">
            <a:avLst/>
          </a:prstGeom>
        </p:spPr>
      </p:pic>
      <p:sp>
        <p:nvSpPr>
          <p:cNvPr id="7" name="Text 3"/>
          <p:cNvSpPr txBox="1"/>
          <p:nvPr/>
        </p:nvSpPr>
        <p:spPr>
          <a:xfrm>
            <a:off x="8641080" y="1417320"/>
            <a:ext cx="3017520" cy="411480"/>
          </a:xfrm>
          <a:prstGeom prst="rect">
            <a:avLst/>
          </a:prstGeom>
          <a:noFill/>
          <a:ln/>
        </p:spPr>
        <p:txBody>
          <a:bodyPr wrap="square" lIns="0" tIns="0" rIns="0" bIns="0" rtlCol="0" anchor="t"/>
          <a:lstStyle/>
          <a:p>
            <a:pPr indent="0" marL="0">
              <a:buNone/>
            </a:pPr>
            <a:r>
              <a:rPr lang="en-US" sz="1800" b="1" dirty="0">
                <a:solidFill>
                  <a:schemeClr val="tx1"/>
                </a:solidFill>
              </a:rPr>
              <a:t>LLM optionnel</a:t>
            </a:r>
            <a:endParaRPr lang="en-US" sz="1800" dirty="0"/>
          </a:p>
        </p:txBody>
      </p:sp>
      <p:sp>
        <p:nvSpPr>
          <p:cNvPr id="8" name="Text 4"/>
          <p:cNvSpPr txBox="1"/>
          <p:nvPr/>
        </p:nvSpPr>
        <p:spPr>
          <a:xfrm>
            <a:off x="8641080" y="1828800"/>
            <a:ext cx="3017520" cy="960120"/>
          </a:xfrm>
          <a:prstGeom prst="rect">
            <a:avLst/>
          </a:prstGeom>
          <a:noFill/>
          <a:ln/>
        </p:spPr>
        <p:txBody>
          <a:bodyPr wrap="square" lIns="0" tIns="0" rIns="0" bIns="0" rtlCol="0" anchor="t"/>
          <a:lstStyle/>
          <a:p>
            <a:pPr indent="0" marL="0">
              <a:buNone/>
            </a:pPr>
            <a:r>
              <a:rPr lang="en-US" sz="1400" dirty="0">
                <a:solidFill>
                  <a:schemeClr val="tx2"/>
                </a:solidFill>
              </a:rPr>
              <a:t>Sans clé, tout fonctionne hors-ligne : règles d'extraction et générateur extractif</a:t>
            </a:r>
            <a:endParaRPr lang="en-US" sz="1400" dirty="0"/>
          </a:p>
        </p:txBody>
      </p:sp>
      <p:sp>
        <p:nvSpPr>
          <p:cNvPr id="9" name="Une seule base cercle"/>
          <p:cNvSpPr/>
          <p:nvPr/>
        </p:nvSpPr>
        <p:spPr>
          <a:xfrm>
            <a:off x="7909560" y="2926080"/>
            <a:ext cx="566928" cy="566928"/>
          </a:xfrm>
          <a:prstGeom prst="ellipse">
            <a:avLst/>
          </a:prstGeom>
          <a:solidFill>
            <a:schemeClr val="accent2"/>
          </a:solidFill>
          <a:ln w="12700">
            <a:solidFill>
              <a:schemeClr val="accent2"/>
            </a:solidFill>
            <a:prstDash val="solid"/>
          </a:ln>
        </p:spPr>
      </p:sp>
      <p:pic>
        <p:nvPicPr>
          <p:cNvPr id="10" name="Une seule base icône" descr="Une seule base">    </p:cNvPr>
          <p:cNvPicPr>
            <a:picLocks noChangeAspect="1"/>
          </p:cNvPicPr>
          <p:nvPr/>
        </p:nvPicPr>
        <p:blipFill>
          <a:blip r:embed="rId3"/>
          <a:stretch>
            <a:fillRect/>
          </a:stretch>
        </p:blipFill>
        <p:spPr>
          <a:xfrm>
            <a:off x="8051292" y="3067812"/>
            <a:ext cx="283464" cy="283464"/>
          </a:xfrm>
          <a:prstGeom prst="rect">
            <a:avLst/>
          </a:prstGeom>
        </p:spPr>
      </p:pic>
      <p:sp>
        <p:nvSpPr>
          <p:cNvPr id="11" name="Text 6"/>
          <p:cNvSpPr txBox="1"/>
          <p:nvPr/>
        </p:nvSpPr>
        <p:spPr>
          <a:xfrm>
            <a:off x="8641080" y="2926080"/>
            <a:ext cx="3017520" cy="411480"/>
          </a:xfrm>
          <a:prstGeom prst="rect">
            <a:avLst/>
          </a:prstGeom>
          <a:noFill/>
          <a:ln/>
        </p:spPr>
        <p:txBody>
          <a:bodyPr wrap="square" lIns="0" tIns="0" rIns="0" bIns="0" rtlCol="0" anchor="t"/>
          <a:lstStyle/>
          <a:p>
            <a:pPr indent="0" marL="0">
              <a:buNone/>
            </a:pPr>
            <a:r>
              <a:rPr lang="en-US" sz="1800" b="1" dirty="0">
                <a:solidFill>
                  <a:schemeClr val="tx1"/>
                </a:solidFill>
              </a:rPr>
              <a:t>Une seule base</a:t>
            </a:r>
            <a:endParaRPr lang="en-US" sz="1800" dirty="0"/>
          </a:p>
        </p:txBody>
      </p:sp>
      <p:sp>
        <p:nvSpPr>
          <p:cNvPr id="12" name="Text 7"/>
          <p:cNvSpPr txBox="1"/>
          <p:nvPr/>
        </p:nvSpPr>
        <p:spPr>
          <a:xfrm>
            <a:off x="8641080" y="3337560"/>
            <a:ext cx="3017520" cy="960120"/>
          </a:xfrm>
          <a:prstGeom prst="rect">
            <a:avLst/>
          </a:prstGeom>
          <a:noFill/>
          <a:ln/>
        </p:spPr>
        <p:txBody>
          <a:bodyPr wrap="square" lIns="0" tIns="0" rIns="0" bIns="0" rtlCol="0" anchor="t"/>
          <a:lstStyle/>
          <a:p>
            <a:pPr indent="0" marL="0">
              <a:buNone/>
            </a:pPr>
            <a:r>
              <a:rPr lang="en-US" sz="1400" dirty="0">
                <a:solidFill>
                  <a:schemeClr val="tx2"/>
                </a:solidFill>
              </a:rPr>
              <a:t>Neo4j porte le graphe, l'index vectoriel et l'index plein texte</a:t>
            </a:r>
            <a:endParaRPr lang="en-US" sz="1400" dirty="0"/>
          </a:p>
        </p:txBody>
      </p:sp>
      <p:sp>
        <p:nvSpPr>
          <p:cNvPr id="13" name="Droits dès le départ cercle"/>
          <p:cNvSpPr/>
          <p:nvPr/>
        </p:nvSpPr>
        <p:spPr>
          <a:xfrm>
            <a:off x="7909560" y="4434840"/>
            <a:ext cx="566928" cy="566928"/>
          </a:xfrm>
          <a:prstGeom prst="ellipse">
            <a:avLst/>
          </a:prstGeom>
          <a:solidFill>
            <a:schemeClr val="accent2"/>
          </a:solidFill>
          <a:ln w="12700">
            <a:solidFill>
              <a:schemeClr val="accent2"/>
            </a:solidFill>
            <a:prstDash val="solid"/>
          </a:ln>
        </p:spPr>
      </p:sp>
      <p:pic>
        <p:nvPicPr>
          <p:cNvPr id="14" name="Droits dès le départ icône" descr="Droits dès le départ">    </p:cNvPr>
          <p:cNvPicPr>
            <a:picLocks noChangeAspect="1"/>
          </p:cNvPicPr>
          <p:nvPr/>
        </p:nvPicPr>
        <p:blipFill>
          <a:blip r:embed="rId4"/>
          <a:stretch>
            <a:fillRect/>
          </a:stretch>
        </p:blipFill>
        <p:spPr>
          <a:xfrm>
            <a:off x="8051292" y="4576572"/>
            <a:ext cx="283464" cy="283464"/>
          </a:xfrm>
          <a:prstGeom prst="rect">
            <a:avLst/>
          </a:prstGeom>
        </p:spPr>
      </p:pic>
      <p:sp>
        <p:nvSpPr>
          <p:cNvPr id="15" name="Text 9"/>
          <p:cNvSpPr txBox="1"/>
          <p:nvPr/>
        </p:nvSpPr>
        <p:spPr>
          <a:xfrm>
            <a:off x="8641080" y="4434840"/>
            <a:ext cx="3017520" cy="411480"/>
          </a:xfrm>
          <a:prstGeom prst="rect">
            <a:avLst/>
          </a:prstGeom>
          <a:noFill/>
          <a:ln/>
        </p:spPr>
        <p:txBody>
          <a:bodyPr wrap="square" lIns="0" tIns="0" rIns="0" bIns="0" rtlCol="0" anchor="t"/>
          <a:lstStyle/>
          <a:p>
            <a:pPr indent="0" marL="0">
              <a:buNone/>
            </a:pPr>
            <a:r>
              <a:rPr lang="en-US" sz="1800" b="1" dirty="0">
                <a:solidFill>
                  <a:schemeClr val="tx1"/>
                </a:solidFill>
              </a:rPr>
              <a:t>Droits dès le départ</a:t>
            </a:r>
            <a:endParaRPr lang="en-US" sz="1800" dirty="0"/>
          </a:p>
        </p:txBody>
      </p:sp>
      <p:sp>
        <p:nvSpPr>
          <p:cNvPr id="16" name="Text 10"/>
          <p:cNvSpPr txBox="1"/>
          <p:nvPr/>
        </p:nvSpPr>
        <p:spPr>
          <a:xfrm>
            <a:off x="8641080" y="4846320"/>
            <a:ext cx="3017520" cy="960120"/>
          </a:xfrm>
          <a:prstGeom prst="rect">
            <a:avLst/>
          </a:prstGeom>
          <a:noFill/>
          <a:ln/>
        </p:spPr>
        <p:txBody>
          <a:bodyPr wrap="square" lIns="0" tIns="0" rIns="0" bIns="0" rtlCol="0" anchor="t"/>
          <a:lstStyle/>
          <a:p>
            <a:pPr indent="0" marL="0">
              <a:buNone/>
            </a:pPr>
            <a:r>
              <a:rPr lang="en-US" sz="1400" dirty="0">
                <a:solidFill>
                  <a:schemeClr val="tx2"/>
                </a:solidFill>
              </a:rPr>
              <a:t>Documents autorisés calculés avant toute recherche</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Du document au graphe, avec la provenance de chaque fait</a:t>
            </a:r>
            <a:endParaRPr lang="en-US" sz="3000" dirty="0"/>
          </a:p>
        </p:txBody>
      </p:sp>
      <p:sp>
        <p:nvSpPr>
          <p:cNvPr id="3" name="pipeline d'ingestion cadre"/>
          <p:cNvSpPr/>
          <p:nvPr/>
        </p:nvSpPr>
        <p:spPr>
          <a:xfrm>
            <a:off x="512064" y="1289304"/>
            <a:ext cx="7662672" cy="3108960"/>
          </a:xfrm>
          <a:prstGeom prst="rect">
            <a:avLst/>
          </a:prstGeom>
          <a:solidFill>
            <a:schemeClr val="bg1"/>
          </a:solidFill>
          <a:ln w="9525">
            <a:solidFill>
              <a:schemeClr val="accent3"/>
            </a:solidFill>
            <a:prstDash val="solid"/>
          </a:ln>
          <a:effectLst>
            <a:outerShdw sx="100000" sy="100000" kx="0" ky="0" algn="bl" rotWithShape="0" blurRad="76200" dist="25400" dir="5400000">
              <a:srgbClr val="1D2B3A">
                <a:alpha val="18000"/>
              </a:srgbClr>
            </a:outerShdw>
          </a:effectLst>
        </p:spPr>
      </p:sp>
      <p:pic>
        <p:nvPicPr>
          <p:cNvPr id="4" name="pipeline d'ingestion" descr="pipeline d'ingestion">    </p:cNvPr>
          <p:cNvPicPr>
            <a:picLocks noChangeAspect="1"/>
          </p:cNvPicPr>
          <p:nvPr/>
        </p:nvPicPr>
        <p:blipFill>
          <a:blip r:embed="rId1"/>
          <a:stretch>
            <a:fillRect/>
          </a:stretch>
        </p:blipFill>
        <p:spPr>
          <a:xfrm>
            <a:off x="548640" y="1325880"/>
            <a:ext cx="7589520" cy="3035808"/>
          </a:xfrm>
          <a:prstGeom prst="rect">
            <a:avLst/>
          </a:prstGeom>
        </p:spPr>
      </p:pic>
      <p:sp>
        <p:nvSpPr>
          <p:cNvPr id="5" name="exemple de provenance"/>
          <p:cNvSpPr/>
          <p:nvPr/>
        </p:nvSpPr>
        <p:spPr>
          <a:xfrm>
            <a:off x="548640" y="4617720"/>
            <a:ext cx="7589520" cy="1325880"/>
          </a:xfrm>
          <a:prstGeom prst="roundRect">
            <a:avLst>
              <a:gd name="adj" fmla="val 5517"/>
            </a:avLst>
          </a:prstGeom>
          <a:solidFill>
            <a:schemeClr val="bg2"/>
          </a:solidFill>
          <a:ln w="12700">
            <a:solidFill>
              <a:schemeClr val="bg2"/>
            </a:solidFill>
            <a:prstDash val="solid"/>
          </a:ln>
        </p:spPr>
      </p:sp>
      <p:sp>
        <p:nvSpPr>
          <p:cNvPr id="6" name="Text 3"/>
          <p:cNvSpPr txBox="1"/>
          <p:nvPr/>
        </p:nvSpPr>
        <p:spPr>
          <a:xfrm>
            <a:off x="822960" y="4754880"/>
            <a:ext cx="7040880" cy="1097280"/>
          </a:xfrm>
          <a:prstGeom prst="rect">
            <a:avLst/>
          </a:prstGeom>
          <a:noFill/>
          <a:ln/>
        </p:spPr>
        <p:txBody>
          <a:bodyPr wrap="square" lIns="0" tIns="0" rIns="0" bIns="0" rtlCol="0" anchor="t"/>
          <a:lstStyle/>
          <a:p>
            <a:pPr indent="0" marL="0">
              <a:buNone/>
            </a:pPr>
            <a:r>
              <a:rPr lang="en-US" sz="1600" b="1" dirty="0">
                <a:solidFill>
                  <a:schemeClr val="tx1"/>
                </a:solidFill>
              </a:rPr>
              <a:t>AML Watch  →  dépend de  →  CoreNova</a:t>
            </a:r>
            <a:endParaRPr lang="en-US" sz="1500" dirty="0"/>
          </a:p>
          <a:p>
            <a:pPr indent="0" marL="0">
              <a:buNone/>
            </a:pPr>
            <a:r>
              <a:rPr lang="en-US" sz="1400" dirty="0">
                <a:solidFill>
                  <a:schemeClr val="tx2"/>
                </a:solidFill>
              </a:rPr>
              <a:t>un seul fait, trois documents, trois citations exactes, extracteur et confiance pour chaque preuve : retirer un document retire les faits qu'il était seul à justifier</a:t>
            </a:r>
            <a:endParaRPr lang="en-US" sz="1500" dirty="0"/>
          </a:p>
        </p:txBody>
      </p:sp>
      <p:sp>
        <p:nvSpPr>
          <p:cNvPr id="7" name="Text 4"/>
          <p:cNvSpPr txBox="1"/>
          <p:nvPr/>
        </p:nvSpPr>
        <p:spPr>
          <a:xfrm>
            <a:off x="8503920" y="1325880"/>
            <a:ext cx="1600200" cy="77724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31</a:t>
            </a:r>
            <a:endParaRPr lang="en-US" sz="2600" dirty="0"/>
          </a:p>
        </p:txBody>
      </p:sp>
      <p:sp>
        <p:nvSpPr>
          <p:cNvPr id="8" name="Text 5"/>
          <p:cNvSpPr txBox="1"/>
          <p:nvPr/>
        </p:nvSpPr>
        <p:spPr>
          <a:xfrm>
            <a:off x="10149840" y="1325880"/>
            <a:ext cx="1508760" cy="777240"/>
          </a:xfrm>
          <a:prstGeom prst="rect">
            <a:avLst/>
          </a:prstGeom>
          <a:noFill/>
          <a:ln/>
        </p:spPr>
        <p:txBody>
          <a:bodyPr wrap="square" lIns="0" tIns="0" rIns="0" bIns="0" rtlCol="0" anchor="ctr"/>
          <a:lstStyle/>
          <a:p>
            <a:pPr indent="0" marL="0">
              <a:buNone/>
            </a:pPr>
            <a:r>
              <a:rPr lang="en-US" sz="1300" dirty="0">
                <a:solidFill>
                  <a:schemeClr val="tx2"/>
                </a:solidFill>
              </a:rPr>
              <a:t>documents actifs</a:t>
            </a:r>
            <a:endParaRPr lang="en-US" sz="1300" dirty="0"/>
          </a:p>
        </p:txBody>
      </p:sp>
      <p:sp>
        <p:nvSpPr>
          <p:cNvPr id="9" name="Text 6"/>
          <p:cNvSpPr txBox="1"/>
          <p:nvPr/>
        </p:nvSpPr>
        <p:spPr>
          <a:xfrm>
            <a:off x="8503920" y="2258568"/>
            <a:ext cx="1600200" cy="77724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1 + 2</a:t>
            </a:r>
            <a:endParaRPr lang="en-US" sz="2600" dirty="0"/>
          </a:p>
        </p:txBody>
      </p:sp>
      <p:sp>
        <p:nvSpPr>
          <p:cNvPr id="10" name="Text 7"/>
          <p:cNvSpPr txBox="1"/>
          <p:nvPr/>
        </p:nvSpPr>
        <p:spPr>
          <a:xfrm>
            <a:off x="10149840" y="2258568"/>
            <a:ext cx="1508760" cy="777240"/>
          </a:xfrm>
          <a:prstGeom prst="rect">
            <a:avLst/>
          </a:prstGeom>
          <a:noFill/>
          <a:ln/>
        </p:spPr>
        <p:txBody>
          <a:bodyPr wrap="square" lIns="0" tIns="0" rIns="0" bIns="0" rtlCol="0" anchor="ctr"/>
          <a:lstStyle/>
          <a:p>
            <a:pPr indent="0" marL="0">
              <a:buNone/>
            </a:pPr>
            <a:r>
              <a:rPr lang="en-US" sz="1300" dirty="0">
                <a:solidFill>
                  <a:schemeClr val="tx2"/>
                </a:solidFill>
              </a:rPr>
              <a:t>version remplacée, doublons</a:t>
            </a:r>
            <a:endParaRPr lang="en-US" sz="1300" dirty="0"/>
          </a:p>
        </p:txBody>
      </p:sp>
      <p:sp>
        <p:nvSpPr>
          <p:cNvPr id="11" name="Text 8"/>
          <p:cNvSpPr txBox="1"/>
          <p:nvPr/>
        </p:nvSpPr>
        <p:spPr>
          <a:xfrm>
            <a:off x="8503920" y="3191256"/>
            <a:ext cx="1600200" cy="777240"/>
          </a:xfrm>
          <a:prstGeom prst="rect">
            <a:avLst/>
          </a:prstGeom>
          <a:noFill/>
          <a:ln/>
        </p:spPr>
        <p:txBody>
          <a:bodyPr wrap="square" lIns="0" tIns="0" rIns="0" bIns="0" rtlCol="0" anchor="ctr"/>
          <a:lstStyle/>
          <a:p>
            <a:pPr indent="0" marL="0">
              <a:buNone/>
            </a:pPr>
            <a:r>
              <a:rPr lang="en-US" sz="2600" b="1" dirty="0">
                <a:solidFill>
                  <a:schemeClr val="accent6"/>
                </a:solidFill>
                <a:latin typeface="Cambria" pitchFamily="34" charset="0"/>
                <a:ea typeface="Cambria" pitchFamily="34" charset="-122"/>
                <a:cs typeface="Cambria" pitchFamily="34" charset="-120"/>
              </a:rPr>
              <a:t>1</a:t>
            </a:r>
            <a:endParaRPr lang="en-US" sz="2600" dirty="0"/>
          </a:p>
        </p:txBody>
      </p:sp>
      <p:sp>
        <p:nvSpPr>
          <p:cNvPr id="12" name="Text 9"/>
          <p:cNvSpPr txBox="1"/>
          <p:nvPr/>
        </p:nvSpPr>
        <p:spPr>
          <a:xfrm>
            <a:off x="10149840" y="3191256"/>
            <a:ext cx="1508760" cy="777240"/>
          </a:xfrm>
          <a:prstGeom prst="rect">
            <a:avLst/>
          </a:prstGeom>
          <a:noFill/>
          <a:ln/>
        </p:spPr>
        <p:txBody>
          <a:bodyPr wrap="square" lIns="0" tIns="0" rIns="0" bIns="0" rtlCol="0" anchor="ctr"/>
          <a:lstStyle/>
          <a:p>
            <a:pPr indent="0" marL="0">
              <a:buNone/>
            </a:pPr>
            <a:r>
              <a:rPr lang="en-US" sz="1300" dirty="0">
                <a:solidFill>
                  <a:schemeClr val="tx2"/>
                </a:solidFill>
              </a:rPr>
              <a:t>quarantaine (injection)</a:t>
            </a:r>
            <a:endParaRPr lang="en-US" sz="1300" dirty="0"/>
          </a:p>
        </p:txBody>
      </p:sp>
      <p:sp>
        <p:nvSpPr>
          <p:cNvPr id="13" name="Text 10"/>
          <p:cNvSpPr txBox="1"/>
          <p:nvPr/>
        </p:nvSpPr>
        <p:spPr>
          <a:xfrm>
            <a:off x="8503920" y="4123944"/>
            <a:ext cx="1600200" cy="77724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18,45 s</a:t>
            </a:r>
            <a:endParaRPr lang="en-US" sz="2600" dirty="0"/>
          </a:p>
        </p:txBody>
      </p:sp>
      <p:sp>
        <p:nvSpPr>
          <p:cNvPr id="14" name="Text 11"/>
          <p:cNvSpPr txBox="1"/>
          <p:nvPr/>
        </p:nvSpPr>
        <p:spPr>
          <a:xfrm>
            <a:off x="10149840" y="4123944"/>
            <a:ext cx="1508760" cy="777240"/>
          </a:xfrm>
          <a:prstGeom prst="rect">
            <a:avLst/>
          </a:prstGeom>
          <a:noFill/>
          <a:ln/>
        </p:spPr>
        <p:txBody>
          <a:bodyPr wrap="square" lIns="0" tIns="0" rIns="0" bIns="0" rtlCol="0" anchor="ctr"/>
          <a:lstStyle/>
          <a:p>
            <a:pPr indent="0" marL="0">
              <a:buNone/>
            </a:pPr>
            <a:r>
              <a:rPr lang="en-US" sz="1300" dirty="0">
                <a:solidFill>
                  <a:schemeClr val="tx2"/>
                </a:solidFill>
              </a:rPr>
              <a:t>ingestion complète</a:t>
            </a:r>
            <a:endParaRPr lang="en-US" sz="1300" dirty="0"/>
          </a:p>
        </p:txBody>
      </p:sp>
      <p:sp>
        <p:nvSpPr>
          <p:cNvPr id="15" name="Text 12"/>
          <p:cNvSpPr txBox="1"/>
          <p:nvPr/>
        </p:nvSpPr>
        <p:spPr>
          <a:xfrm>
            <a:off x="8503920" y="5056632"/>
            <a:ext cx="1600200" cy="77724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0,38 s</a:t>
            </a:r>
            <a:endParaRPr lang="en-US" sz="2600" dirty="0"/>
          </a:p>
        </p:txBody>
      </p:sp>
      <p:sp>
        <p:nvSpPr>
          <p:cNvPr id="16" name="Text 13"/>
          <p:cNvSpPr txBox="1"/>
          <p:nvPr/>
        </p:nvSpPr>
        <p:spPr>
          <a:xfrm>
            <a:off x="10149840" y="5056632"/>
            <a:ext cx="1508760" cy="777240"/>
          </a:xfrm>
          <a:prstGeom prst="rect">
            <a:avLst/>
          </a:prstGeom>
          <a:noFill/>
          <a:ln/>
        </p:spPr>
        <p:txBody>
          <a:bodyPr wrap="square" lIns="0" tIns="0" rIns="0" bIns="0" rtlCol="0" anchor="ctr"/>
          <a:lstStyle/>
          <a:p>
            <a:pPr indent="0" marL="0">
              <a:buNone/>
            </a:pPr>
            <a:r>
              <a:rPr lang="en-US" sz="1300" dirty="0">
                <a:solidFill>
                  <a:schemeClr val="tx2"/>
                </a:solidFill>
              </a:rPr>
              <a:t>relance sans changement</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Trois sources de preuves, fusionnées et routées</a:t>
            </a:r>
            <a:endParaRPr lang="en-US" sz="3000" dirty="0"/>
          </a:p>
        </p:txBody>
      </p:sp>
      <p:sp>
        <p:nvSpPr>
          <p:cNvPr id="3" name="source BM25"/>
          <p:cNvSpPr/>
          <p:nvPr/>
        </p:nvSpPr>
        <p:spPr>
          <a:xfrm>
            <a:off x="548640" y="1417320"/>
            <a:ext cx="3931920" cy="1234440"/>
          </a:xfrm>
          <a:prstGeom prst="roundRect">
            <a:avLst>
              <a:gd name="adj" fmla="val 5926"/>
            </a:avLst>
          </a:prstGeom>
          <a:solidFill>
            <a:schemeClr val="bg2"/>
          </a:solidFill>
          <a:ln w="12700">
            <a:solidFill>
              <a:schemeClr val="bg2"/>
            </a:solidFill>
            <a:prstDash val="solid"/>
          </a:ln>
        </p:spPr>
      </p:sp>
      <p:sp>
        <p:nvSpPr>
          <p:cNvPr id="4" name="BM25 cercle"/>
          <p:cNvSpPr/>
          <p:nvPr/>
        </p:nvSpPr>
        <p:spPr>
          <a:xfrm>
            <a:off x="777240" y="1691640"/>
            <a:ext cx="685800" cy="685800"/>
          </a:xfrm>
          <a:prstGeom prst="ellipse">
            <a:avLst/>
          </a:prstGeom>
          <a:solidFill>
            <a:schemeClr val="accent2"/>
          </a:solidFill>
          <a:ln w="12700">
            <a:solidFill>
              <a:schemeClr val="accent2"/>
            </a:solidFill>
            <a:prstDash val="solid"/>
          </a:ln>
        </p:spPr>
      </p:sp>
      <p:pic>
        <p:nvPicPr>
          <p:cNvPr id="5" name="BM25 icône" descr="BM25">    </p:cNvPr>
          <p:cNvPicPr>
            <a:picLocks noChangeAspect="1"/>
          </p:cNvPicPr>
          <p:nvPr/>
        </p:nvPicPr>
        <p:blipFill>
          <a:blip r:embed="rId1"/>
          <a:stretch>
            <a:fillRect/>
          </a:stretch>
        </p:blipFill>
        <p:spPr>
          <a:xfrm>
            <a:off x="948690" y="1863090"/>
            <a:ext cx="342900" cy="342900"/>
          </a:xfrm>
          <a:prstGeom prst="rect">
            <a:avLst/>
          </a:prstGeom>
        </p:spPr>
      </p:pic>
      <p:sp>
        <p:nvSpPr>
          <p:cNvPr id="6" name="Text 3"/>
          <p:cNvSpPr txBox="1"/>
          <p:nvPr/>
        </p:nvSpPr>
        <p:spPr>
          <a:xfrm>
            <a:off x="1691640" y="1554480"/>
            <a:ext cx="2651760" cy="411480"/>
          </a:xfrm>
          <a:prstGeom prst="rect">
            <a:avLst/>
          </a:prstGeom>
          <a:noFill/>
          <a:ln/>
        </p:spPr>
        <p:txBody>
          <a:bodyPr wrap="square" lIns="0" tIns="0" rIns="0" bIns="0" rtlCol="0" anchor="t"/>
          <a:lstStyle/>
          <a:p>
            <a:pPr indent="0" marL="0">
              <a:buNone/>
            </a:pPr>
            <a:r>
              <a:rPr lang="en-US" sz="1800" b="1" dirty="0">
                <a:solidFill>
                  <a:schemeClr val="tx1"/>
                </a:solidFill>
              </a:rPr>
              <a:t>BM25</a:t>
            </a:r>
            <a:endParaRPr lang="en-US" sz="1800" dirty="0"/>
          </a:p>
        </p:txBody>
      </p:sp>
      <p:sp>
        <p:nvSpPr>
          <p:cNvPr id="7" name="Text 4"/>
          <p:cNvSpPr txBox="1"/>
          <p:nvPr/>
        </p:nvSpPr>
        <p:spPr>
          <a:xfrm>
            <a:off x="1691640" y="1965960"/>
            <a:ext cx="2651760" cy="594360"/>
          </a:xfrm>
          <a:prstGeom prst="rect">
            <a:avLst/>
          </a:prstGeom>
          <a:noFill/>
          <a:ln/>
        </p:spPr>
        <p:txBody>
          <a:bodyPr wrap="square" lIns="0" tIns="0" rIns="0" bIns="0" rtlCol="0" anchor="t"/>
          <a:lstStyle/>
          <a:p>
            <a:pPr indent="0" marL="0">
              <a:buNone/>
            </a:pPr>
            <a:r>
              <a:rPr lang="en-US" sz="1300" dirty="0">
                <a:solidFill>
                  <a:schemeClr val="tx2"/>
                </a:solidFill>
              </a:rPr>
              <a:t>mots exacts : sigles, références, valeurs</a:t>
            </a:r>
            <a:endParaRPr lang="en-US" sz="1300" dirty="0"/>
          </a:p>
        </p:txBody>
      </p:sp>
      <p:sp>
        <p:nvSpPr>
          <p:cNvPr id="8" name="source Vecteurs"/>
          <p:cNvSpPr/>
          <p:nvPr/>
        </p:nvSpPr>
        <p:spPr>
          <a:xfrm>
            <a:off x="548640" y="2880360"/>
            <a:ext cx="3931920" cy="1234440"/>
          </a:xfrm>
          <a:prstGeom prst="roundRect">
            <a:avLst>
              <a:gd name="adj" fmla="val 5926"/>
            </a:avLst>
          </a:prstGeom>
          <a:solidFill>
            <a:schemeClr val="bg2"/>
          </a:solidFill>
          <a:ln w="12700">
            <a:solidFill>
              <a:schemeClr val="bg2"/>
            </a:solidFill>
            <a:prstDash val="solid"/>
          </a:ln>
        </p:spPr>
      </p:sp>
      <p:sp>
        <p:nvSpPr>
          <p:cNvPr id="9" name="Vecteurs cercle"/>
          <p:cNvSpPr/>
          <p:nvPr/>
        </p:nvSpPr>
        <p:spPr>
          <a:xfrm>
            <a:off x="777240" y="3154680"/>
            <a:ext cx="685800" cy="685800"/>
          </a:xfrm>
          <a:prstGeom prst="ellipse">
            <a:avLst/>
          </a:prstGeom>
          <a:solidFill>
            <a:schemeClr val="accent2"/>
          </a:solidFill>
          <a:ln w="12700">
            <a:solidFill>
              <a:schemeClr val="accent2"/>
            </a:solidFill>
            <a:prstDash val="solid"/>
          </a:ln>
        </p:spPr>
      </p:sp>
      <p:pic>
        <p:nvPicPr>
          <p:cNvPr id="10" name="Vecteurs icône" descr="Vecteurs">    </p:cNvPr>
          <p:cNvPicPr>
            <a:picLocks noChangeAspect="1"/>
          </p:cNvPicPr>
          <p:nvPr/>
        </p:nvPicPr>
        <p:blipFill>
          <a:blip r:embed="rId2"/>
          <a:stretch>
            <a:fillRect/>
          </a:stretch>
        </p:blipFill>
        <p:spPr>
          <a:xfrm>
            <a:off x="948690" y="3326130"/>
            <a:ext cx="342900" cy="342900"/>
          </a:xfrm>
          <a:prstGeom prst="rect">
            <a:avLst/>
          </a:prstGeom>
        </p:spPr>
      </p:pic>
      <p:sp>
        <p:nvSpPr>
          <p:cNvPr id="11" name="Text 7"/>
          <p:cNvSpPr txBox="1"/>
          <p:nvPr/>
        </p:nvSpPr>
        <p:spPr>
          <a:xfrm>
            <a:off x="1691640" y="3017520"/>
            <a:ext cx="2651760" cy="411480"/>
          </a:xfrm>
          <a:prstGeom prst="rect">
            <a:avLst/>
          </a:prstGeom>
          <a:noFill/>
          <a:ln/>
        </p:spPr>
        <p:txBody>
          <a:bodyPr wrap="square" lIns="0" tIns="0" rIns="0" bIns="0" rtlCol="0" anchor="t"/>
          <a:lstStyle/>
          <a:p>
            <a:pPr indent="0" marL="0">
              <a:buNone/>
            </a:pPr>
            <a:r>
              <a:rPr lang="en-US" sz="1800" b="1" dirty="0">
                <a:solidFill>
                  <a:schemeClr val="tx1"/>
                </a:solidFill>
              </a:rPr>
              <a:t>Vecteurs</a:t>
            </a:r>
            <a:endParaRPr lang="en-US" sz="1800" dirty="0"/>
          </a:p>
        </p:txBody>
      </p:sp>
      <p:sp>
        <p:nvSpPr>
          <p:cNvPr id="12" name="Text 8"/>
          <p:cNvSpPr txBox="1"/>
          <p:nvPr/>
        </p:nvSpPr>
        <p:spPr>
          <a:xfrm>
            <a:off x="1691640" y="3429000"/>
            <a:ext cx="2651760" cy="594360"/>
          </a:xfrm>
          <a:prstGeom prst="rect">
            <a:avLst/>
          </a:prstGeom>
          <a:noFill/>
          <a:ln/>
        </p:spPr>
        <p:txBody>
          <a:bodyPr wrap="square" lIns="0" tIns="0" rIns="0" bIns="0" rtlCol="0" anchor="t"/>
          <a:lstStyle/>
          <a:p>
            <a:pPr indent="0" marL="0">
              <a:buNone/>
            </a:pPr>
            <a:r>
              <a:rPr lang="en-US" sz="1300" dirty="0">
                <a:solidFill>
                  <a:schemeClr val="tx2"/>
                </a:solidFill>
              </a:rPr>
              <a:t>sens proche, paraphrases (WordLlama)</a:t>
            </a:r>
            <a:endParaRPr lang="en-US" sz="1300" dirty="0"/>
          </a:p>
        </p:txBody>
      </p:sp>
      <p:sp>
        <p:nvSpPr>
          <p:cNvPr id="13" name="source Graphe"/>
          <p:cNvSpPr/>
          <p:nvPr/>
        </p:nvSpPr>
        <p:spPr>
          <a:xfrm>
            <a:off x="548640" y="4343400"/>
            <a:ext cx="3931920" cy="1234440"/>
          </a:xfrm>
          <a:prstGeom prst="roundRect">
            <a:avLst>
              <a:gd name="adj" fmla="val 5926"/>
            </a:avLst>
          </a:prstGeom>
          <a:solidFill>
            <a:schemeClr val="bg2"/>
          </a:solidFill>
          <a:ln w="12700">
            <a:solidFill>
              <a:schemeClr val="bg2"/>
            </a:solidFill>
            <a:prstDash val="solid"/>
          </a:ln>
        </p:spPr>
      </p:sp>
      <p:sp>
        <p:nvSpPr>
          <p:cNvPr id="14" name="Graphe cercle"/>
          <p:cNvSpPr/>
          <p:nvPr/>
        </p:nvSpPr>
        <p:spPr>
          <a:xfrm>
            <a:off x="777240" y="4617720"/>
            <a:ext cx="685800" cy="685800"/>
          </a:xfrm>
          <a:prstGeom prst="ellipse">
            <a:avLst/>
          </a:prstGeom>
          <a:solidFill>
            <a:schemeClr val="accent1"/>
          </a:solidFill>
          <a:ln w="12700">
            <a:solidFill>
              <a:schemeClr val="accent1"/>
            </a:solidFill>
            <a:prstDash val="solid"/>
          </a:ln>
        </p:spPr>
      </p:sp>
      <p:pic>
        <p:nvPicPr>
          <p:cNvPr id="15" name="Graphe icône" descr="Graphe">    </p:cNvPr>
          <p:cNvPicPr>
            <a:picLocks noChangeAspect="1"/>
          </p:cNvPicPr>
          <p:nvPr/>
        </p:nvPicPr>
        <p:blipFill>
          <a:blip r:embed="rId3"/>
          <a:stretch>
            <a:fillRect/>
          </a:stretch>
        </p:blipFill>
        <p:spPr>
          <a:xfrm>
            <a:off x="948690" y="4789170"/>
            <a:ext cx="342900" cy="342900"/>
          </a:xfrm>
          <a:prstGeom prst="rect">
            <a:avLst/>
          </a:prstGeom>
        </p:spPr>
      </p:pic>
      <p:sp>
        <p:nvSpPr>
          <p:cNvPr id="16" name="Text 11"/>
          <p:cNvSpPr txBox="1"/>
          <p:nvPr/>
        </p:nvSpPr>
        <p:spPr>
          <a:xfrm>
            <a:off x="1691640" y="4480560"/>
            <a:ext cx="2651760" cy="411480"/>
          </a:xfrm>
          <a:prstGeom prst="rect">
            <a:avLst/>
          </a:prstGeom>
          <a:noFill/>
          <a:ln/>
        </p:spPr>
        <p:txBody>
          <a:bodyPr wrap="square" lIns="0" tIns="0" rIns="0" bIns="0" rtlCol="0" anchor="t"/>
          <a:lstStyle/>
          <a:p>
            <a:pPr indent="0" marL="0">
              <a:buNone/>
            </a:pPr>
            <a:r>
              <a:rPr lang="en-US" sz="1800" b="1" dirty="0">
                <a:solidFill>
                  <a:schemeClr val="tx1"/>
                </a:solidFill>
              </a:rPr>
              <a:t>Graphe</a:t>
            </a:r>
            <a:endParaRPr lang="en-US" sz="1800" dirty="0"/>
          </a:p>
        </p:txBody>
      </p:sp>
      <p:sp>
        <p:nvSpPr>
          <p:cNvPr id="17" name="Text 12"/>
          <p:cNvSpPr txBox="1"/>
          <p:nvPr/>
        </p:nvSpPr>
        <p:spPr>
          <a:xfrm>
            <a:off x="1691640" y="4892040"/>
            <a:ext cx="2651760" cy="594360"/>
          </a:xfrm>
          <a:prstGeom prst="rect">
            <a:avLst/>
          </a:prstGeom>
          <a:noFill/>
          <a:ln/>
        </p:spPr>
        <p:txBody>
          <a:bodyPr wrap="square" lIns="0" tIns="0" rIns="0" bIns="0" rtlCol="0" anchor="t"/>
          <a:lstStyle/>
          <a:p>
            <a:pPr indent="0" marL="0">
              <a:buNone/>
            </a:pPr>
            <a:r>
              <a:rPr lang="en-US" sz="1300" dirty="0">
                <a:solidFill>
                  <a:schemeClr val="tx2"/>
                </a:solidFill>
              </a:rPr>
              <a:t>entités de la question, voisinage à 2 sauts, PageRank personnalisé</a:t>
            </a:r>
            <a:endParaRPr lang="en-US" sz="1300" dirty="0"/>
          </a:p>
        </p:txBody>
      </p:sp>
      <p:sp>
        <p:nvSpPr>
          <p:cNvPr id="18" name="flèche vers la fusion"/>
          <p:cNvSpPr/>
          <p:nvPr/>
        </p:nvSpPr>
        <p:spPr>
          <a:xfrm>
            <a:off x="4709160" y="3063240"/>
            <a:ext cx="731520" cy="548640"/>
          </a:xfrm>
          <a:prstGeom prst="rightArrow">
            <a:avLst/>
          </a:prstGeom>
          <a:solidFill>
            <a:schemeClr val="accent3"/>
          </a:solidFill>
          <a:ln w="12700">
            <a:solidFill>
              <a:schemeClr val="accent3"/>
            </a:solidFill>
            <a:prstDash val="solid"/>
          </a:ln>
        </p:spPr>
      </p:sp>
      <p:sp>
        <p:nvSpPr>
          <p:cNvPr id="19" name="fusion RRF"/>
          <p:cNvSpPr/>
          <p:nvPr/>
        </p:nvSpPr>
        <p:spPr>
          <a:xfrm>
            <a:off x="5623560" y="2331720"/>
            <a:ext cx="2011680" cy="2011680"/>
          </a:xfrm>
          <a:prstGeom prst="roundRect">
            <a:avLst>
              <a:gd name="adj" fmla="val 3636"/>
            </a:avLst>
          </a:prstGeom>
          <a:solidFill>
            <a:schemeClr val="tx1"/>
          </a:solidFill>
          <a:ln w="12700">
            <a:solidFill>
              <a:schemeClr val="tx1"/>
            </a:solidFill>
            <a:prstDash val="solid"/>
          </a:ln>
        </p:spPr>
      </p:sp>
      <p:sp>
        <p:nvSpPr>
          <p:cNvPr id="20" name="Text 15"/>
          <p:cNvSpPr txBox="1"/>
          <p:nvPr/>
        </p:nvSpPr>
        <p:spPr>
          <a:xfrm>
            <a:off x="5760720" y="2743200"/>
            <a:ext cx="1737360" cy="1188720"/>
          </a:xfrm>
          <a:prstGeom prst="rect">
            <a:avLst/>
          </a:prstGeom>
          <a:noFill/>
          <a:ln/>
        </p:spPr>
        <p:txBody>
          <a:bodyPr wrap="square" lIns="0" tIns="0" rIns="0" bIns="0" rtlCol="0" anchor="ctr"/>
          <a:lstStyle/>
          <a:p>
            <a:pPr algn="ctr" indent="0" marL="0">
              <a:buNone/>
            </a:pPr>
            <a:r>
              <a:rPr lang="en-US" sz="1800" b="1" dirty="0">
                <a:solidFill>
                  <a:schemeClr val="bg1"/>
                </a:solidFill>
              </a:rPr>
              <a:t>Fusion RRF</a:t>
            </a:r>
            <a:endParaRPr lang="en-US" sz="1500" dirty="0"/>
          </a:p>
          <a:p>
            <a:pPr algn="ctr" indent="0" marL="0">
              <a:buNone/>
            </a:pPr>
            <a:r>
              <a:rPr lang="en-US" sz="1300" dirty="0">
                <a:solidFill>
                  <a:schemeClr val="bg1"/>
                </a:solidFill>
              </a:rPr>
              <a:t>rangs seuls, k = 60</a:t>
            </a:r>
            <a:endParaRPr lang="en-US" sz="1500" dirty="0"/>
          </a:p>
        </p:txBody>
      </p:sp>
      <p:sp>
        <p:nvSpPr>
          <p:cNvPr id="21" name="Text 16"/>
          <p:cNvSpPr txBox="1"/>
          <p:nvPr/>
        </p:nvSpPr>
        <p:spPr>
          <a:xfrm>
            <a:off x="8001000" y="1417320"/>
            <a:ext cx="3657600" cy="411480"/>
          </a:xfrm>
          <a:prstGeom prst="rect">
            <a:avLst/>
          </a:prstGeom>
          <a:noFill/>
          <a:ln/>
        </p:spPr>
        <p:txBody>
          <a:bodyPr wrap="square" lIns="0" tIns="0" rIns="0" bIns="0" rtlCol="0" anchor="t"/>
          <a:lstStyle/>
          <a:p>
            <a:pPr indent="0" marL="0">
              <a:buNone/>
            </a:pPr>
            <a:r>
              <a:rPr lang="en-US" sz="1700" b="1" dirty="0">
                <a:solidFill>
                  <a:schemeClr val="tx1"/>
                </a:solidFill>
              </a:rPr>
              <a:t>Routage selon le type de question</a:t>
            </a:r>
            <a:endParaRPr lang="en-US" sz="1700" dirty="0"/>
          </a:p>
        </p:txBody>
      </p:sp>
      <p:graphicFrame>
        <p:nvGraphicFramePr>
          <p:cNvPr id="8" name="table de routage"/>
          <p:cNvGraphicFramePr>
            <a:graphicFrameLocks noGrp="1"/>
          </p:cNvGraphicFramePr>
          <p:nvPr>
            <p:extLst>
              <p:ext uri="{D42A27DB-BD31-4B8C-83A1-F6EECF244321}">
                <p14:modId xmlns:p14="http://schemas.microsoft.com/office/powerpoint/2010/main" val="1579011935"/>
              </p:ext>
            </p:extLst>
          </p:nvPr>
        </p:nvGraphicFramePr>
        <p:xfrm>
          <a:off x="8001000" y="1920240"/>
          <a:ext cx="3657600" cy="914400"/>
        </p:xfrm>
        <a:graphic>
          <a:graphicData uri="http://schemas.openxmlformats.org/drawingml/2006/table">
            <a:tbl>
              <a:tblPr/>
              <a:tblGrid>
                <a:gridCol w="1554480"/>
                <a:gridCol w="1325880"/>
                <a:gridCol w="777240"/>
              </a:tblGrid>
              <a:tr h="38404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marL="91440" marR="91440" marT="45720" marB="45720">
                    <a:lnL w="6350" cap="flat" cmpd="sng" algn="ctr">
                      <a:solidFill>
                        <a:srgbClr val="C9D2DB"/>
                      </a:solidFill>
                      <a:prstDash val="solid"/>
                      <a:round/>
                      <a:headEnd type="none" w="med" len="med"/>
                      <a:tailEnd type="none" w="med" len="med"/>
                    </a:lnL>
                    <a:lnR w="6350" cap="flat" cmpd="sng" algn="ctr">
                      <a:solidFill>
                        <a:srgbClr val="C9D2DB"/>
                      </a:solidFill>
                      <a:prstDash val="solid"/>
                      <a:round/>
                      <a:headEnd type="none" w="med" len="med"/>
                      <a:tailEnd type="none" w="med" len="med"/>
                    </a:lnR>
                    <a:lnT w="6350" cap="flat" cmpd="sng" algn="ctr">
                      <a:solidFill>
                        <a:srgbClr val="C9D2DB"/>
                      </a:solidFill>
                      <a:prstDash val="solid"/>
                      <a:round/>
                      <a:headEnd type="none" w="med" len="med"/>
                      <a:tailEnd type="none" w="med" len="med"/>
                    </a:lnT>
                    <a:lnB w="6350" cap="flat" cmpd="sng" algn="ctr">
                      <a:solidFill>
                        <a:srgbClr val="C9D2DB"/>
                      </a:solidFill>
                      <a:prstDash val="solid"/>
                      <a:round/>
                      <a:headEnd type="none" w="med" len="med"/>
                      <a:tailEnd type="none" w="med" len="med"/>
                    </a:lnB>
                    <a:solidFill>
                      <a:srgbClr val="1D2B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Poids du graphe</a:t>
                      </a:r>
                      <a:endParaRPr lang="en-US" sz="1400" dirty="0">
                        <a:latin typeface="Calibri" charset="0"/>
                        <a:ea typeface="Calibri" charset="0"/>
                        <a:cs typeface="Calibri" charset="0"/>
                      </a:endParaRPr>
                    </a:p>
                  </a:txBody>
                  <a:tcPr marL="91440" marR="91440" marT="45720" marB="45720">
                    <a:lnL w="6350" cap="flat" cmpd="sng" algn="ctr">
                      <a:solidFill>
                        <a:srgbClr val="C9D2DB"/>
                      </a:solidFill>
                      <a:prstDash val="solid"/>
                      <a:round/>
                      <a:headEnd type="none" w="med" len="med"/>
                      <a:tailEnd type="none" w="med" len="med"/>
                    </a:lnL>
                    <a:lnR w="6350" cap="flat" cmpd="sng" algn="ctr">
                      <a:solidFill>
                        <a:srgbClr val="C9D2DB"/>
                      </a:solidFill>
                      <a:prstDash val="solid"/>
                      <a:round/>
                      <a:headEnd type="none" w="med" len="med"/>
                      <a:tailEnd type="none" w="med" len="med"/>
                    </a:lnR>
                    <a:lnT w="6350" cap="flat" cmpd="sng" algn="ctr">
                      <a:solidFill>
                        <a:srgbClr val="C9D2DB"/>
                      </a:solidFill>
                      <a:prstDash val="solid"/>
                      <a:round/>
                      <a:headEnd type="none" w="med" len="med"/>
                      <a:tailEnd type="none" w="med" len="med"/>
                    </a:lnT>
                    <a:lnB w="6350" cap="flat" cmpd="sng" algn="ctr">
                      <a:solidFill>
                        <a:srgbClr val="C9D2DB"/>
                      </a:solidFill>
                      <a:prstDash val="solid"/>
                      <a:round/>
                      <a:headEnd type="none" w="med" len="med"/>
                      <a:tailEnd type="none" w="med" len="med"/>
                    </a:lnB>
                    <a:solidFill>
                      <a:srgbClr val="1D2B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Sauts</a:t>
                      </a:r>
                      <a:endParaRPr lang="en-US" sz="1400" dirty="0">
                        <a:latin typeface="Calibri" charset="0"/>
                        <a:ea typeface="Calibri" charset="0"/>
                        <a:cs typeface="Calibri" charset="0"/>
                      </a:endParaRPr>
                    </a:p>
                  </a:txBody>
                  <a:tcPr marL="91440" marR="91440" marT="45720" marB="45720">
                    <a:lnL w="6350" cap="flat" cmpd="sng" algn="ctr">
                      <a:solidFill>
                        <a:srgbClr val="C9D2DB"/>
                      </a:solidFill>
                      <a:prstDash val="solid"/>
                      <a:round/>
                      <a:headEnd type="none" w="med" len="med"/>
                      <a:tailEnd type="none" w="med" len="med"/>
                    </a:lnL>
                    <a:lnR w="6350" cap="flat" cmpd="sng" algn="ctr">
                      <a:solidFill>
                        <a:srgbClr val="C9D2DB"/>
                      </a:solidFill>
                      <a:prstDash val="solid"/>
                      <a:round/>
                      <a:headEnd type="none" w="med" len="med"/>
                      <a:tailEnd type="none" w="med" len="med"/>
                    </a:lnR>
                    <a:lnT w="6350" cap="flat" cmpd="sng" algn="ctr">
                      <a:solidFill>
                        <a:srgbClr val="C9D2DB"/>
                      </a:solidFill>
                      <a:prstDash val="solid"/>
                      <a:round/>
                      <a:headEnd type="none" w="med" len="med"/>
                      <a:tailEnd type="none" w="med" len="med"/>
                    </a:lnT>
                    <a:lnB w="6350" cap="flat" cmpd="sng" algn="ctr">
                      <a:solidFill>
                        <a:srgbClr val="C9D2DB"/>
                      </a:solidFill>
                      <a:prstDash val="solid"/>
                      <a:round/>
                      <a:headEnd type="none" w="med" len="med"/>
                      <a:tailEnd type="none" w="med" len="med"/>
                    </a:lnB>
                    <a:solidFill>
                      <a:srgbClr val="1D2B3A"/>
                    </a:solidFill>
                  </a:tcPr>
                </a:tc>
              </a:tr>
              <a:tr h="384048">
                <a:tc>
                  <a:txBody>
                    <a:bodyPr/>
                    <a:lstStyle/>
                    <a:p>
                      <a:pPr indent="0" marL="0">
                        <a:buNone/>
                      </a:pPr>
                      <a:r>
                        <a:rPr lang="en-US" sz="1400" dirty="0">
                          <a:solidFill>
                            <a:srgbClr val="1D2B3A"/>
                          </a:solidFill>
                          <a:latin typeface="Calibri" pitchFamily="34" charset="0"/>
                          <a:ea typeface="Calibri" pitchFamily="34" charset="-122"/>
                          <a:cs typeface="Calibri" pitchFamily="34" charset="-120"/>
                        </a:rPr>
                        <a:t>factuelle</a:t>
                      </a:r>
                      <a:endParaRPr lang="en-US" sz="1400" dirty="0">
                        <a:latin typeface="Calibri" charset="0"/>
                        <a:ea typeface="Calibri" charset="0"/>
                        <a:cs typeface="Calibri" charset="0"/>
                      </a:endParaRPr>
                    </a:p>
                  </a:txBody>
                  <a:tcPr marL="91440" marR="91440" marT="45720" marB="45720">
                    <a:lnL w="6350" cap="flat" cmpd="sng" algn="ctr">
                      <a:solidFill>
                        <a:srgbClr val="C9D2DB"/>
                      </a:solidFill>
                      <a:prstDash val="solid"/>
                      <a:round/>
                      <a:headEnd type="none" w="med" len="med"/>
                      <a:tailEnd type="none" w="med" len="med"/>
                    </a:lnL>
                    <a:lnR w="6350" cap="flat" cmpd="sng" algn="ctr">
                      <a:solidFill>
                        <a:srgbClr val="C9D2DB"/>
                      </a:solidFill>
                      <a:prstDash val="solid"/>
                      <a:round/>
                      <a:headEnd type="none" w="med" len="med"/>
                      <a:tailEnd type="none" w="med" len="med"/>
                    </a:lnR>
                    <a:lnT w="6350" cap="flat" cmpd="sng" algn="ctr">
                      <a:solidFill>
                        <a:srgbClr val="C9D2DB"/>
                      </a:solidFill>
                      <a:prstDash val="solid"/>
                      <a:round/>
                      <a:headEnd type="none" w="med" len="med"/>
                      <a:tailEnd type="none" w="med" len="med"/>
                    </a:lnT>
                    <a:lnB w="6350" cap="flat" cmpd="sng" algn="ctr">
                      <a:solidFill>
                        <a:srgbClr val="C9D2DB"/>
                      </a:solidFill>
                      <a:prstDash val="solid"/>
                      <a:round/>
                      <a:headEnd type="none" w="med" len="med"/>
                      <a:tailEnd type="none" w="med" len="med"/>
                    </a:lnB>
                  </a:tcPr>
                </a:tc>
                <a:tc>
                  <a:txBody>
                    <a:bodyPr/>
                    <a:lstStyle/>
                    <a:p>
                      <a:pPr indent="0" marL="0">
                        <a:buNone/>
                      </a:pPr>
                      <a:r>
                        <a:rPr lang="en-US" sz="1400" dirty="0">
                          <a:solidFill>
                            <a:srgbClr val="1D2B3A"/>
                          </a:solidFill>
                          <a:latin typeface="Calibri" pitchFamily="34" charset="0"/>
                          <a:ea typeface="Calibri" pitchFamily="34" charset="-122"/>
                          <a:cs typeface="Calibri" pitchFamily="34" charset="-120"/>
                        </a:rPr>
                        <a:t>0,5</a:t>
                      </a:r>
                      <a:endParaRPr lang="en-US" sz="1400" dirty="0">
                        <a:latin typeface="Calibri" charset="0"/>
                        <a:ea typeface="Calibri" charset="0"/>
                        <a:cs typeface="Calibri" charset="0"/>
                      </a:endParaRPr>
                    </a:p>
                  </a:txBody>
                  <a:tcPr marL="91440" marR="91440" marT="45720" marB="45720">
                    <a:lnL w="6350" cap="flat" cmpd="sng" algn="ctr">
                      <a:solidFill>
                        <a:srgbClr val="C9D2DB"/>
                      </a:solidFill>
                      <a:prstDash val="solid"/>
                      <a:round/>
                      <a:headEnd type="none" w="med" len="med"/>
                      <a:tailEnd type="none" w="med" len="med"/>
                    </a:lnL>
                    <a:lnR w="6350" cap="flat" cmpd="sng" algn="ctr">
                      <a:solidFill>
                        <a:srgbClr val="C9D2DB"/>
                      </a:solidFill>
                      <a:prstDash val="solid"/>
                      <a:round/>
                      <a:headEnd type="none" w="med" len="med"/>
                      <a:tailEnd type="none" w="med" len="med"/>
                    </a:lnR>
                    <a:lnT w="6350" cap="flat" cmpd="sng" algn="ctr">
                      <a:solidFill>
                        <a:srgbClr val="C9D2DB"/>
                      </a:solidFill>
                      <a:prstDash val="solid"/>
                      <a:round/>
                      <a:headEnd type="none" w="med" len="med"/>
                      <a:tailEnd type="none" w="med" len="med"/>
                    </a:lnT>
                    <a:lnB w="6350" cap="flat" cmpd="sng" algn="ctr">
                      <a:solidFill>
                        <a:srgbClr val="C9D2DB"/>
                      </a:solidFill>
                      <a:prstDash val="solid"/>
                      <a:round/>
                      <a:headEnd type="none" w="med" len="med"/>
                      <a:tailEnd type="none" w="med" len="med"/>
                    </a:lnB>
                  </a:tcPr>
                </a:tc>
                <a:tc>
                  <a:txBody>
                    <a:bodyPr/>
                    <a:lstStyle/>
                    <a:p>
                      <a:pPr indent="0" marL="0">
                        <a:buNone/>
                      </a:pPr>
                      <a:r>
                        <a:rPr lang="en-US" sz="1400" dirty="0">
                          <a:solidFill>
                            <a:srgbClr val="1D2B3A"/>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lnL w="6350" cap="flat" cmpd="sng" algn="ctr">
                      <a:solidFill>
                        <a:srgbClr val="C9D2DB"/>
                      </a:solidFill>
                      <a:prstDash val="solid"/>
                      <a:round/>
                      <a:headEnd type="none" w="med" len="med"/>
                      <a:tailEnd type="none" w="med" len="med"/>
                    </a:lnL>
                    <a:lnR w="6350" cap="flat" cmpd="sng" algn="ctr">
                      <a:solidFill>
                        <a:srgbClr val="C9D2DB"/>
                      </a:solidFill>
                      <a:prstDash val="solid"/>
                      <a:round/>
                      <a:headEnd type="none" w="med" len="med"/>
                      <a:tailEnd type="none" w="med" len="med"/>
                    </a:lnR>
                    <a:lnT w="6350" cap="flat" cmpd="sng" algn="ctr">
                      <a:solidFill>
                        <a:srgbClr val="C9D2DB"/>
                      </a:solidFill>
                      <a:prstDash val="solid"/>
                      <a:round/>
                      <a:headEnd type="none" w="med" len="med"/>
                      <a:tailEnd type="none" w="med" len="med"/>
                    </a:lnT>
                    <a:lnB w="6350" cap="flat" cmpd="sng" algn="ctr">
                      <a:solidFill>
                        <a:srgbClr val="C9D2DB"/>
                      </a:solidFill>
                      <a:prstDash val="solid"/>
                      <a:round/>
                      <a:headEnd type="none" w="med" len="med"/>
                      <a:tailEnd type="none" w="med" len="med"/>
                    </a:lnB>
                  </a:tcPr>
                </a:tc>
              </a:tr>
              <a:tr h="384048">
                <a:tc>
                  <a:txBody>
                    <a:bodyPr/>
                    <a:lstStyle/>
                    <a:p>
                      <a:pPr indent="0" marL="0">
                        <a:buNone/>
                      </a:pPr>
                      <a:r>
                        <a:rPr lang="en-US" sz="1400" dirty="0">
                          <a:solidFill>
                            <a:srgbClr val="1D2B3A"/>
                          </a:solidFill>
                          <a:latin typeface="Calibri" pitchFamily="34" charset="0"/>
                          <a:ea typeface="Calibri" pitchFamily="34" charset="-122"/>
                          <a:cs typeface="Calibri" pitchFamily="34" charset="-120"/>
                        </a:rPr>
                        <a:t>relationnelle</a:t>
                      </a:r>
                      <a:endParaRPr lang="en-US" sz="1400" dirty="0">
                        <a:latin typeface="Calibri" charset="0"/>
                        <a:ea typeface="Calibri" charset="0"/>
                        <a:cs typeface="Calibri" charset="0"/>
                      </a:endParaRPr>
                    </a:p>
                  </a:txBody>
                  <a:tcPr marL="91440" marR="91440" marT="45720" marB="45720">
                    <a:lnL w="6350" cap="flat" cmpd="sng" algn="ctr">
                      <a:solidFill>
                        <a:srgbClr val="C9D2DB"/>
                      </a:solidFill>
                      <a:prstDash val="solid"/>
                      <a:round/>
                      <a:headEnd type="none" w="med" len="med"/>
                      <a:tailEnd type="none" w="med" len="med"/>
                    </a:lnL>
                    <a:lnR w="6350" cap="flat" cmpd="sng" algn="ctr">
                      <a:solidFill>
                        <a:srgbClr val="C9D2DB"/>
                      </a:solidFill>
                      <a:prstDash val="solid"/>
                      <a:round/>
                      <a:headEnd type="none" w="med" len="med"/>
                      <a:tailEnd type="none" w="med" len="med"/>
                    </a:lnR>
                    <a:lnT w="6350" cap="flat" cmpd="sng" algn="ctr">
                      <a:solidFill>
                        <a:srgbClr val="C9D2DB"/>
                      </a:solidFill>
                      <a:prstDash val="solid"/>
                      <a:round/>
                      <a:headEnd type="none" w="med" len="med"/>
                      <a:tailEnd type="none" w="med" len="med"/>
                    </a:lnT>
                    <a:lnB w="6350" cap="flat" cmpd="sng" algn="ctr">
                      <a:solidFill>
                        <a:srgbClr val="C9D2DB"/>
                      </a:solidFill>
                      <a:prstDash val="solid"/>
                      <a:round/>
                      <a:headEnd type="none" w="med" len="med"/>
                      <a:tailEnd type="none" w="med" len="med"/>
                    </a:lnB>
                  </a:tcPr>
                </a:tc>
                <a:tc>
                  <a:txBody>
                    <a:bodyPr/>
                    <a:lstStyle/>
                    <a:p>
                      <a:pPr indent="0" marL="0">
                        <a:buNone/>
                      </a:pPr>
                      <a:r>
                        <a:rPr lang="en-US" sz="1400" dirty="0">
                          <a:solidFill>
                            <a:srgbClr val="1D2B3A"/>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91440" marR="91440" marT="45720" marB="45720">
                    <a:lnL w="6350" cap="flat" cmpd="sng" algn="ctr">
                      <a:solidFill>
                        <a:srgbClr val="C9D2DB"/>
                      </a:solidFill>
                      <a:prstDash val="solid"/>
                      <a:round/>
                      <a:headEnd type="none" w="med" len="med"/>
                      <a:tailEnd type="none" w="med" len="med"/>
                    </a:lnL>
                    <a:lnR w="6350" cap="flat" cmpd="sng" algn="ctr">
                      <a:solidFill>
                        <a:srgbClr val="C9D2DB"/>
                      </a:solidFill>
                      <a:prstDash val="solid"/>
                      <a:round/>
                      <a:headEnd type="none" w="med" len="med"/>
                      <a:tailEnd type="none" w="med" len="med"/>
                    </a:lnR>
                    <a:lnT w="6350" cap="flat" cmpd="sng" algn="ctr">
                      <a:solidFill>
                        <a:srgbClr val="C9D2DB"/>
                      </a:solidFill>
                      <a:prstDash val="solid"/>
                      <a:round/>
                      <a:headEnd type="none" w="med" len="med"/>
                      <a:tailEnd type="none" w="med" len="med"/>
                    </a:lnT>
                    <a:lnB w="6350" cap="flat" cmpd="sng" algn="ctr">
                      <a:solidFill>
                        <a:srgbClr val="C9D2DB"/>
                      </a:solidFill>
                      <a:prstDash val="solid"/>
                      <a:round/>
                      <a:headEnd type="none" w="med" len="med"/>
                      <a:tailEnd type="none" w="med" len="med"/>
                    </a:lnB>
                  </a:tcPr>
                </a:tc>
                <a:tc>
                  <a:txBody>
                    <a:bodyPr/>
                    <a:lstStyle/>
                    <a:p>
                      <a:pPr indent="0" marL="0">
                        <a:buNone/>
                      </a:pPr>
                      <a:r>
                        <a:rPr lang="en-US" sz="1400" dirty="0">
                          <a:solidFill>
                            <a:srgbClr val="1D2B3A"/>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lnL w="6350" cap="flat" cmpd="sng" algn="ctr">
                      <a:solidFill>
                        <a:srgbClr val="C9D2DB"/>
                      </a:solidFill>
                      <a:prstDash val="solid"/>
                      <a:round/>
                      <a:headEnd type="none" w="med" len="med"/>
                      <a:tailEnd type="none" w="med" len="med"/>
                    </a:lnL>
                    <a:lnR w="6350" cap="flat" cmpd="sng" algn="ctr">
                      <a:solidFill>
                        <a:srgbClr val="C9D2DB"/>
                      </a:solidFill>
                      <a:prstDash val="solid"/>
                      <a:round/>
                      <a:headEnd type="none" w="med" len="med"/>
                      <a:tailEnd type="none" w="med" len="med"/>
                    </a:lnR>
                    <a:lnT w="6350" cap="flat" cmpd="sng" algn="ctr">
                      <a:solidFill>
                        <a:srgbClr val="C9D2DB"/>
                      </a:solidFill>
                      <a:prstDash val="solid"/>
                      <a:round/>
                      <a:headEnd type="none" w="med" len="med"/>
                      <a:tailEnd type="none" w="med" len="med"/>
                    </a:lnT>
                    <a:lnB w="6350" cap="flat" cmpd="sng" algn="ctr">
                      <a:solidFill>
                        <a:srgbClr val="C9D2DB"/>
                      </a:solidFill>
                      <a:prstDash val="solid"/>
                      <a:round/>
                      <a:headEnd type="none" w="med" len="med"/>
                      <a:tailEnd type="none" w="med" len="med"/>
                    </a:lnB>
                  </a:tcPr>
                </a:tc>
              </a:tr>
              <a:tr h="384048">
                <a:tc>
                  <a:txBody>
                    <a:bodyPr/>
                    <a:lstStyle/>
                    <a:p>
                      <a:pPr indent="0" marL="0">
                        <a:buNone/>
                      </a:pPr>
                      <a:r>
                        <a:rPr lang="en-US" sz="1400" dirty="0">
                          <a:solidFill>
                            <a:srgbClr val="1D2B3A"/>
                          </a:solidFill>
                          <a:latin typeface="Calibri" pitchFamily="34" charset="0"/>
                          <a:ea typeface="Calibri" pitchFamily="34" charset="-122"/>
                          <a:cs typeface="Calibri" pitchFamily="34" charset="-120"/>
                        </a:rPr>
                        <a:t>multi-sauts</a:t>
                      </a:r>
                      <a:endParaRPr lang="en-US" sz="1400" dirty="0">
                        <a:latin typeface="Calibri" charset="0"/>
                        <a:ea typeface="Calibri" charset="0"/>
                        <a:cs typeface="Calibri" charset="0"/>
                      </a:endParaRPr>
                    </a:p>
                  </a:txBody>
                  <a:tcPr marL="91440" marR="91440" marT="45720" marB="45720">
                    <a:lnL w="6350" cap="flat" cmpd="sng" algn="ctr">
                      <a:solidFill>
                        <a:srgbClr val="C9D2DB"/>
                      </a:solidFill>
                      <a:prstDash val="solid"/>
                      <a:round/>
                      <a:headEnd type="none" w="med" len="med"/>
                      <a:tailEnd type="none" w="med" len="med"/>
                    </a:lnL>
                    <a:lnR w="6350" cap="flat" cmpd="sng" algn="ctr">
                      <a:solidFill>
                        <a:srgbClr val="C9D2DB"/>
                      </a:solidFill>
                      <a:prstDash val="solid"/>
                      <a:round/>
                      <a:headEnd type="none" w="med" len="med"/>
                      <a:tailEnd type="none" w="med" len="med"/>
                    </a:lnR>
                    <a:lnT w="6350" cap="flat" cmpd="sng" algn="ctr">
                      <a:solidFill>
                        <a:srgbClr val="C9D2DB"/>
                      </a:solidFill>
                      <a:prstDash val="solid"/>
                      <a:round/>
                      <a:headEnd type="none" w="med" len="med"/>
                      <a:tailEnd type="none" w="med" len="med"/>
                    </a:lnT>
                    <a:lnB w="6350" cap="flat" cmpd="sng" algn="ctr">
                      <a:solidFill>
                        <a:srgbClr val="C9D2DB"/>
                      </a:solidFill>
                      <a:prstDash val="solid"/>
                      <a:round/>
                      <a:headEnd type="none" w="med" len="med"/>
                      <a:tailEnd type="none" w="med" len="med"/>
                    </a:lnB>
                  </a:tcPr>
                </a:tc>
                <a:tc>
                  <a:txBody>
                    <a:bodyPr/>
                    <a:lstStyle/>
                    <a:p>
                      <a:pPr indent="0" marL="0">
                        <a:buNone/>
                      </a:pPr>
                      <a:r>
                        <a:rPr lang="en-US" sz="1400" dirty="0">
                          <a:solidFill>
                            <a:srgbClr val="1D2B3A"/>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91440" marR="91440" marT="45720" marB="45720">
                    <a:lnL w="6350" cap="flat" cmpd="sng" algn="ctr">
                      <a:solidFill>
                        <a:srgbClr val="C9D2DB"/>
                      </a:solidFill>
                      <a:prstDash val="solid"/>
                      <a:round/>
                      <a:headEnd type="none" w="med" len="med"/>
                      <a:tailEnd type="none" w="med" len="med"/>
                    </a:lnL>
                    <a:lnR w="6350" cap="flat" cmpd="sng" algn="ctr">
                      <a:solidFill>
                        <a:srgbClr val="C9D2DB"/>
                      </a:solidFill>
                      <a:prstDash val="solid"/>
                      <a:round/>
                      <a:headEnd type="none" w="med" len="med"/>
                      <a:tailEnd type="none" w="med" len="med"/>
                    </a:lnR>
                    <a:lnT w="6350" cap="flat" cmpd="sng" algn="ctr">
                      <a:solidFill>
                        <a:srgbClr val="C9D2DB"/>
                      </a:solidFill>
                      <a:prstDash val="solid"/>
                      <a:round/>
                      <a:headEnd type="none" w="med" len="med"/>
                      <a:tailEnd type="none" w="med" len="med"/>
                    </a:lnT>
                    <a:lnB w="6350" cap="flat" cmpd="sng" algn="ctr">
                      <a:solidFill>
                        <a:srgbClr val="C9D2DB"/>
                      </a:solidFill>
                      <a:prstDash val="solid"/>
                      <a:round/>
                      <a:headEnd type="none" w="med" len="med"/>
                      <a:tailEnd type="none" w="med" len="med"/>
                    </a:lnB>
                  </a:tcPr>
                </a:tc>
                <a:tc>
                  <a:txBody>
                    <a:bodyPr/>
                    <a:lstStyle/>
                    <a:p>
                      <a:pPr indent="0" marL="0">
                        <a:buNone/>
                      </a:pPr>
                      <a:r>
                        <a:rPr lang="en-US" sz="1400" dirty="0">
                          <a:solidFill>
                            <a:srgbClr val="1D2B3A"/>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lnL w="6350" cap="flat" cmpd="sng" algn="ctr">
                      <a:solidFill>
                        <a:srgbClr val="C9D2DB"/>
                      </a:solidFill>
                      <a:prstDash val="solid"/>
                      <a:round/>
                      <a:headEnd type="none" w="med" len="med"/>
                      <a:tailEnd type="none" w="med" len="med"/>
                    </a:lnL>
                    <a:lnR w="6350" cap="flat" cmpd="sng" algn="ctr">
                      <a:solidFill>
                        <a:srgbClr val="C9D2DB"/>
                      </a:solidFill>
                      <a:prstDash val="solid"/>
                      <a:round/>
                      <a:headEnd type="none" w="med" len="med"/>
                      <a:tailEnd type="none" w="med" len="med"/>
                    </a:lnR>
                    <a:lnT w="6350" cap="flat" cmpd="sng" algn="ctr">
                      <a:solidFill>
                        <a:srgbClr val="C9D2DB"/>
                      </a:solidFill>
                      <a:prstDash val="solid"/>
                      <a:round/>
                      <a:headEnd type="none" w="med" len="med"/>
                      <a:tailEnd type="none" w="med" len="med"/>
                    </a:lnT>
                    <a:lnB w="6350" cap="flat" cmpd="sng" algn="ctr">
                      <a:solidFill>
                        <a:srgbClr val="C9D2DB"/>
                      </a:solidFill>
                      <a:prstDash val="solid"/>
                      <a:round/>
                      <a:headEnd type="none" w="med" len="med"/>
                      <a:tailEnd type="none" w="med" len="med"/>
                    </a:lnB>
                  </a:tcPr>
                </a:tc>
              </a:tr>
              <a:tr h="384048">
                <a:tc>
                  <a:txBody>
                    <a:bodyPr/>
                    <a:lstStyle/>
                    <a:p>
                      <a:pPr indent="0" marL="0">
                        <a:buNone/>
                      </a:pPr>
                      <a:r>
                        <a:rPr lang="en-US" sz="1400" dirty="0">
                          <a:solidFill>
                            <a:srgbClr val="1D2B3A"/>
                          </a:solidFill>
                          <a:latin typeface="Calibri" pitchFamily="34" charset="0"/>
                          <a:ea typeface="Calibri" pitchFamily="34" charset="-122"/>
                          <a:cs typeface="Calibri" pitchFamily="34" charset="-120"/>
                        </a:rPr>
                        <a:t>expertise</a:t>
                      </a:r>
                      <a:endParaRPr lang="en-US" sz="1400" dirty="0">
                        <a:latin typeface="Calibri" charset="0"/>
                        <a:ea typeface="Calibri" charset="0"/>
                        <a:cs typeface="Calibri" charset="0"/>
                      </a:endParaRPr>
                    </a:p>
                  </a:txBody>
                  <a:tcPr marL="91440" marR="91440" marT="45720" marB="45720">
                    <a:lnL w="6350" cap="flat" cmpd="sng" algn="ctr">
                      <a:solidFill>
                        <a:srgbClr val="C9D2DB"/>
                      </a:solidFill>
                      <a:prstDash val="solid"/>
                      <a:round/>
                      <a:headEnd type="none" w="med" len="med"/>
                      <a:tailEnd type="none" w="med" len="med"/>
                    </a:lnL>
                    <a:lnR w="6350" cap="flat" cmpd="sng" algn="ctr">
                      <a:solidFill>
                        <a:srgbClr val="C9D2DB"/>
                      </a:solidFill>
                      <a:prstDash val="solid"/>
                      <a:round/>
                      <a:headEnd type="none" w="med" len="med"/>
                      <a:tailEnd type="none" w="med" len="med"/>
                    </a:lnR>
                    <a:lnT w="6350" cap="flat" cmpd="sng" algn="ctr">
                      <a:solidFill>
                        <a:srgbClr val="C9D2DB"/>
                      </a:solidFill>
                      <a:prstDash val="solid"/>
                      <a:round/>
                      <a:headEnd type="none" w="med" len="med"/>
                      <a:tailEnd type="none" w="med" len="med"/>
                    </a:lnT>
                    <a:lnB w="6350" cap="flat" cmpd="sng" algn="ctr">
                      <a:solidFill>
                        <a:srgbClr val="C9D2DB"/>
                      </a:solidFill>
                      <a:prstDash val="solid"/>
                      <a:round/>
                      <a:headEnd type="none" w="med" len="med"/>
                      <a:tailEnd type="none" w="med" len="med"/>
                    </a:lnB>
                  </a:tcPr>
                </a:tc>
                <a:tc>
                  <a:txBody>
                    <a:bodyPr/>
                    <a:lstStyle/>
                    <a:p>
                      <a:pPr indent="0" marL="0">
                        <a:buNone/>
                      </a:pPr>
                      <a:r>
                        <a:rPr lang="en-US" sz="1400" dirty="0">
                          <a:solidFill>
                            <a:srgbClr val="1D2B3A"/>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91440" marR="91440" marT="45720" marB="45720">
                    <a:lnL w="6350" cap="flat" cmpd="sng" algn="ctr">
                      <a:solidFill>
                        <a:srgbClr val="C9D2DB"/>
                      </a:solidFill>
                      <a:prstDash val="solid"/>
                      <a:round/>
                      <a:headEnd type="none" w="med" len="med"/>
                      <a:tailEnd type="none" w="med" len="med"/>
                    </a:lnL>
                    <a:lnR w="6350" cap="flat" cmpd="sng" algn="ctr">
                      <a:solidFill>
                        <a:srgbClr val="C9D2DB"/>
                      </a:solidFill>
                      <a:prstDash val="solid"/>
                      <a:round/>
                      <a:headEnd type="none" w="med" len="med"/>
                      <a:tailEnd type="none" w="med" len="med"/>
                    </a:lnR>
                    <a:lnT w="6350" cap="flat" cmpd="sng" algn="ctr">
                      <a:solidFill>
                        <a:srgbClr val="C9D2DB"/>
                      </a:solidFill>
                      <a:prstDash val="solid"/>
                      <a:round/>
                      <a:headEnd type="none" w="med" len="med"/>
                      <a:tailEnd type="none" w="med" len="med"/>
                    </a:lnT>
                    <a:lnB w="6350" cap="flat" cmpd="sng" algn="ctr">
                      <a:solidFill>
                        <a:srgbClr val="C9D2DB"/>
                      </a:solidFill>
                      <a:prstDash val="solid"/>
                      <a:round/>
                      <a:headEnd type="none" w="med" len="med"/>
                      <a:tailEnd type="none" w="med" len="med"/>
                    </a:lnB>
                  </a:tcPr>
                </a:tc>
                <a:tc>
                  <a:txBody>
                    <a:bodyPr/>
                    <a:lstStyle/>
                    <a:p>
                      <a:pPr indent="0" marL="0">
                        <a:buNone/>
                      </a:pPr>
                      <a:r>
                        <a:rPr lang="en-US" sz="1400" dirty="0">
                          <a:solidFill>
                            <a:srgbClr val="1D2B3A"/>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lnL w="6350" cap="flat" cmpd="sng" algn="ctr">
                      <a:solidFill>
                        <a:srgbClr val="C9D2DB"/>
                      </a:solidFill>
                      <a:prstDash val="solid"/>
                      <a:round/>
                      <a:headEnd type="none" w="med" len="med"/>
                      <a:tailEnd type="none" w="med" len="med"/>
                    </a:lnL>
                    <a:lnR w="6350" cap="flat" cmpd="sng" algn="ctr">
                      <a:solidFill>
                        <a:srgbClr val="C9D2DB"/>
                      </a:solidFill>
                      <a:prstDash val="solid"/>
                      <a:round/>
                      <a:headEnd type="none" w="med" len="med"/>
                      <a:tailEnd type="none" w="med" len="med"/>
                    </a:lnR>
                    <a:lnT w="6350" cap="flat" cmpd="sng" algn="ctr">
                      <a:solidFill>
                        <a:srgbClr val="C9D2DB"/>
                      </a:solidFill>
                      <a:prstDash val="solid"/>
                      <a:round/>
                      <a:headEnd type="none" w="med" len="med"/>
                      <a:tailEnd type="none" w="med" len="med"/>
                    </a:lnT>
                    <a:lnB w="6350" cap="flat" cmpd="sng" algn="ctr">
                      <a:solidFill>
                        <a:srgbClr val="C9D2DB"/>
                      </a:solidFill>
                      <a:prstDash val="solid"/>
                      <a:round/>
                      <a:headEnd type="none" w="med" len="med"/>
                      <a:tailEnd type="none" w="med" len="med"/>
                    </a:lnB>
                  </a:tcPr>
                </a:tc>
              </a:tr>
              <a:tr h="384048">
                <a:tc>
                  <a:txBody>
                    <a:bodyPr/>
                    <a:lstStyle/>
                    <a:p>
                      <a:pPr indent="0" marL="0">
                        <a:buNone/>
                      </a:pPr>
                      <a:r>
                        <a:rPr lang="en-US" sz="1400" dirty="0">
                          <a:solidFill>
                            <a:srgbClr val="1D2B3A"/>
                          </a:solidFill>
                          <a:latin typeface="Calibri" pitchFamily="34" charset="0"/>
                          <a:ea typeface="Calibri" pitchFamily="34" charset="-122"/>
                          <a:cs typeface="Calibri" pitchFamily="34" charset="-120"/>
                        </a:rPr>
                        <a:t>ambiguë</a:t>
                      </a:r>
                      <a:endParaRPr lang="en-US" sz="1400" dirty="0">
                        <a:latin typeface="Calibri" charset="0"/>
                        <a:ea typeface="Calibri" charset="0"/>
                        <a:cs typeface="Calibri" charset="0"/>
                      </a:endParaRPr>
                    </a:p>
                  </a:txBody>
                  <a:tcPr marL="91440" marR="91440" marT="45720" marB="45720">
                    <a:lnL w="6350" cap="flat" cmpd="sng" algn="ctr">
                      <a:solidFill>
                        <a:srgbClr val="C9D2DB"/>
                      </a:solidFill>
                      <a:prstDash val="solid"/>
                      <a:round/>
                      <a:headEnd type="none" w="med" len="med"/>
                      <a:tailEnd type="none" w="med" len="med"/>
                    </a:lnL>
                    <a:lnR w="6350" cap="flat" cmpd="sng" algn="ctr">
                      <a:solidFill>
                        <a:srgbClr val="C9D2DB"/>
                      </a:solidFill>
                      <a:prstDash val="solid"/>
                      <a:round/>
                      <a:headEnd type="none" w="med" len="med"/>
                      <a:tailEnd type="none" w="med" len="med"/>
                    </a:lnR>
                    <a:lnT w="6350" cap="flat" cmpd="sng" algn="ctr">
                      <a:solidFill>
                        <a:srgbClr val="C9D2DB"/>
                      </a:solidFill>
                      <a:prstDash val="solid"/>
                      <a:round/>
                      <a:headEnd type="none" w="med" len="med"/>
                      <a:tailEnd type="none" w="med" len="med"/>
                    </a:lnT>
                    <a:lnB w="6350" cap="flat" cmpd="sng" algn="ctr">
                      <a:solidFill>
                        <a:srgbClr val="C9D2DB"/>
                      </a:solidFill>
                      <a:prstDash val="solid"/>
                      <a:round/>
                      <a:headEnd type="none" w="med" len="med"/>
                      <a:tailEnd type="none" w="med" len="med"/>
                    </a:lnB>
                  </a:tcPr>
                </a:tc>
                <a:tc>
                  <a:txBody>
                    <a:bodyPr/>
                    <a:lstStyle/>
                    <a:p>
                      <a:pPr indent="0" marL="0">
                        <a:buNone/>
                      </a:pPr>
                      <a:r>
                        <a:rPr lang="en-US" sz="1400" dirty="0">
                          <a:solidFill>
                            <a:srgbClr val="1D2B3A"/>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91440" marR="91440" marT="45720" marB="45720">
                    <a:lnL w="6350" cap="flat" cmpd="sng" algn="ctr">
                      <a:solidFill>
                        <a:srgbClr val="C9D2DB"/>
                      </a:solidFill>
                      <a:prstDash val="solid"/>
                      <a:round/>
                      <a:headEnd type="none" w="med" len="med"/>
                      <a:tailEnd type="none" w="med" len="med"/>
                    </a:lnL>
                    <a:lnR w="6350" cap="flat" cmpd="sng" algn="ctr">
                      <a:solidFill>
                        <a:srgbClr val="C9D2DB"/>
                      </a:solidFill>
                      <a:prstDash val="solid"/>
                      <a:round/>
                      <a:headEnd type="none" w="med" len="med"/>
                      <a:tailEnd type="none" w="med" len="med"/>
                    </a:lnR>
                    <a:lnT w="6350" cap="flat" cmpd="sng" algn="ctr">
                      <a:solidFill>
                        <a:srgbClr val="C9D2DB"/>
                      </a:solidFill>
                      <a:prstDash val="solid"/>
                      <a:round/>
                      <a:headEnd type="none" w="med" len="med"/>
                      <a:tailEnd type="none" w="med" len="med"/>
                    </a:lnT>
                    <a:lnB w="6350" cap="flat" cmpd="sng" algn="ctr">
                      <a:solidFill>
                        <a:srgbClr val="C9D2DB"/>
                      </a:solidFill>
                      <a:prstDash val="solid"/>
                      <a:round/>
                      <a:headEnd type="none" w="med" len="med"/>
                      <a:tailEnd type="none" w="med" len="med"/>
                    </a:lnB>
                  </a:tcPr>
                </a:tc>
                <a:tc>
                  <a:txBody>
                    <a:bodyPr/>
                    <a:lstStyle/>
                    <a:p>
                      <a:pPr indent="0" marL="0">
                        <a:buNone/>
                      </a:pPr>
                      <a:r>
                        <a:rPr lang="en-US" sz="1400" dirty="0">
                          <a:solidFill>
                            <a:srgbClr val="1D2B3A"/>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lnL w="6350" cap="flat" cmpd="sng" algn="ctr">
                      <a:solidFill>
                        <a:srgbClr val="C9D2DB"/>
                      </a:solidFill>
                      <a:prstDash val="solid"/>
                      <a:round/>
                      <a:headEnd type="none" w="med" len="med"/>
                      <a:tailEnd type="none" w="med" len="med"/>
                    </a:lnL>
                    <a:lnR w="6350" cap="flat" cmpd="sng" algn="ctr">
                      <a:solidFill>
                        <a:srgbClr val="C9D2DB"/>
                      </a:solidFill>
                      <a:prstDash val="solid"/>
                      <a:round/>
                      <a:headEnd type="none" w="med" len="med"/>
                      <a:tailEnd type="none" w="med" len="med"/>
                    </a:lnR>
                    <a:lnT w="6350" cap="flat" cmpd="sng" algn="ctr">
                      <a:solidFill>
                        <a:srgbClr val="C9D2DB"/>
                      </a:solidFill>
                      <a:prstDash val="solid"/>
                      <a:round/>
                      <a:headEnd type="none" w="med" len="med"/>
                      <a:tailEnd type="none" w="med" len="med"/>
                    </a:lnT>
                    <a:lnB w="6350" cap="flat" cmpd="sng" algn="ctr">
                      <a:solidFill>
                        <a:srgbClr val="C9D2DB"/>
                      </a:solidFill>
                      <a:prstDash val="solid"/>
                      <a:round/>
                      <a:headEnd type="none" w="med" len="med"/>
                      <a:tailEnd type="none" w="med" len="med"/>
                    </a:lnB>
                  </a:tcPr>
                </a:tc>
              </a:tr>
            </a:tbl>
          </a:graphicData>
        </a:graphic>
      </p:graphicFrame>
      <p:sp>
        <p:nvSpPr>
          <p:cNvPr id="23" name="Text 17"/>
          <p:cNvSpPr txBox="1"/>
          <p:nvPr/>
        </p:nvSpPr>
        <p:spPr>
          <a:xfrm>
            <a:off x="8001000" y="4434840"/>
            <a:ext cx="3657600" cy="1097280"/>
          </a:xfrm>
          <a:prstGeom prst="rect">
            <a:avLst/>
          </a:prstGeom>
          <a:noFill/>
          <a:ln/>
        </p:spPr>
        <p:txBody>
          <a:bodyPr wrap="square" lIns="0" tIns="0" rIns="0" bIns="0" rtlCol="0" anchor="t"/>
          <a:lstStyle/>
          <a:p>
            <a:pPr indent="0" marL="0">
              <a:buNone/>
            </a:pPr>
            <a:r>
              <a:rPr lang="en-US" sz="1400" i="1" dirty="0">
                <a:solidFill>
                  <a:schemeClr val="tx2"/>
                </a:solidFill>
              </a:rPr>
              <a:t>Le graphe seul est excellent sur le relationnel mais dégrade le factuel : le routage dose son poids.</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Un workflow qui vérifie avant et après la génération</a:t>
            </a:r>
            <a:endParaRPr lang="en-US" sz="3000" dirty="0"/>
          </a:p>
        </p:txBody>
      </p:sp>
      <p:sp>
        <p:nvSpPr>
          <p:cNvPr id="3" name="workflow LangGraph cadre"/>
          <p:cNvSpPr/>
          <p:nvPr/>
        </p:nvSpPr>
        <p:spPr>
          <a:xfrm>
            <a:off x="512064" y="1335024"/>
            <a:ext cx="7296912" cy="3496735"/>
          </a:xfrm>
          <a:prstGeom prst="rect">
            <a:avLst/>
          </a:prstGeom>
          <a:solidFill>
            <a:schemeClr val="bg1"/>
          </a:solidFill>
          <a:ln w="9525">
            <a:solidFill>
              <a:schemeClr val="accent3"/>
            </a:solidFill>
            <a:prstDash val="solid"/>
          </a:ln>
          <a:effectLst>
            <a:outerShdw sx="100000" sy="100000" kx="0" ky="0" algn="bl" rotWithShape="0" blurRad="76200" dist="25400" dir="5400000">
              <a:srgbClr val="1D2B3A">
                <a:alpha val="18000"/>
              </a:srgbClr>
            </a:outerShdw>
          </a:effectLst>
        </p:spPr>
      </p:sp>
      <p:pic>
        <p:nvPicPr>
          <p:cNvPr id="4" name="workflow LangGraph" descr="workflow LangGraph">    </p:cNvPr>
          <p:cNvPicPr>
            <a:picLocks noChangeAspect="1"/>
          </p:cNvPicPr>
          <p:nvPr/>
        </p:nvPicPr>
        <p:blipFill>
          <a:blip r:embed="rId1"/>
          <a:stretch>
            <a:fillRect/>
          </a:stretch>
        </p:blipFill>
        <p:spPr>
          <a:xfrm>
            <a:off x="548640" y="1371600"/>
            <a:ext cx="7223760" cy="3423583"/>
          </a:xfrm>
          <a:prstGeom prst="rect">
            <a:avLst/>
          </a:prstGeom>
        </p:spPr>
      </p:pic>
      <p:sp>
        <p:nvSpPr>
          <p:cNvPr id="5" name="Text 2"/>
          <p:cNvSpPr txBox="1"/>
          <p:nvPr/>
        </p:nvSpPr>
        <p:spPr>
          <a:xfrm>
            <a:off x="548640" y="5029200"/>
            <a:ext cx="7223760" cy="822960"/>
          </a:xfrm>
          <a:prstGeom prst="rect">
            <a:avLst/>
          </a:prstGeom>
          <a:noFill/>
          <a:ln/>
        </p:spPr>
        <p:txBody>
          <a:bodyPr wrap="square" lIns="0" tIns="0" rIns="0" bIns="0" rtlCol="0" anchor="t"/>
          <a:lstStyle/>
          <a:p>
            <a:pPr indent="0" marL="0">
              <a:buNone/>
            </a:pPr>
            <a:r>
              <a:rPr lang="en-US" sz="1400" i="1" dirty="0">
                <a:solidFill>
                  <a:schemeClr val="tx2"/>
                </a:solidFill>
              </a:rPr>
              <a:t>LangGraph comme automate à états : le LLM, s'il est configuré, n'intervient que dans la génération et ne choisit jamais l'étape suivante.</a:t>
            </a:r>
            <a:endParaRPr lang="en-US" sz="1400" dirty="0"/>
          </a:p>
        </p:txBody>
      </p:sp>
      <p:sp>
        <p:nvSpPr>
          <p:cNvPr id="6" name="Suffisance cercle"/>
          <p:cNvSpPr/>
          <p:nvPr/>
        </p:nvSpPr>
        <p:spPr>
          <a:xfrm>
            <a:off x="8183880" y="1417320"/>
            <a:ext cx="566928" cy="566928"/>
          </a:xfrm>
          <a:prstGeom prst="ellipse">
            <a:avLst/>
          </a:prstGeom>
          <a:solidFill>
            <a:schemeClr val="accent2"/>
          </a:solidFill>
          <a:ln w="12700">
            <a:solidFill>
              <a:schemeClr val="accent2"/>
            </a:solidFill>
            <a:prstDash val="solid"/>
          </a:ln>
        </p:spPr>
      </p:sp>
      <p:pic>
        <p:nvPicPr>
          <p:cNvPr id="7" name="Suffisance icône" descr="Suffisance">    </p:cNvPr>
          <p:cNvPicPr>
            <a:picLocks noChangeAspect="1"/>
          </p:cNvPicPr>
          <p:nvPr/>
        </p:nvPicPr>
        <p:blipFill>
          <a:blip r:embed="rId2"/>
          <a:stretch>
            <a:fillRect/>
          </a:stretch>
        </p:blipFill>
        <p:spPr>
          <a:xfrm>
            <a:off x="8325612" y="1559052"/>
            <a:ext cx="283464" cy="283464"/>
          </a:xfrm>
          <a:prstGeom prst="rect">
            <a:avLst/>
          </a:prstGeom>
        </p:spPr>
      </p:pic>
      <p:sp>
        <p:nvSpPr>
          <p:cNvPr id="8" name="Text 4"/>
          <p:cNvSpPr txBox="1"/>
          <p:nvPr/>
        </p:nvSpPr>
        <p:spPr>
          <a:xfrm>
            <a:off x="8915400" y="1417320"/>
            <a:ext cx="2743200" cy="411480"/>
          </a:xfrm>
          <a:prstGeom prst="rect">
            <a:avLst/>
          </a:prstGeom>
          <a:noFill/>
          <a:ln/>
        </p:spPr>
        <p:txBody>
          <a:bodyPr wrap="square" lIns="0" tIns="0" rIns="0" bIns="0" rtlCol="0" anchor="t"/>
          <a:lstStyle/>
          <a:p>
            <a:pPr indent="0" marL="0">
              <a:buNone/>
            </a:pPr>
            <a:r>
              <a:rPr lang="en-US" sz="1700" b="1" dirty="0">
                <a:solidFill>
                  <a:schemeClr val="tx1"/>
                </a:solidFill>
              </a:rPr>
              <a:t>Suffisance</a:t>
            </a:r>
            <a:endParaRPr lang="en-US" sz="1700" dirty="0"/>
          </a:p>
        </p:txBody>
      </p:sp>
      <p:sp>
        <p:nvSpPr>
          <p:cNvPr id="9" name="Text 5"/>
          <p:cNvSpPr txBox="1"/>
          <p:nvPr/>
        </p:nvSpPr>
        <p:spPr>
          <a:xfrm>
            <a:off x="8915400" y="1828800"/>
            <a:ext cx="2743200" cy="960120"/>
          </a:xfrm>
          <a:prstGeom prst="rect">
            <a:avLst/>
          </a:prstGeom>
          <a:noFill/>
          <a:ln/>
        </p:spPr>
        <p:txBody>
          <a:bodyPr wrap="square" lIns="0" tIns="0" rIns="0" bIns="0" rtlCol="0" anchor="t"/>
          <a:lstStyle/>
          <a:p>
            <a:pPr indent="0" marL="0">
              <a:buNone/>
            </a:pPr>
            <a:r>
              <a:rPr lang="en-US" sz="1300" dirty="0">
                <a:solidFill>
                  <a:schemeClr val="tx2"/>
                </a:solidFill>
              </a:rPr>
              <a:t>couverture des termes pondérée par l'IDF (seuil 0,55), entités, valeur chiffrée</a:t>
            </a:r>
            <a:endParaRPr lang="en-US" sz="1300" dirty="0"/>
          </a:p>
        </p:txBody>
      </p:sp>
      <p:sp>
        <p:nvSpPr>
          <p:cNvPr id="10" name="Une relance au plus cercle"/>
          <p:cNvSpPr/>
          <p:nvPr/>
        </p:nvSpPr>
        <p:spPr>
          <a:xfrm>
            <a:off x="8183880" y="2880360"/>
            <a:ext cx="566928" cy="566928"/>
          </a:xfrm>
          <a:prstGeom prst="ellipse">
            <a:avLst/>
          </a:prstGeom>
          <a:solidFill>
            <a:schemeClr val="accent2"/>
          </a:solidFill>
          <a:ln w="12700">
            <a:solidFill>
              <a:schemeClr val="accent2"/>
            </a:solidFill>
            <a:prstDash val="solid"/>
          </a:ln>
        </p:spPr>
      </p:sp>
      <p:pic>
        <p:nvPicPr>
          <p:cNvPr id="11" name="Une relance au plus icône" descr="Une relance au plus">    </p:cNvPr>
          <p:cNvPicPr>
            <a:picLocks noChangeAspect="1"/>
          </p:cNvPicPr>
          <p:nvPr/>
        </p:nvPicPr>
        <p:blipFill>
          <a:blip r:embed="rId3"/>
          <a:stretch>
            <a:fillRect/>
          </a:stretch>
        </p:blipFill>
        <p:spPr>
          <a:xfrm>
            <a:off x="8325612" y="3022092"/>
            <a:ext cx="283464" cy="283464"/>
          </a:xfrm>
          <a:prstGeom prst="rect">
            <a:avLst/>
          </a:prstGeom>
        </p:spPr>
      </p:pic>
      <p:sp>
        <p:nvSpPr>
          <p:cNvPr id="12" name="Text 7"/>
          <p:cNvSpPr txBox="1"/>
          <p:nvPr/>
        </p:nvSpPr>
        <p:spPr>
          <a:xfrm>
            <a:off x="8915400" y="2880360"/>
            <a:ext cx="2743200" cy="411480"/>
          </a:xfrm>
          <a:prstGeom prst="rect">
            <a:avLst/>
          </a:prstGeom>
          <a:noFill/>
          <a:ln/>
        </p:spPr>
        <p:txBody>
          <a:bodyPr wrap="square" lIns="0" tIns="0" rIns="0" bIns="0" rtlCol="0" anchor="t"/>
          <a:lstStyle/>
          <a:p>
            <a:pPr indent="0" marL="0">
              <a:buNone/>
            </a:pPr>
            <a:r>
              <a:rPr lang="en-US" sz="1700" b="1" dirty="0">
                <a:solidFill>
                  <a:schemeClr val="tx1"/>
                </a:solidFill>
              </a:rPr>
              <a:t>Une relance au plus</a:t>
            </a:r>
            <a:endParaRPr lang="en-US" sz="1700" dirty="0"/>
          </a:p>
        </p:txBody>
      </p:sp>
      <p:sp>
        <p:nvSpPr>
          <p:cNvPr id="13" name="Text 8"/>
          <p:cNvSpPr txBox="1"/>
          <p:nvPr/>
        </p:nvSpPr>
        <p:spPr>
          <a:xfrm>
            <a:off x="8915400" y="3291840"/>
            <a:ext cx="2743200" cy="960120"/>
          </a:xfrm>
          <a:prstGeom prst="rect">
            <a:avLst/>
          </a:prstGeom>
          <a:noFill/>
          <a:ln/>
        </p:spPr>
        <p:txBody>
          <a:bodyPr wrap="square" lIns="0" tIns="0" rIns="0" bIns="0" rtlCol="0" anchor="t"/>
          <a:lstStyle/>
          <a:p>
            <a:pPr indent="0" marL="0">
              <a:buNone/>
            </a:pPr>
            <a:r>
              <a:rPr lang="en-US" sz="1300" dirty="0">
                <a:solidFill>
                  <a:schemeClr val="tx2"/>
                </a:solidFill>
              </a:rPr>
              <a:t>graines et termes enrichis, puis génération ou abstention</a:t>
            </a:r>
            <a:endParaRPr lang="en-US" sz="1300" dirty="0"/>
          </a:p>
        </p:txBody>
      </p:sp>
      <p:sp>
        <p:nvSpPr>
          <p:cNvPr id="14" name="Vérification cercle"/>
          <p:cNvSpPr/>
          <p:nvPr/>
        </p:nvSpPr>
        <p:spPr>
          <a:xfrm>
            <a:off x="8183880" y="4343400"/>
            <a:ext cx="566928" cy="566928"/>
          </a:xfrm>
          <a:prstGeom prst="ellipse">
            <a:avLst/>
          </a:prstGeom>
          <a:solidFill>
            <a:schemeClr val="accent1"/>
          </a:solidFill>
          <a:ln w="12700">
            <a:solidFill>
              <a:schemeClr val="accent1"/>
            </a:solidFill>
            <a:prstDash val="solid"/>
          </a:ln>
        </p:spPr>
      </p:sp>
      <p:pic>
        <p:nvPicPr>
          <p:cNvPr id="15" name="Vérification icône" descr="Vérification">    </p:cNvPr>
          <p:cNvPicPr>
            <a:picLocks noChangeAspect="1"/>
          </p:cNvPicPr>
          <p:nvPr/>
        </p:nvPicPr>
        <p:blipFill>
          <a:blip r:embed="rId4"/>
          <a:stretch>
            <a:fillRect/>
          </a:stretch>
        </p:blipFill>
        <p:spPr>
          <a:xfrm>
            <a:off x="8325612" y="4485132"/>
            <a:ext cx="283464" cy="283464"/>
          </a:xfrm>
          <a:prstGeom prst="rect">
            <a:avLst/>
          </a:prstGeom>
        </p:spPr>
      </p:pic>
      <p:sp>
        <p:nvSpPr>
          <p:cNvPr id="16" name="Text 10"/>
          <p:cNvSpPr txBox="1"/>
          <p:nvPr/>
        </p:nvSpPr>
        <p:spPr>
          <a:xfrm>
            <a:off x="8915400" y="4343400"/>
            <a:ext cx="2743200" cy="411480"/>
          </a:xfrm>
          <a:prstGeom prst="rect">
            <a:avLst/>
          </a:prstGeom>
          <a:noFill/>
          <a:ln/>
        </p:spPr>
        <p:txBody>
          <a:bodyPr wrap="square" lIns="0" tIns="0" rIns="0" bIns="0" rtlCol="0" anchor="t"/>
          <a:lstStyle/>
          <a:p>
            <a:pPr indent="0" marL="0">
              <a:buNone/>
            </a:pPr>
            <a:r>
              <a:rPr lang="en-US" sz="1700" b="1" dirty="0">
                <a:solidFill>
                  <a:schemeClr val="tx1"/>
                </a:solidFill>
              </a:rPr>
              <a:t>Vérification</a:t>
            </a:r>
            <a:endParaRPr lang="en-US" sz="1700" dirty="0"/>
          </a:p>
        </p:txBody>
      </p:sp>
      <p:sp>
        <p:nvSpPr>
          <p:cNvPr id="17" name="Text 11"/>
          <p:cNvSpPr txBox="1"/>
          <p:nvPr/>
        </p:nvSpPr>
        <p:spPr>
          <a:xfrm>
            <a:off x="8915400" y="4754880"/>
            <a:ext cx="2743200" cy="960120"/>
          </a:xfrm>
          <a:prstGeom prst="rect">
            <a:avLst/>
          </a:prstGeom>
          <a:noFill/>
          <a:ln/>
        </p:spPr>
        <p:txBody>
          <a:bodyPr wrap="square" lIns="0" tIns="0" rIns="0" bIns="0" rtlCol="0" anchor="t"/>
          <a:lstStyle/>
          <a:p>
            <a:pPr indent="0" marL="0">
              <a:buNone/>
            </a:pPr>
            <a:r>
              <a:rPr lang="en-US" sz="1300" dirty="0">
                <a:solidFill>
                  <a:schemeClr val="tx2"/>
                </a:solidFill>
              </a:rPr>
              <a:t>citations réelles, phrases appuyées, liens et HTML retirés</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Sécurité : filtrer avant de chercher</a:t>
            </a:r>
            <a:endParaRPr lang="en-US" sz="3000" dirty="0"/>
          </a:p>
        </p:txBody>
      </p:sp>
      <p:sp>
        <p:nvSpPr>
          <p:cNvPr id="3" name="capture abstention collaborateur cadre"/>
          <p:cNvSpPr/>
          <p:nvPr/>
        </p:nvSpPr>
        <p:spPr>
          <a:xfrm>
            <a:off x="512064" y="1289304"/>
            <a:ext cx="5422392" cy="3384586"/>
          </a:xfrm>
          <a:prstGeom prst="rect">
            <a:avLst/>
          </a:prstGeom>
          <a:solidFill>
            <a:schemeClr val="bg1"/>
          </a:solidFill>
          <a:ln w="9525">
            <a:solidFill>
              <a:schemeClr val="accent3"/>
            </a:solidFill>
            <a:prstDash val="solid"/>
          </a:ln>
          <a:effectLst>
            <a:outerShdw sx="100000" sy="100000" kx="0" ky="0" algn="bl" rotWithShape="0" blurRad="76200" dist="25400" dir="5400000">
              <a:srgbClr val="1D2B3A">
                <a:alpha val="18000"/>
              </a:srgbClr>
            </a:outerShdw>
          </a:effectLst>
        </p:spPr>
      </p:sp>
      <p:pic>
        <p:nvPicPr>
          <p:cNvPr id="4" name="capture abstention collaborateur" descr="capture abstention collaborateur">    </p:cNvPr>
          <p:cNvPicPr>
            <a:picLocks noChangeAspect="1"/>
          </p:cNvPicPr>
          <p:nvPr/>
        </p:nvPicPr>
        <p:blipFill>
          <a:blip r:embed="rId1"/>
          <a:stretch>
            <a:fillRect/>
          </a:stretch>
        </p:blipFill>
        <p:spPr>
          <a:xfrm>
            <a:off x="548640" y="1325880"/>
            <a:ext cx="5349240" cy="3311434"/>
          </a:xfrm>
          <a:prstGeom prst="rect">
            <a:avLst/>
          </a:prstGeom>
        </p:spPr>
      </p:pic>
      <p:sp>
        <p:nvSpPr>
          <p:cNvPr id="5" name="capture réponse ingénieur DSI cadre"/>
          <p:cNvSpPr/>
          <p:nvPr/>
        </p:nvSpPr>
        <p:spPr>
          <a:xfrm>
            <a:off x="6135624" y="1289304"/>
            <a:ext cx="5422392" cy="3384586"/>
          </a:xfrm>
          <a:prstGeom prst="rect">
            <a:avLst/>
          </a:prstGeom>
          <a:solidFill>
            <a:schemeClr val="bg1"/>
          </a:solidFill>
          <a:ln w="9525">
            <a:solidFill>
              <a:schemeClr val="accent3"/>
            </a:solidFill>
            <a:prstDash val="solid"/>
          </a:ln>
          <a:effectLst>
            <a:outerShdw sx="100000" sy="100000" kx="0" ky="0" algn="bl" rotWithShape="0" blurRad="76200" dist="25400" dir="5400000">
              <a:srgbClr val="1D2B3A">
                <a:alpha val="18000"/>
              </a:srgbClr>
            </a:outerShdw>
          </a:effectLst>
        </p:spPr>
      </p:sp>
      <p:pic>
        <p:nvPicPr>
          <p:cNvPr id="6" name="capture réponse ingénieur DSI" descr="capture réponse ingénieur DSI">    </p:cNvPr>
          <p:cNvPicPr>
            <a:picLocks noChangeAspect="1"/>
          </p:cNvPicPr>
          <p:nvPr/>
        </p:nvPicPr>
        <p:blipFill>
          <a:blip r:embed="rId2"/>
          <a:stretch>
            <a:fillRect/>
          </a:stretch>
        </p:blipFill>
        <p:spPr>
          <a:xfrm>
            <a:off x="6172200" y="1325880"/>
            <a:ext cx="5349240" cy="3311434"/>
          </a:xfrm>
          <a:prstGeom prst="rect">
            <a:avLst/>
          </a:prstGeom>
        </p:spPr>
      </p:pic>
      <p:sp>
        <p:nvSpPr>
          <p:cNvPr id="7" name="Text 3"/>
          <p:cNvSpPr txBox="1"/>
          <p:nvPr/>
        </p:nvSpPr>
        <p:spPr>
          <a:xfrm>
            <a:off x="548640" y="4774474"/>
            <a:ext cx="5349240" cy="502920"/>
          </a:xfrm>
          <a:prstGeom prst="rect">
            <a:avLst/>
          </a:prstGeom>
          <a:noFill/>
          <a:ln/>
        </p:spPr>
        <p:txBody>
          <a:bodyPr wrap="square" lIns="0" tIns="0" rIns="0" bIns="0" rtlCol="0" anchor="t"/>
          <a:lstStyle/>
          <a:p>
            <a:pPr indent="0" marL="0">
              <a:buNone/>
            </a:pPr>
            <a:r>
              <a:rPr lang="en-US" sz="1400" b="1" dirty="0">
                <a:solidFill>
                  <a:schemeClr val="tx1"/>
                </a:solidFill>
              </a:rPr>
              <a:t>Compte « collaborateur » : </a:t>
            </a:r>
            <a:pPr indent="0" marL="0">
              <a:buNone/>
            </a:pPr>
            <a:r>
              <a:rPr lang="en-US" sz="1400" dirty="0">
                <a:solidFill>
                  <a:schemeClr val="tx1"/>
                </a:solidFill>
              </a:rPr>
              <a:t>abstention, sans révéler l'existence du plan de continuité</a:t>
            </a:r>
            <a:endParaRPr lang="en-US" sz="1400" dirty="0"/>
          </a:p>
        </p:txBody>
      </p:sp>
      <p:sp>
        <p:nvSpPr>
          <p:cNvPr id="8" name="Text 4"/>
          <p:cNvSpPr txBox="1"/>
          <p:nvPr/>
        </p:nvSpPr>
        <p:spPr>
          <a:xfrm>
            <a:off x="6172200" y="4774474"/>
            <a:ext cx="5349240" cy="502920"/>
          </a:xfrm>
          <a:prstGeom prst="rect">
            <a:avLst/>
          </a:prstGeom>
          <a:noFill/>
          <a:ln/>
        </p:spPr>
        <p:txBody>
          <a:bodyPr wrap="square" lIns="0" tIns="0" rIns="0" bIns="0" rtlCol="0" anchor="t"/>
          <a:lstStyle/>
          <a:p>
            <a:pPr indent="0" marL="0">
              <a:buNone/>
            </a:pPr>
            <a:r>
              <a:rPr lang="en-US" sz="1400" b="1" dirty="0">
                <a:solidFill>
                  <a:schemeClr val="tx1"/>
                </a:solidFill>
              </a:rPr>
              <a:t>Compte « ingenieur.dsi » : </a:t>
            </a:r>
            <a:pPr indent="0" marL="0">
              <a:buNone/>
            </a:pPr>
            <a:r>
              <a:rPr lang="en-US" sz="1400" dirty="0">
                <a:solidFill>
                  <a:schemeClr val="tx1"/>
                </a:solidFill>
              </a:rPr>
              <a:t>« RTO : 4 heures », avec sa source</a:t>
            </a:r>
            <a:endParaRPr lang="en-US" sz="1400" dirty="0"/>
          </a:p>
        </p:txBody>
      </p:sp>
      <p:sp>
        <p:nvSpPr>
          <p:cNvPr id="9" name="bandeau sécurité"/>
          <p:cNvSpPr/>
          <p:nvPr/>
        </p:nvSpPr>
        <p:spPr>
          <a:xfrm>
            <a:off x="548640" y="5532120"/>
            <a:ext cx="11094415" cy="548640"/>
          </a:xfrm>
          <a:prstGeom prst="roundRect">
            <a:avLst>
              <a:gd name="adj" fmla="val 13333"/>
            </a:avLst>
          </a:prstGeom>
          <a:solidFill>
            <a:schemeClr val="bg2"/>
          </a:solidFill>
          <a:ln w="12700">
            <a:solidFill>
              <a:schemeClr val="bg2"/>
            </a:solidFill>
            <a:prstDash val="solid"/>
          </a:ln>
        </p:spPr>
      </p:sp>
      <p:sp>
        <p:nvSpPr>
          <p:cNvPr id="10" name="Text 6"/>
          <p:cNvSpPr txBox="1"/>
          <p:nvPr/>
        </p:nvSpPr>
        <p:spPr>
          <a:xfrm>
            <a:off x="777240" y="5532120"/>
            <a:ext cx="10637215" cy="548640"/>
          </a:xfrm>
          <a:prstGeom prst="rect">
            <a:avLst/>
          </a:prstGeom>
          <a:noFill/>
          <a:ln/>
        </p:spPr>
        <p:txBody>
          <a:bodyPr wrap="square" lIns="0" tIns="0" rIns="0" bIns="0" rtlCol="0" anchor="ctr"/>
          <a:lstStyle/>
          <a:p>
            <a:pPr indent="0" marL="0">
              <a:buNone/>
            </a:pPr>
            <a:r>
              <a:rPr lang="en-US" sz="1500" b="1" dirty="0">
                <a:solidFill>
                  <a:schemeClr val="accent2"/>
                </a:solidFill>
              </a:rPr>
              <a:t>0 fuite d'accès sur toutes les stratégies · mémo piégé mis en quarantaine dès l'ingestion · requêtes Cypher paramétrées</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Démonstration : relations citées et contradictions signalées</a:t>
            </a:r>
            <a:endParaRPr lang="en-US" sz="3000" dirty="0"/>
          </a:p>
        </p:txBody>
      </p:sp>
      <p:sp>
        <p:nvSpPr>
          <p:cNvPr id="3" name="capture question relationnelle cadre"/>
          <p:cNvSpPr/>
          <p:nvPr/>
        </p:nvSpPr>
        <p:spPr>
          <a:xfrm>
            <a:off x="512064" y="1289304"/>
            <a:ext cx="5422392" cy="3384586"/>
          </a:xfrm>
          <a:prstGeom prst="rect">
            <a:avLst/>
          </a:prstGeom>
          <a:solidFill>
            <a:schemeClr val="bg1"/>
          </a:solidFill>
          <a:ln w="9525">
            <a:solidFill>
              <a:schemeClr val="accent3"/>
            </a:solidFill>
            <a:prstDash val="solid"/>
          </a:ln>
          <a:effectLst>
            <a:outerShdw sx="100000" sy="100000" kx="0" ky="0" algn="bl" rotWithShape="0" blurRad="76200" dist="25400" dir="5400000">
              <a:srgbClr val="1D2B3A">
                <a:alpha val="18000"/>
              </a:srgbClr>
            </a:outerShdw>
          </a:effectLst>
        </p:spPr>
      </p:sp>
      <p:pic>
        <p:nvPicPr>
          <p:cNvPr id="4" name="capture question relationnelle" descr="capture question relationnelle">    </p:cNvPr>
          <p:cNvPicPr>
            <a:picLocks noChangeAspect="1"/>
          </p:cNvPicPr>
          <p:nvPr/>
        </p:nvPicPr>
        <p:blipFill>
          <a:blip r:embed="rId1"/>
          <a:stretch>
            <a:fillRect/>
          </a:stretch>
        </p:blipFill>
        <p:spPr>
          <a:xfrm>
            <a:off x="548640" y="1325880"/>
            <a:ext cx="5349240" cy="3311434"/>
          </a:xfrm>
          <a:prstGeom prst="rect">
            <a:avLst/>
          </a:prstGeom>
        </p:spPr>
      </p:pic>
      <p:sp>
        <p:nvSpPr>
          <p:cNvPr id="5" name="capture contradiction cadre"/>
          <p:cNvSpPr/>
          <p:nvPr/>
        </p:nvSpPr>
        <p:spPr>
          <a:xfrm>
            <a:off x="6135624" y="1289304"/>
            <a:ext cx="5422392" cy="3384586"/>
          </a:xfrm>
          <a:prstGeom prst="rect">
            <a:avLst/>
          </a:prstGeom>
          <a:solidFill>
            <a:schemeClr val="bg1"/>
          </a:solidFill>
          <a:ln w="9525">
            <a:solidFill>
              <a:schemeClr val="accent3"/>
            </a:solidFill>
            <a:prstDash val="solid"/>
          </a:ln>
          <a:effectLst>
            <a:outerShdw sx="100000" sy="100000" kx="0" ky="0" algn="bl" rotWithShape="0" blurRad="76200" dist="25400" dir="5400000">
              <a:srgbClr val="1D2B3A">
                <a:alpha val="18000"/>
              </a:srgbClr>
            </a:outerShdw>
          </a:effectLst>
        </p:spPr>
      </p:sp>
      <p:pic>
        <p:nvPicPr>
          <p:cNvPr id="6" name="capture contradiction" descr="capture contradiction">    </p:cNvPr>
          <p:cNvPicPr>
            <a:picLocks noChangeAspect="1"/>
          </p:cNvPicPr>
          <p:nvPr/>
        </p:nvPicPr>
        <p:blipFill>
          <a:blip r:embed="rId2"/>
          <a:stretch>
            <a:fillRect/>
          </a:stretch>
        </p:blipFill>
        <p:spPr>
          <a:xfrm>
            <a:off x="6172200" y="1325880"/>
            <a:ext cx="5349240" cy="3311434"/>
          </a:xfrm>
          <a:prstGeom prst="rect">
            <a:avLst/>
          </a:prstGeom>
        </p:spPr>
      </p:pic>
      <p:sp>
        <p:nvSpPr>
          <p:cNvPr id="7" name="Text 3"/>
          <p:cNvSpPr txBox="1"/>
          <p:nvPr/>
        </p:nvSpPr>
        <p:spPr>
          <a:xfrm>
            <a:off x="548640" y="4774474"/>
            <a:ext cx="5349240" cy="731520"/>
          </a:xfrm>
          <a:prstGeom prst="rect">
            <a:avLst/>
          </a:prstGeom>
          <a:noFill/>
          <a:ln/>
        </p:spPr>
        <p:txBody>
          <a:bodyPr wrap="square" lIns="0" tIns="0" rIns="0" bIns="0" rtlCol="0" anchor="t"/>
          <a:lstStyle/>
          <a:p>
            <a:pPr indent="0" marL="0">
              <a:buNone/>
            </a:pPr>
            <a:r>
              <a:rPr lang="en-US" sz="1400" b="1" dirty="0">
                <a:solidFill>
                  <a:schemeClr val="tx1"/>
                </a:solidFill>
              </a:rPr>
              <a:t>« Quelles applications dépendent de CoreNova ? » </a:t>
            </a:r>
            <a:pPr indent="0" marL="0">
              <a:buNone/>
            </a:pPr>
            <a:r>
              <a:rPr lang="en-US" sz="1400" dirty="0">
                <a:solidFill>
                  <a:schemeClr val="tx1"/>
                </a:solidFill>
              </a:rPr>
              <a:t>faits du graphe [F] et passages [C], tous cliquables</a:t>
            </a:r>
            <a:endParaRPr lang="en-US" sz="1400" dirty="0"/>
          </a:p>
        </p:txBody>
      </p:sp>
      <p:sp>
        <p:nvSpPr>
          <p:cNvPr id="8" name="Text 4"/>
          <p:cNvSpPr txBox="1"/>
          <p:nvPr/>
        </p:nvSpPr>
        <p:spPr>
          <a:xfrm>
            <a:off x="6172200" y="4774474"/>
            <a:ext cx="5349240" cy="731520"/>
          </a:xfrm>
          <a:prstGeom prst="rect">
            <a:avLst/>
          </a:prstGeom>
          <a:noFill/>
          <a:ln/>
        </p:spPr>
        <p:txBody>
          <a:bodyPr wrap="square" lIns="0" tIns="0" rIns="0" bIns="0" rtlCol="0" anchor="t"/>
          <a:lstStyle/>
          <a:p>
            <a:pPr indent="0" marL="0">
              <a:buNone/>
            </a:pPr>
            <a:r>
              <a:rPr lang="en-US" sz="1400" b="1" dirty="0">
                <a:solidFill>
                  <a:schemeClr val="tx1"/>
                </a:solidFill>
              </a:rPr>
              <a:t>Revue des clients à risque élevé : </a:t>
            </a:r>
            <a:pPr indent="0" marL="0">
              <a:buNone/>
            </a:pPr>
            <a:r>
              <a:rPr lang="en-US" sz="1400" dirty="0">
                <a:solidFill>
                  <a:schemeClr val="tx1"/>
                </a:solidFill>
              </a:rPr>
              <a:t>12 mois selon la procédure en vigueur ; l'outil et l'ancienne version disent 24 mois</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Explorer le graphe, trouver les experts, recommander</a:t>
            </a:r>
            <a:endParaRPr lang="en-US" sz="3000" dirty="0"/>
          </a:p>
        </p:txBody>
      </p:sp>
      <p:sp>
        <p:nvSpPr>
          <p:cNvPr id="3" name="capture Explorateur cadre"/>
          <p:cNvSpPr/>
          <p:nvPr/>
        </p:nvSpPr>
        <p:spPr>
          <a:xfrm>
            <a:off x="512064" y="1380744"/>
            <a:ext cx="3593592" cy="2273427"/>
          </a:xfrm>
          <a:prstGeom prst="rect">
            <a:avLst/>
          </a:prstGeom>
          <a:solidFill>
            <a:schemeClr val="bg1"/>
          </a:solidFill>
          <a:ln w="9525">
            <a:solidFill>
              <a:schemeClr val="accent3"/>
            </a:solidFill>
            <a:prstDash val="solid"/>
          </a:ln>
          <a:effectLst>
            <a:outerShdw sx="100000" sy="100000" kx="0" ky="0" algn="bl" rotWithShape="0" blurRad="76200" dist="25400" dir="5400000">
              <a:srgbClr val="1D2B3A">
                <a:alpha val="18000"/>
              </a:srgbClr>
            </a:outerShdw>
          </a:effectLst>
        </p:spPr>
      </p:sp>
      <p:pic>
        <p:nvPicPr>
          <p:cNvPr id="4" name="capture Explorateur" descr="capture Explorateur">    </p:cNvPr>
          <p:cNvPicPr>
            <a:picLocks noChangeAspect="1"/>
          </p:cNvPicPr>
          <p:nvPr/>
        </p:nvPicPr>
        <p:blipFill>
          <a:blip r:embed="rId1"/>
          <a:stretch>
            <a:fillRect/>
          </a:stretch>
        </p:blipFill>
        <p:spPr>
          <a:xfrm>
            <a:off x="548640" y="1417320"/>
            <a:ext cx="3520440" cy="2200275"/>
          </a:xfrm>
          <a:prstGeom prst="rect">
            <a:avLst/>
          </a:prstGeom>
        </p:spPr>
      </p:pic>
      <p:sp>
        <p:nvSpPr>
          <p:cNvPr id="5" name="Text 2"/>
          <p:cNvSpPr txBox="1"/>
          <p:nvPr/>
        </p:nvSpPr>
        <p:spPr>
          <a:xfrm>
            <a:off x="548640" y="3800475"/>
            <a:ext cx="3520440" cy="411480"/>
          </a:xfrm>
          <a:prstGeom prst="rect">
            <a:avLst/>
          </a:prstGeom>
          <a:noFill/>
          <a:ln/>
        </p:spPr>
        <p:txBody>
          <a:bodyPr wrap="square" lIns="0" tIns="0" rIns="0" bIns="0" rtlCol="0" anchor="t"/>
          <a:lstStyle/>
          <a:p>
            <a:pPr indent="0" marL="0">
              <a:buNone/>
            </a:pPr>
            <a:r>
              <a:rPr lang="en-US" sz="1800" b="1" dirty="0">
                <a:solidFill>
                  <a:schemeClr val="tx1"/>
                </a:solidFill>
              </a:rPr>
              <a:t>Explorateur</a:t>
            </a:r>
            <a:endParaRPr lang="en-US" sz="1800" dirty="0"/>
          </a:p>
        </p:txBody>
      </p:sp>
      <p:sp>
        <p:nvSpPr>
          <p:cNvPr id="6" name="Text 3"/>
          <p:cNvSpPr txBox="1"/>
          <p:nvPr/>
        </p:nvSpPr>
        <p:spPr>
          <a:xfrm>
            <a:off x="548640" y="4211955"/>
            <a:ext cx="3520440" cy="685800"/>
          </a:xfrm>
          <a:prstGeom prst="rect">
            <a:avLst/>
          </a:prstGeom>
          <a:noFill/>
          <a:ln/>
        </p:spPr>
        <p:txBody>
          <a:bodyPr wrap="square" lIns="0" tIns="0" rIns="0" bIns="0" rtlCol="0" anchor="t"/>
          <a:lstStyle/>
          <a:p>
            <a:pPr indent="0" marL="0">
              <a:buNone/>
            </a:pPr>
            <a:r>
              <a:rPr lang="en-US" sz="1400" dirty="0">
                <a:solidFill>
                  <a:schemeClr val="tx2"/>
                </a:solidFill>
              </a:rPr>
              <a:t>voisinage de CoreNova, filtré par les droits</a:t>
            </a:r>
            <a:endParaRPr lang="en-US" sz="1400" dirty="0"/>
          </a:p>
        </p:txBody>
      </p:sp>
      <p:sp>
        <p:nvSpPr>
          <p:cNvPr id="7" name="capture Experts cadre"/>
          <p:cNvSpPr/>
          <p:nvPr/>
        </p:nvSpPr>
        <p:spPr>
          <a:xfrm>
            <a:off x="4306824" y="1380744"/>
            <a:ext cx="3593592" cy="2273427"/>
          </a:xfrm>
          <a:prstGeom prst="rect">
            <a:avLst/>
          </a:prstGeom>
          <a:solidFill>
            <a:schemeClr val="bg1"/>
          </a:solidFill>
          <a:ln w="9525">
            <a:solidFill>
              <a:schemeClr val="accent3"/>
            </a:solidFill>
            <a:prstDash val="solid"/>
          </a:ln>
          <a:effectLst>
            <a:outerShdw sx="100000" sy="100000" kx="0" ky="0" algn="bl" rotWithShape="0" blurRad="76200" dist="25400" dir="5400000">
              <a:srgbClr val="1D2B3A">
                <a:alpha val="18000"/>
              </a:srgbClr>
            </a:outerShdw>
          </a:effectLst>
        </p:spPr>
      </p:sp>
      <p:pic>
        <p:nvPicPr>
          <p:cNvPr id="8" name="capture Experts" descr="capture Experts">    </p:cNvPr>
          <p:cNvPicPr>
            <a:picLocks noChangeAspect="1"/>
          </p:cNvPicPr>
          <p:nvPr/>
        </p:nvPicPr>
        <p:blipFill>
          <a:blip r:embed="rId2"/>
          <a:stretch>
            <a:fillRect/>
          </a:stretch>
        </p:blipFill>
        <p:spPr>
          <a:xfrm>
            <a:off x="4343400" y="1417320"/>
            <a:ext cx="3520440" cy="2200275"/>
          </a:xfrm>
          <a:prstGeom prst="rect">
            <a:avLst/>
          </a:prstGeom>
        </p:spPr>
      </p:pic>
      <p:sp>
        <p:nvSpPr>
          <p:cNvPr id="9" name="Text 5"/>
          <p:cNvSpPr txBox="1"/>
          <p:nvPr/>
        </p:nvSpPr>
        <p:spPr>
          <a:xfrm>
            <a:off x="4343400" y="3800475"/>
            <a:ext cx="3520440" cy="411480"/>
          </a:xfrm>
          <a:prstGeom prst="rect">
            <a:avLst/>
          </a:prstGeom>
          <a:noFill/>
          <a:ln/>
        </p:spPr>
        <p:txBody>
          <a:bodyPr wrap="square" lIns="0" tIns="0" rIns="0" bIns="0" rtlCol="0" anchor="t"/>
          <a:lstStyle/>
          <a:p>
            <a:pPr indent="0" marL="0">
              <a:buNone/>
            </a:pPr>
            <a:r>
              <a:rPr lang="en-US" sz="1800" b="1" dirty="0">
                <a:solidFill>
                  <a:schemeClr val="tx1"/>
                </a:solidFill>
              </a:rPr>
              <a:t>Experts</a:t>
            </a:r>
            <a:endParaRPr lang="en-US" sz="1800" dirty="0"/>
          </a:p>
        </p:txBody>
      </p:sp>
      <p:sp>
        <p:nvSpPr>
          <p:cNvPr id="10" name="Text 6"/>
          <p:cNvSpPr txBox="1"/>
          <p:nvPr/>
        </p:nvSpPr>
        <p:spPr>
          <a:xfrm>
            <a:off x="4343400" y="4211955"/>
            <a:ext cx="3520440" cy="685800"/>
          </a:xfrm>
          <a:prstGeom prst="rect">
            <a:avLst/>
          </a:prstGeom>
          <a:noFill/>
          <a:ln/>
        </p:spPr>
        <p:txBody>
          <a:bodyPr wrap="square" lIns="0" tIns="0" rIns="0" bIns="0" rtlCol="0" anchor="t"/>
          <a:lstStyle/>
          <a:p>
            <a:pPr indent="0" marL="0">
              <a:buNone/>
            </a:pPr>
            <a:r>
              <a:rPr lang="en-US" sz="1400" dirty="0">
                <a:solidFill>
                  <a:schemeClr val="tx2"/>
                </a:solidFill>
              </a:rPr>
              <a:t>classement justifié par des preuves typées (rôle manager)</a:t>
            </a:r>
            <a:endParaRPr lang="en-US" sz="1400" dirty="0"/>
          </a:p>
        </p:txBody>
      </p:sp>
      <p:sp>
        <p:nvSpPr>
          <p:cNvPr id="11" name="capture Recommandations cadre"/>
          <p:cNvSpPr/>
          <p:nvPr/>
        </p:nvSpPr>
        <p:spPr>
          <a:xfrm>
            <a:off x="8101584" y="1380744"/>
            <a:ext cx="3593592" cy="2273427"/>
          </a:xfrm>
          <a:prstGeom prst="rect">
            <a:avLst/>
          </a:prstGeom>
          <a:solidFill>
            <a:schemeClr val="bg1"/>
          </a:solidFill>
          <a:ln w="9525">
            <a:solidFill>
              <a:schemeClr val="accent3"/>
            </a:solidFill>
            <a:prstDash val="solid"/>
          </a:ln>
          <a:effectLst>
            <a:outerShdw sx="100000" sy="100000" kx="0" ky="0" algn="bl" rotWithShape="0" blurRad="76200" dist="25400" dir="5400000">
              <a:srgbClr val="1D2B3A">
                <a:alpha val="18000"/>
              </a:srgbClr>
            </a:outerShdw>
          </a:effectLst>
        </p:spPr>
      </p:sp>
      <p:pic>
        <p:nvPicPr>
          <p:cNvPr id="12" name="capture Recommandations" descr="capture Recommandations">    </p:cNvPr>
          <p:cNvPicPr>
            <a:picLocks noChangeAspect="1"/>
          </p:cNvPicPr>
          <p:nvPr/>
        </p:nvPicPr>
        <p:blipFill>
          <a:blip r:embed="rId3"/>
          <a:stretch>
            <a:fillRect/>
          </a:stretch>
        </p:blipFill>
        <p:spPr>
          <a:xfrm>
            <a:off x="8138160" y="1417320"/>
            <a:ext cx="3520440" cy="2200275"/>
          </a:xfrm>
          <a:prstGeom prst="rect">
            <a:avLst/>
          </a:prstGeom>
        </p:spPr>
      </p:pic>
      <p:sp>
        <p:nvSpPr>
          <p:cNvPr id="13" name="Text 8"/>
          <p:cNvSpPr txBox="1"/>
          <p:nvPr/>
        </p:nvSpPr>
        <p:spPr>
          <a:xfrm>
            <a:off x="8138160" y="3800475"/>
            <a:ext cx="3520440" cy="411480"/>
          </a:xfrm>
          <a:prstGeom prst="rect">
            <a:avLst/>
          </a:prstGeom>
          <a:noFill/>
          <a:ln/>
        </p:spPr>
        <p:txBody>
          <a:bodyPr wrap="square" lIns="0" tIns="0" rIns="0" bIns="0" rtlCol="0" anchor="t"/>
          <a:lstStyle/>
          <a:p>
            <a:pPr indent="0" marL="0">
              <a:buNone/>
            </a:pPr>
            <a:r>
              <a:rPr lang="en-US" sz="1800" b="1" dirty="0">
                <a:solidFill>
                  <a:schemeClr val="tx1"/>
                </a:solidFill>
              </a:rPr>
              <a:t>Recommandations</a:t>
            </a:r>
            <a:endParaRPr lang="en-US" sz="1800" dirty="0"/>
          </a:p>
        </p:txBody>
      </p:sp>
      <p:sp>
        <p:nvSpPr>
          <p:cNvPr id="14" name="Text 9"/>
          <p:cNvSpPr txBox="1"/>
          <p:nvPr/>
        </p:nvSpPr>
        <p:spPr>
          <a:xfrm>
            <a:off x="8138160" y="4211955"/>
            <a:ext cx="3520440" cy="685800"/>
          </a:xfrm>
          <a:prstGeom prst="rect">
            <a:avLst/>
          </a:prstGeom>
          <a:noFill/>
          <a:ln/>
        </p:spPr>
        <p:txBody>
          <a:bodyPr wrap="square" lIns="0" tIns="0" rIns="0" bIns="0" rtlCol="0" anchor="t"/>
          <a:lstStyle/>
          <a:p>
            <a:pPr indent="0" marL="0">
              <a:buNone/>
            </a:pPr>
            <a:r>
              <a:rPr lang="en-US" sz="1400" dirty="0">
                <a:solidFill>
                  <a:schemeClr val="tx2"/>
                </a:solidFill>
              </a:rPr>
              <a:t>documents liés à la procédure KYC v2, avec leurs raisons</a:t>
            </a:r>
            <a:endParaRPr lang="en-US" sz="1400" dirty="0"/>
          </a:p>
        </p:txBody>
      </p:sp>
      <p:sp>
        <p:nvSpPr>
          <p:cNvPr id="15" name="Text 10"/>
          <p:cNvSpPr txBox="1"/>
          <p:nvPr/>
        </p:nvSpPr>
        <p:spPr>
          <a:xfrm>
            <a:off x="548640" y="5257800"/>
            <a:ext cx="11094415" cy="457200"/>
          </a:xfrm>
          <a:prstGeom prst="rect">
            <a:avLst/>
          </a:prstGeom>
          <a:noFill/>
          <a:ln/>
        </p:spPr>
        <p:txBody>
          <a:bodyPr wrap="square" lIns="0" tIns="0" rIns="0" bIns="0" rtlCol="0" anchor="t"/>
          <a:lstStyle/>
          <a:p>
            <a:pPr indent="0" marL="0">
              <a:buNone/>
            </a:pPr>
            <a:r>
              <a:rPr lang="en-US" sz="1400" i="1" dirty="0">
                <a:solidFill>
                  <a:schemeClr val="tx2"/>
                </a:solidFill>
              </a:rPr>
              <a:t>Interface React + Cytoscape.js, politique de sécurité du contenu stricte ; aucune page n'accède directement à la base.</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Un protocole conçu contre le sur-ajustement</a:t>
            </a:r>
            <a:endParaRPr lang="en-US" sz="3000" dirty="0"/>
          </a:p>
        </p:txBody>
      </p:sp>
      <p:sp>
        <p:nvSpPr>
          <p:cNvPr id="3" name="étape 1"/>
          <p:cNvSpPr/>
          <p:nvPr/>
        </p:nvSpPr>
        <p:spPr>
          <a:xfrm>
            <a:off x="1508760" y="1417320"/>
            <a:ext cx="822960" cy="822960"/>
          </a:xfrm>
          <a:prstGeom prst="ellipse">
            <a:avLst/>
          </a:prstGeom>
          <a:solidFill>
            <a:schemeClr val="accent1"/>
          </a:solidFill>
          <a:ln w="12700">
            <a:solidFill>
              <a:schemeClr val="accent1"/>
            </a:solidFill>
            <a:prstDash val="solid"/>
          </a:ln>
        </p:spPr>
      </p:sp>
      <p:sp>
        <p:nvSpPr>
          <p:cNvPr id="4" name="Text 2"/>
          <p:cNvSpPr txBox="1"/>
          <p:nvPr/>
        </p:nvSpPr>
        <p:spPr>
          <a:xfrm>
            <a:off x="1508760" y="1417320"/>
            <a:ext cx="822960" cy="822960"/>
          </a:xfrm>
          <a:prstGeom prst="rect">
            <a:avLst/>
          </a:prstGeom>
          <a:noFill/>
          <a:ln/>
        </p:spPr>
        <p:txBody>
          <a:bodyPr wrap="square" lIns="0" tIns="0" rIns="0" bIns="0"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1</a:t>
            </a:r>
            <a:endParaRPr lang="en-US" sz="2400" dirty="0"/>
          </a:p>
        </p:txBody>
      </p:sp>
      <p:sp>
        <p:nvSpPr>
          <p:cNvPr id="5" name="liaison 1"/>
          <p:cNvSpPr/>
          <p:nvPr/>
        </p:nvSpPr>
        <p:spPr>
          <a:xfrm>
            <a:off x="2423160" y="1828800"/>
            <a:ext cx="1828800" cy="0"/>
          </a:xfrm>
          <a:prstGeom prst="line">
            <a:avLst/>
          </a:prstGeom>
          <a:noFill/>
          <a:ln w="19050">
            <a:solidFill>
              <a:schemeClr val="accent3"/>
            </a:solidFill>
            <a:prstDash val="dash"/>
          </a:ln>
        </p:spPr>
      </p:sp>
      <p:sp>
        <p:nvSpPr>
          <p:cNvPr id="6" name="Text 4"/>
          <p:cNvSpPr txBox="1"/>
          <p:nvPr/>
        </p:nvSpPr>
        <p:spPr>
          <a:xfrm>
            <a:off x="640080" y="2423160"/>
            <a:ext cx="2560320" cy="457200"/>
          </a:xfrm>
          <a:prstGeom prst="rect">
            <a:avLst/>
          </a:prstGeom>
          <a:noFill/>
          <a:ln/>
        </p:spPr>
        <p:txBody>
          <a:bodyPr wrap="square" lIns="0" tIns="0" rIns="0" bIns="0" rtlCol="0" anchor="t"/>
          <a:lstStyle/>
          <a:p>
            <a:pPr algn="ctr" indent="0" marL="0">
              <a:buNone/>
            </a:pPr>
            <a:r>
              <a:rPr lang="en-US" sz="1700" b="1" dirty="0">
                <a:solidFill>
                  <a:schemeClr val="tx1"/>
                </a:solidFill>
              </a:rPr>
              <a:t>Partition des documents</a:t>
            </a:r>
            <a:endParaRPr lang="en-US" sz="1700" dirty="0"/>
          </a:p>
        </p:txBody>
      </p:sp>
      <p:sp>
        <p:nvSpPr>
          <p:cNvPr id="7" name="Text 5"/>
          <p:cNvSpPr txBox="1"/>
          <p:nvPr/>
        </p:nvSpPr>
        <p:spPr>
          <a:xfrm>
            <a:off x="640080" y="2880360"/>
            <a:ext cx="2560320" cy="1005840"/>
          </a:xfrm>
          <a:prstGeom prst="rect">
            <a:avLst/>
          </a:prstGeom>
          <a:noFill/>
          <a:ln/>
        </p:spPr>
        <p:txBody>
          <a:bodyPr wrap="square" lIns="0" tIns="0" rIns="0" bIns="0" rtlCol="0" anchor="t"/>
          <a:lstStyle/>
          <a:p>
            <a:pPr algn="ctr" indent="0" marL="0">
              <a:buNone/>
            </a:pPr>
            <a:r>
              <a:rPr lang="en-US" sz="1400" dirty="0">
                <a:solidFill>
                  <a:schemeClr val="tx2"/>
                </a:solidFill>
              </a:rPr>
              <a:t>règles mises au point sur D01–D20, testées sur D21–D35</a:t>
            </a:r>
            <a:endParaRPr lang="en-US" sz="1400" dirty="0"/>
          </a:p>
        </p:txBody>
      </p:sp>
      <p:sp>
        <p:nvSpPr>
          <p:cNvPr id="8" name="étape 2"/>
          <p:cNvSpPr/>
          <p:nvPr/>
        </p:nvSpPr>
        <p:spPr>
          <a:xfrm>
            <a:off x="4325112" y="1417320"/>
            <a:ext cx="822960" cy="822960"/>
          </a:xfrm>
          <a:prstGeom prst="ellipse">
            <a:avLst/>
          </a:prstGeom>
          <a:solidFill>
            <a:schemeClr val="accent1"/>
          </a:solidFill>
          <a:ln w="12700">
            <a:solidFill>
              <a:schemeClr val="accent1"/>
            </a:solidFill>
            <a:prstDash val="solid"/>
          </a:ln>
        </p:spPr>
      </p:sp>
      <p:sp>
        <p:nvSpPr>
          <p:cNvPr id="9" name="Text 7"/>
          <p:cNvSpPr txBox="1"/>
          <p:nvPr/>
        </p:nvSpPr>
        <p:spPr>
          <a:xfrm>
            <a:off x="4325112" y="1417320"/>
            <a:ext cx="822960" cy="822960"/>
          </a:xfrm>
          <a:prstGeom prst="rect">
            <a:avLst/>
          </a:prstGeom>
          <a:noFill/>
          <a:ln/>
        </p:spPr>
        <p:txBody>
          <a:bodyPr wrap="square" lIns="0" tIns="0" rIns="0" bIns="0"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2</a:t>
            </a:r>
            <a:endParaRPr lang="en-US" sz="2400" dirty="0"/>
          </a:p>
        </p:txBody>
      </p:sp>
      <p:sp>
        <p:nvSpPr>
          <p:cNvPr id="10" name="liaison 2"/>
          <p:cNvSpPr/>
          <p:nvPr/>
        </p:nvSpPr>
        <p:spPr>
          <a:xfrm>
            <a:off x="5239512" y="1828800"/>
            <a:ext cx="1828800" cy="0"/>
          </a:xfrm>
          <a:prstGeom prst="line">
            <a:avLst/>
          </a:prstGeom>
          <a:noFill/>
          <a:ln w="19050">
            <a:solidFill>
              <a:schemeClr val="accent3"/>
            </a:solidFill>
            <a:prstDash val="dash"/>
          </a:ln>
        </p:spPr>
      </p:sp>
      <p:sp>
        <p:nvSpPr>
          <p:cNvPr id="11" name="Text 9"/>
          <p:cNvSpPr txBox="1"/>
          <p:nvPr/>
        </p:nvSpPr>
        <p:spPr>
          <a:xfrm>
            <a:off x="3456432" y="2423160"/>
            <a:ext cx="2560320" cy="457200"/>
          </a:xfrm>
          <a:prstGeom prst="rect">
            <a:avLst/>
          </a:prstGeom>
          <a:noFill/>
          <a:ln/>
        </p:spPr>
        <p:txBody>
          <a:bodyPr wrap="square" lIns="0" tIns="0" rIns="0" bIns="0" rtlCol="0" anchor="t"/>
          <a:lstStyle/>
          <a:p>
            <a:pPr algn="ctr" indent="0" marL="0">
              <a:buNone/>
            </a:pPr>
            <a:r>
              <a:rPr lang="en-US" sz="1700" b="1" dirty="0">
                <a:solidFill>
                  <a:schemeClr val="tx1"/>
                </a:solidFill>
              </a:rPr>
              <a:t>Questions séparées</a:t>
            </a:r>
            <a:endParaRPr lang="en-US" sz="1700" dirty="0"/>
          </a:p>
        </p:txBody>
      </p:sp>
      <p:sp>
        <p:nvSpPr>
          <p:cNvPr id="12" name="Text 10"/>
          <p:cNvSpPr txBox="1"/>
          <p:nvPr/>
        </p:nvSpPr>
        <p:spPr>
          <a:xfrm>
            <a:off x="3456432" y="2880360"/>
            <a:ext cx="2560320" cy="1005840"/>
          </a:xfrm>
          <a:prstGeom prst="rect">
            <a:avLst/>
          </a:prstGeom>
          <a:noFill/>
          <a:ln/>
        </p:spPr>
        <p:txBody>
          <a:bodyPr wrap="square" lIns="0" tIns="0" rIns="0" bIns="0" rtlCol="0" anchor="t"/>
          <a:lstStyle/>
          <a:p>
            <a:pPr algn="ctr" indent="0" marL="0">
              <a:buNone/>
            </a:pPr>
            <a:r>
              <a:rPr lang="en-US" sz="1400" dirty="0">
                <a:solidFill>
                  <a:schemeClr val="tx2"/>
                </a:solidFill>
              </a:rPr>
              <a:t>17 de développement, 49 jamais inspectées avant la campagne</a:t>
            </a:r>
            <a:endParaRPr lang="en-US" sz="1400" dirty="0"/>
          </a:p>
        </p:txBody>
      </p:sp>
      <p:sp>
        <p:nvSpPr>
          <p:cNvPr id="13" name="étape 3"/>
          <p:cNvSpPr/>
          <p:nvPr/>
        </p:nvSpPr>
        <p:spPr>
          <a:xfrm>
            <a:off x="7141464" y="1417320"/>
            <a:ext cx="822960" cy="822960"/>
          </a:xfrm>
          <a:prstGeom prst="ellipse">
            <a:avLst/>
          </a:prstGeom>
          <a:solidFill>
            <a:schemeClr val="accent1"/>
          </a:solidFill>
          <a:ln w="12700">
            <a:solidFill>
              <a:schemeClr val="accent1"/>
            </a:solidFill>
            <a:prstDash val="solid"/>
          </a:ln>
        </p:spPr>
      </p:sp>
      <p:sp>
        <p:nvSpPr>
          <p:cNvPr id="14" name="Text 12"/>
          <p:cNvSpPr txBox="1"/>
          <p:nvPr/>
        </p:nvSpPr>
        <p:spPr>
          <a:xfrm>
            <a:off x="7141464" y="1417320"/>
            <a:ext cx="822960" cy="822960"/>
          </a:xfrm>
          <a:prstGeom prst="rect">
            <a:avLst/>
          </a:prstGeom>
          <a:noFill/>
          <a:ln/>
        </p:spPr>
        <p:txBody>
          <a:bodyPr wrap="square" lIns="0" tIns="0" rIns="0" bIns="0"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3</a:t>
            </a:r>
            <a:endParaRPr lang="en-US" sz="2400" dirty="0"/>
          </a:p>
        </p:txBody>
      </p:sp>
      <p:sp>
        <p:nvSpPr>
          <p:cNvPr id="15" name="liaison 3"/>
          <p:cNvSpPr/>
          <p:nvPr/>
        </p:nvSpPr>
        <p:spPr>
          <a:xfrm>
            <a:off x="8055864" y="1828800"/>
            <a:ext cx="1828800" cy="0"/>
          </a:xfrm>
          <a:prstGeom prst="line">
            <a:avLst/>
          </a:prstGeom>
          <a:noFill/>
          <a:ln w="19050">
            <a:solidFill>
              <a:schemeClr val="accent3"/>
            </a:solidFill>
            <a:prstDash val="dash"/>
          </a:ln>
        </p:spPr>
      </p:sp>
      <p:sp>
        <p:nvSpPr>
          <p:cNvPr id="16" name="Text 14"/>
          <p:cNvSpPr txBox="1"/>
          <p:nvPr/>
        </p:nvSpPr>
        <p:spPr>
          <a:xfrm>
            <a:off x="6272784" y="2423160"/>
            <a:ext cx="2560320" cy="457200"/>
          </a:xfrm>
          <a:prstGeom prst="rect">
            <a:avLst/>
          </a:prstGeom>
          <a:noFill/>
          <a:ln/>
        </p:spPr>
        <p:txBody>
          <a:bodyPr wrap="square" lIns="0" tIns="0" rIns="0" bIns="0" rtlCol="0" anchor="t"/>
          <a:lstStyle/>
          <a:p>
            <a:pPr algn="ctr" indent="0" marL="0">
              <a:buNone/>
            </a:pPr>
            <a:r>
              <a:rPr lang="en-US" sz="1700" b="1" dirty="0">
                <a:solidFill>
                  <a:schemeClr val="tx1"/>
                </a:solidFill>
              </a:rPr>
              <a:t>Configuration gelée</a:t>
            </a:r>
            <a:endParaRPr lang="en-US" sz="1700" dirty="0"/>
          </a:p>
        </p:txBody>
      </p:sp>
      <p:sp>
        <p:nvSpPr>
          <p:cNvPr id="17" name="Text 15"/>
          <p:cNvSpPr txBox="1"/>
          <p:nvPr/>
        </p:nvSpPr>
        <p:spPr>
          <a:xfrm>
            <a:off x="6272784" y="2880360"/>
            <a:ext cx="2560320" cy="1005840"/>
          </a:xfrm>
          <a:prstGeom prst="rect">
            <a:avLst/>
          </a:prstGeom>
          <a:noFill/>
          <a:ln/>
        </p:spPr>
        <p:txBody>
          <a:bodyPr wrap="square" lIns="0" tIns="0" rIns="0" bIns="0" rtlCol="0" anchor="t"/>
          <a:lstStyle/>
          <a:p>
            <a:pPr algn="ctr" indent="0" marL="0">
              <a:buNone/>
            </a:pPr>
            <a:r>
              <a:rPr lang="en-US" sz="1400" dirty="0">
                <a:solidFill>
                  <a:schemeClr val="tx2"/>
                </a:solidFill>
              </a:rPr>
              <a:t>puis campagne principale ; workflow identique pour les 5 architectures</a:t>
            </a:r>
            <a:endParaRPr lang="en-US" sz="1400" dirty="0"/>
          </a:p>
        </p:txBody>
      </p:sp>
      <p:sp>
        <p:nvSpPr>
          <p:cNvPr id="18" name="étape 4"/>
          <p:cNvSpPr/>
          <p:nvPr/>
        </p:nvSpPr>
        <p:spPr>
          <a:xfrm>
            <a:off x="9957816" y="1417320"/>
            <a:ext cx="822960" cy="822960"/>
          </a:xfrm>
          <a:prstGeom prst="ellipse">
            <a:avLst/>
          </a:prstGeom>
          <a:solidFill>
            <a:schemeClr val="accent1"/>
          </a:solidFill>
          <a:ln w="12700">
            <a:solidFill>
              <a:schemeClr val="accent1"/>
            </a:solidFill>
            <a:prstDash val="solid"/>
          </a:ln>
        </p:spPr>
      </p:sp>
      <p:sp>
        <p:nvSpPr>
          <p:cNvPr id="19" name="Text 17"/>
          <p:cNvSpPr txBox="1"/>
          <p:nvPr/>
        </p:nvSpPr>
        <p:spPr>
          <a:xfrm>
            <a:off x="9957816" y="1417320"/>
            <a:ext cx="822960" cy="822960"/>
          </a:xfrm>
          <a:prstGeom prst="rect">
            <a:avLst/>
          </a:prstGeom>
          <a:noFill/>
          <a:ln/>
        </p:spPr>
        <p:txBody>
          <a:bodyPr wrap="square" lIns="0" tIns="0" rIns="0" bIns="0"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4</a:t>
            </a:r>
            <a:endParaRPr lang="en-US" sz="2400" dirty="0"/>
          </a:p>
        </p:txBody>
      </p:sp>
      <p:sp>
        <p:nvSpPr>
          <p:cNvPr id="20" name="Text 18"/>
          <p:cNvSpPr txBox="1"/>
          <p:nvPr/>
        </p:nvSpPr>
        <p:spPr>
          <a:xfrm>
            <a:off x="9089136" y="2423160"/>
            <a:ext cx="2560320" cy="457200"/>
          </a:xfrm>
          <a:prstGeom prst="rect">
            <a:avLst/>
          </a:prstGeom>
          <a:noFill/>
          <a:ln/>
        </p:spPr>
        <p:txBody>
          <a:bodyPr wrap="square" lIns="0" tIns="0" rIns="0" bIns="0" rtlCol="0" anchor="t"/>
          <a:lstStyle/>
          <a:p>
            <a:pPr algn="ctr" indent="0" marL="0">
              <a:buNone/>
            </a:pPr>
            <a:r>
              <a:rPr lang="en-US" sz="1700" b="1" dirty="0">
                <a:solidFill>
                  <a:schemeClr val="tx1"/>
                </a:solidFill>
              </a:rPr>
              <a:t>Journal post-gel</a:t>
            </a:r>
            <a:endParaRPr lang="en-US" sz="1700" dirty="0"/>
          </a:p>
        </p:txBody>
      </p:sp>
      <p:sp>
        <p:nvSpPr>
          <p:cNvPr id="21" name="Text 19"/>
          <p:cNvSpPr txBox="1"/>
          <p:nvPr/>
        </p:nvSpPr>
        <p:spPr>
          <a:xfrm>
            <a:off x="9089136" y="2880360"/>
            <a:ext cx="2560320" cy="1005840"/>
          </a:xfrm>
          <a:prstGeom prst="rect">
            <a:avLst/>
          </a:prstGeom>
          <a:noFill/>
          <a:ln/>
        </p:spPr>
        <p:txBody>
          <a:bodyPr wrap="square" lIns="0" tIns="0" rIns="0" bIns="0" rtlCol="0" anchor="t"/>
          <a:lstStyle/>
          <a:p>
            <a:pPr algn="ctr" indent="0" marL="0">
              <a:buNone/>
            </a:pPr>
            <a:r>
              <a:rPr lang="en-US" sz="1400" dirty="0">
                <a:solidFill>
                  <a:schemeClr val="tx2"/>
                </a:solidFill>
              </a:rPr>
              <a:t>toute modification ultérieure tracée et mesurée à part</a:t>
            </a:r>
            <a:endParaRPr lang="en-US" sz="1400" dirty="0"/>
          </a:p>
        </p:txBody>
      </p:sp>
      <p:sp>
        <p:nvSpPr>
          <p:cNvPr id="22" name="métriques"/>
          <p:cNvSpPr/>
          <p:nvPr/>
        </p:nvSpPr>
        <p:spPr>
          <a:xfrm>
            <a:off x="548640" y="4160520"/>
            <a:ext cx="11094415" cy="1691640"/>
          </a:xfrm>
          <a:prstGeom prst="roundRect">
            <a:avLst>
              <a:gd name="adj" fmla="val 4324"/>
            </a:avLst>
          </a:prstGeom>
          <a:solidFill>
            <a:schemeClr val="bg2"/>
          </a:solidFill>
          <a:ln w="12700">
            <a:solidFill>
              <a:schemeClr val="bg2"/>
            </a:solidFill>
            <a:prstDash val="solid"/>
          </a:ln>
        </p:spPr>
      </p:sp>
      <p:sp>
        <p:nvSpPr>
          <p:cNvPr id="23" name="Text 21"/>
          <p:cNvSpPr txBox="1"/>
          <p:nvPr/>
        </p:nvSpPr>
        <p:spPr>
          <a:xfrm>
            <a:off x="822960" y="4297680"/>
            <a:ext cx="10545775" cy="146304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Métriques : </a:t>
            </a:r>
            <a:pPr indent="0" marL="0">
              <a:spcAft>
                <a:spcPts val="600"/>
              </a:spcAft>
              <a:buNone/>
            </a:pPr>
            <a:r>
              <a:rPr lang="en-US" sz="1500" dirty="0">
                <a:solidFill>
                  <a:schemeClr val="tx1"/>
                </a:solidFill>
              </a:rPr>
              <a:t>Recall@5, MRR, nDCG@5 (pertinence graduée) pour la recherche ; exactitude par mots-clés, abstention, citations, fuites pour les réponses ; P@1, nDCG@3 pour les experts ; nDCG@5 pour les recommandations.</a:t>
            </a:r>
            <a:endParaRPr lang="en-US" sz="1500" dirty="0"/>
          </a:p>
          <a:p>
            <a:pPr indent="0" marL="0">
              <a:spcAft>
                <a:spcPts val="600"/>
              </a:spcAft>
              <a:buNone/>
            </a:pPr>
            <a:r>
              <a:rPr lang="en-US" sz="1500" b="1" dirty="0">
                <a:solidFill>
                  <a:schemeClr val="tx1"/>
                </a:solidFill>
              </a:rPr>
              <a:t>Statistiques : </a:t>
            </a:r>
            <a:pPr indent="0" marL="0">
              <a:spcAft>
                <a:spcPts val="600"/>
              </a:spcAft>
              <a:buNone/>
            </a:pPr>
            <a:r>
              <a:rPr lang="en-US" sz="1500" dirty="0">
                <a:solidFill>
                  <a:schemeClr val="tx1"/>
                </a:solidFill>
              </a:rPr>
              <a:t>intervalles de confiance à 95 % par bootstrap (2 000 tirages) et test exact des signes sur données appariées.</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Recherche : la fusion routée en tête, BM25 très proche</a:t>
            </a:r>
            <a:endParaRPr lang="en-US" sz="3000" dirty="0"/>
          </a:p>
        </p:txBody>
      </p:sp>
      <p:graphicFrame>
        <p:nvGraphicFramePr>
          <p:cNvPr id="3" name="graphique nDCG par stratégie" descr=""/>
          <p:cNvGraphicFramePr/>
          <p:nvPr/>
        </p:nvGraphicFramePr>
        <p:xfrm>
          <a:off x="548640" y="1325880"/>
          <a:ext cx="6766560" cy="45720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680960" y="1371600"/>
            <a:ext cx="3931920" cy="68580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0,839</a:t>
            </a:r>
            <a:endParaRPr lang="en-US" sz="3000" dirty="0"/>
          </a:p>
        </p:txBody>
      </p:sp>
      <p:sp>
        <p:nvSpPr>
          <p:cNvPr id="5" name="Text 2"/>
          <p:cNvSpPr txBox="1"/>
          <p:nvPr/>
        </p:nvSpPr>
        <p:spPr>
          <a:xfrm>
            <a:off x="7680960" y="2057400"/>
            <a:ext cx="3931920" cy="548640"/>
          </a:xfrm>
          <a:prstGeom prst="rect">
            <a:avLst/>
          </a:prstGeom>
          <a:noFill/>
          <a:ln/>
        </p:spPr>
        <p:txBody>
          <a:bodyPr wrap="square" lIns="0" tIns="0" rIns="0" bIns="0" rtlCol="0" anchor="t"/>
          <a:lstStyle/>
          <a:p>
            <a:pPr indent="0" marL="0">
              <a:buNone/>
            </a:pPr>
            <a:r>
              <a:rPr lang="en-US" sz="1400" dirty="0">
                <a:solidFill>
                  <a:schemeClr val="tx2"/>
                </a:solidFill>
              </a:rPr>
              <a:t>nDCG@5 du final [0,78 ; 0,90]</a:t>
            </a:r>
            <a:endParaRPr lang="en-US" sz="1400" dirty="0"/>
          </a:p>
        </p:txBody>
      </p:sp>
      <p:sp>
        <p:nvSpPr>
          <p:cNvPr id="6" name="Text 3"/>
          <p:cNvSpPr txBox="1"/>
          <p:nvPr/>
        </p:nvSpPr>
        <p:spPr>
          <a:xfrm>
            <a:off x="7680960" y="2834640"/>
            <a:ext cx="3931920" cy="68580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0,409 → 0,720</a:t>
            </a:r>
            <a:endParaRPr lang="en-US" sz="3000" dirty="0"/>
          </a:p>
        </p:txBody>
      </p:sp>
      <p:sp>
        <p:nvSpPr>
          <p:cNvPr id="7" name="Text 4"/>
          <p:cNvSpPr txBox="1"/>
          <p:nvPr/>
        </p:nvSpPr>
        <p:spPr>
          <a:xfrm>
            <a:off x="7680960" y="3520440"/>
            <a:ext cx="3931920" cy="548640"/>
          </a:xfrm>
          <a:prstGeom prst="rect">
            <a:avLst/>
          </a:prstGeom>
          <a:noFill/>
          <a:ln/>
        </p:spPr>
        <p:txBody>
          <a:bodyPr wrap="square" lIns="0" tIns="0" rIns="0" bIns="0" rtlCol="0" anchor="t"/>
          <a:lstStyle/>
          <a:p>
            <a:pPr indent="0" marL="0">
              <a:buNone/>
            </a:pPr>
            <a:r>
              <a:rPr lang="en-US" sz="1400" dirty="0">
                <a:solidFill>
                  <a:schemeClr val="tx2"/>
                </a:solidFill>
              </a:rPr>
              <a:t>vectoriel : spaCy → WordLlama</a:t>
            </a:r>
            <a:endParaRPr lang="en-US" sz="1400" dirty="0"/>
          </a:p>
        </p:txBody>
      </p:sp>
      <p:sp>
        <p:nvSpPr>
          <p:cNvPr id="8" name="Text 5"/>
          <p:cNvSpPr txBox="1"/>
          <p:nvPr/>
        </p:nvSpPr>
        <p:spPr>
          <a:xfrm>
            <a:off x="7680960" y="4297680"/>
            <a:ext cx="3931920" cy="68580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0,96 / 0,52</a:t>
            </a:r>
            <a:endParaRPr lang="en-US" sz="3000" dirty="0"/>
          </a:p>
        </p:txBody>
      </p:sp>
      <p:sp>
        <p:nvSpPr>
          <p:cNvPr id="9" name="Text 6"/>
          <p:cNvSpPr txBox="1"/>
          <p:nvPr/>
        </p:nvSpPr>
        <p:spPr>
          <a:xfrm>
            <a:off x="7680960" y="4983480"/>
            <a:ext cx="3931920" cy="548640"/>
          </a:xfrm>
          <a:prstGeom prst="rect">
            <a:avLst/>
          </a:prstGeom>
          <a:noFill/>
          <a:ln/>
        </p:spPr>
        <p:txBody>
          <a:bodyPr wrap="square" lIns="0" tIns="0" rIns="0" bIns="0" rtlCol="0" anchor="t"/>
          <a:lstStyle/>
          <a:p>
            <a:pPr indent="0" marL="0">
              <a:buNone/>
            </a:pPr>
            <a:r>
              <a:rPr lang="en-US" sz="1400" dirty="0">
                <a:solidFill>
                  <a:schemeClr val="tx2"/>
                </a:solidFill>
              </a:rPr>
              <a:t>graphe seul : relationnel / factuel</a:t>
            </a:r>
            <a:endParaRPr lang="en-US" sz="1400" dirty="0"/>
          </a:p>
        </p:txBody>
      </p:sp>
      <p:sp>
        <p:nvSpPr>
          <p:cNvPr id="10" name="Text 7"/>
          <p:cNvSpPr txBox="1"/>
          <p:nvPr/>
        </p:nvSpPr>
        <p:spPr>
          <a:xfrm>
            <a:off x="548640" y="6053328"/>
            <a:ext cx="11094415" cy="274320"/>
          </a:xfrm>
          <a:prstGeom prst="rect">
            <a:avLst/>
          </a:prstGeom>
          <a:noFill/>
          <a:ln/>
        </p:spPr>
        <p:txBody>
          <a:bodyPr wrap="square" lIns="0" tIns="0" rIns="0" bIns="0" rtlCol="0" anchor="t"/>
          <a:lstStyle/>
          <a:p>
            <a:pPr indent="0" marL="0">
              <a:buNone/>
            </a:pPr>
            <a:r>
              <a:rPr lang="en-US" sz="1000" i="1" dirty="0">
                <a:solidFill>
                  <a:schemeClr val="tx2"/>
                </a:solidFill>
              </a:rPr>
              <a:t>Source : evaluation/results/RESULTATS.md — configuration gelée, encodeur WordLlama ; écart final − BM25 non significatif.</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Réponses : le graphe change la donne sur les relations</a:t>
            </a:r>
            <a:endParaRPr lang="en-US" sz="3000" dirty="0"/>
          </a:p>
        </p:txBody>
      </p:sp>
      <p:graphicFrame>
        <p:nvGraphicFramePr>
          <p:cNvPr id="3" name="graphique exactitude par architecture" descr=""/>
          <p:cNvGraphicFramePr/>
          <p:nvPr/>
        </p:nvGraphicFramePr>
        <p:xfrm>
          <a:off x="548640" y="1325880"/>
          <a:ext cx="5486400" cy="452628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graphique par catégorie" descr=""/>
          <p:cNvGraphicFramePr/>
          <p:nvPr/>
        </p:nvGraphicFramePr>
        <p:xfrm>
          <a:off x="6263640" y="1325880"/>
          <a:ext cx="5349240" cy="3291840"/>
        </p:xfrm>
        <a:graphic xmlns:a="http://schemas.openxmlformats.org/drawingml/2006/main">
          <a:graphicData uri="http://schemas.openxmlformats.org/drawingml/2006/chart">
            <c:chart xmlns:c="http://schemas.openxmlformats.org/drawingml/2006/chart" r:id="rId2"/>
          </a:graphicData>
        </a:graphic>
      </p:graphicFrame>
      <p:sp>
        <p:nvSpPr>
          <p:cNvPr id="5" name="encadré sur-ajustement"/>
          <p:cNvSpPr/>
          <p:nvPr/>
        </p:nvSpPr>
        <p:spPr>
          <a:xfrm>
            <a:off x="6263640" y="4754880"/>
            <a:ext cx="5349240" cy="1097280"/>
          </a:xfrm>
          <a:prstGeom prst="roundRect">
            <a:avLst>
              <a:gd name="adj" fmla="val 6667"/>
            </a:avLst>
          </a:prstGeom>
          <a:solidFill>
            <a:schemeClr val="bg2"/>
          </a:solidFill>
          <a:ln w="12700">
            <a:solidFill>
              <a:schemeClr val="bg2"/>
            </a:solidFill>
            <a:prstDash val="solid"/>
          </a:ln>
        </p:spPr>
      </p:sp>
      <p:sp>
        <p:nvSpPr>
          <p:cNvPr id="6" name="Text 2"/>
          <p:cNvSpPr txBox="1"/>
          <p:nvPr/>
        </p:nvSpPr>
        <p:spPr>
          <a:xfrm>
            <a:off x="6492240" y="4846320"/>
            <a:ext cx="4937760" cy="914400"/>
          </a:xfrm>
          <a:prstGeom prst="rect">
            <a:avLst/>
          </a:prstGeom>
          <a:noFill/>
          <a:ln/>
        </p:spPr>
        <p:txBody>
          <a:bodyPr wrap="square" lIns="0" tIns="0" rIns="0" bIns="0" rtlCol="0" anchor="ctr"/>
          <a:lstStyle/>
          <a:p>
            <a:pPr indent="0" marL="0">
              <a:buNone/>
            </a:pPr>
            <a:r>
              <a:rPr lang="en-US" sz="1500" b="1" dirty="0">
                <a:solidFill>
                  <a:schemeClr val="tx2"/>
                </a:solidFill>
              </a:rPr>
              <a:t>0,882 </a:t>
            </a:r>
            <a:pPr indent="0" marL="0">
              <a:buNone/>
            </a:pPr>
            <a:r>
              <a:rPr lang="en-US" sz="1500" dirty="0">
                <a:solidFill>
                  <a:schemeClr val="tx1"/>
                </a:solidFill>
              </a:rPr>
              <a:t>sur les questions de développement, </a:t>
            </a:r>
            <a:pPr indent="0" marL="0">
              <a:buNone/>
            </a:pPr>
            <a:r>
              <a:rPr lang="en-US" sz="1500" b="1" dirty="0">
                <a:solidFill>
                  <a:schemeClr val="accent1"/>
                </a:solidFill>
              </a:rPr>
              <a:t>0,694 </a:t>
            </a:r>
            <a:pPr indent="0" marL="0">
              <a:buNone/>
            </a:pPr>
            <a:r>
              <a:rPr lang="en-US" sz="1500" dirty="0">
                <a:solidFill>
                  <a:schemeClr val="tx1"/>
                </a:solidFill>
              </a:rPr>
              <a:t>sur les questions jamais inspectées : c'est le chiffre honnête.</a:t>
            </a:r>
            <a:endParaRPr lang="en-US" sz="1500" dirty="0"/>
          </a:p>
        </p:txBody>
      </p:sp>
      <p:sp>
        <p:nvSpPr>
          <p:cNvPr id="7" name="Text 3"/>
          <p:cNvSpPr txBox="1"/>
          <p:nvPr/>
        </p:nvSpPr>
        <p:spPr>
          <a:xfrm>
            <a:off x="548640" y="6053328"/>
            <a:ext cx="11094415" cy="274320"/>
          </a:xfrm>
          <a:prstGeom prst="rect">
            <a:avLst/>
          </a:prstGeom>
          <a:noFill/>
          <a:ln/>
        </p:spPr>
        <p:txBody>
          <a:bodyPr wrap="square" lIns="0" tIns="0" rIns="0" bIns="0" rtlCol="0" anchor="t"/>
          <a:lstStyle/>
          <a:p>
            <a:pPr indent="0" marL="0">
              <a:buNone/>
            </a:pPr>
            <a:r>
              <a:rPr lang="en-US" sz="1000" i="1" dirty="0">
                <a:solidFill>
                  <a:schemeClr val="tx2"/>
                </a:solidFill>
              </a:rPr>
              <a:t>Source : RESULTATS.md — générateur extractif hors-ligne ; final [0,64 ; 0,85] ; final − RAG hybride : p = 0,02 ; final − fixe : p = 0,5.</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Fiabilité : aucune invention, mais trop d'abstentions</a:t>
            </a:r>
            <a:endParaRPr lang="en-US" sz="3000" dirty="0"/>
          </a:p>
        </p:txBody>
      </p:sp>
      <p:sp>
        <p:nvSpPr>
          <p:cNvPr id="3" name="fiabilité citation inventée"/>
          <p:cNvSpPr/>
          <p:nvPr/>
        </p:nvSpPr>
        <p:spPr>
          <a:xfrm>
            <a:off x="548640" y="1417320"/>
            <a:ext cx="1645920" cy="1737360"/>
          </a:xfrm>
          <a:prstGeom prst="roundRect">
            <a:avLst>
              <a:gd name="adj" fmla="val 4444"/>
            </a:avLst>
          </a:prstGeom>
          <a:solidFill>
            <a:schemeClr val="bg2"/>
          </a:solidFill>
          <a:ln w="12700">
            <a:solidFill>
              <a:schemeClr val="bg2"/>
            </a:solidFill>
            <a:prstDash val="solid"/>
          </a:ln>
        </p:spPr>
      </p:sp>
      <p:sp>
        <p:nvSpPr>
          <p:cNvPr id="4" name="Text 2"/>
          <p:cNvSpPr txBox="1"/>
          <p:nvPr/>
        </p:nvSpPr>
        <p:spPr>
          <a:xfrm>
            <a:off x="548640" y="1554480"/>
            <a:ext cx="1645920" cy="868680"/>
          </a:xfrm>
          <a:prstGeom prst="rect">
            <a:avLst/>
          </a:prstGeom>
          <a:noFill/>
          <a:ln/>
        </p:spPr>
        <p:txBody>
          <a:bodyPr wrap="square" lIns="0" tIns="0" rIns="0" bIns="0" rtlCol="0" anchor="ctr"/>
          <a:lstStyle/>
          <a:p>
            <a:pPr algn="ctr" indent="0" marL="0">
              <a:buNone/>
            </a:pPr>
            <a:r>
              <a:rPr lang="en-US" sz="4800" b="1" dirty="0">
                <a:solidFill>
                  <a:schemeClr val="accent2"/>
                </a:solidFill>
                <a:latin typeface="Cambria" pitchFamily="34" charset="0"/>
                <a:ea typeface="Cambria" pitchFamily="34" charset="-122"/>
                <a:cs typeface="Cambria" pitchFamily="34" charset="-120"/>
              </a:rPr>
              <a:t>0</a:t>
            </a:r>
            <a:endParaRPr lang="en-US" sz="4800" dirty="0"/>
          </a:p>
        </p:txBody>
      </p:sp>
      <p:sp>
        <p:nvSpPr>
          <p:cNvPr id="5" name="Text 3"/>
          <p:cNvSpPr txBox="1"/>
          <p:nvPr/>
        </p:nvSpPr>
        <p:spPr>
          <a:xfrm>
            <a:off x="640080" y="2468880"/>
            <a:ext cx="1463040" cy="548640"/>
          </a:xfrm>
          <a:prstGeom prst="rect">
            <a:avLst/>
          </a:prstGeom>
          <a:noFill/>
          <a:ln/>
        </p:spPr>
        <p:txBody>
          <a:bodyPr wrap="square" lIns="0" tIns="0" rIns="0" bIns="0" rtlCol="0" anchor="t"/>
          <a:lstStyle/>
          <a:p>
            <a:pPr algn="ctr" indent="0" marL="0">
              <a:buNone/>
            </a:pPr>
            <a:r>
              <a:rPr lang="en-US" sz="1400" dirty="0">
                <a:solidFill>
                  <a:schemeClr val="tx2"/>
                </a:solidFill>
              </a:rPr>
              <a:t>citation inventée</a:t>
            </a:r>
            <a:endParaRPr lang="en-US" sz="1400" dirty="0"/>
          </a:p>
        </p:txBody>
      </p:sp>
      <p:sp>
        <p:nvSpPr>
          <p:cNvPr id="6" name="fiabilité fuite d'accès"/>
          <p:cNvSpPr/>
          <p:nvPr/>
        </p:nvSpPr>
        <p:spPr>
          <a:xfrm>
            <a:off x="2377440" y="1417320"/>
            <a:ext cx="1645920" cy="1737360"/>
          </a:xfrm>
          <a:prstGeom prst="roundRect">
            <a:avLst>
              <a:gd name="adj" fmla="val 4444"/>
            </a:avLst>
          </a:prstGeom>
          <a:solidFill>
            <a:schemeClr val="bg2"/>
          </a:solidFill>
          <a:ln w="12700">
            <a:solidFill>
              <a:schemeClr val="bg2"/>
            </a:solidFill>
            <a:prstDash val="solid"/>
          </a:ln>
        </p:spPr>
      </p:sp>
      <p:sp>
        <p:nvSpPr>
          <p:cNvPr id="7" name="Text 5"/>
          <p:cNvSpPr txBox="1"/>
          <p:nvPr/>
        </p:nvSpPr>
        <p:spPr>
          <a:xfrm>
            <a:off x="2377440" y="1554480"/>
            <a:ext cx="1645920" cy="868680"/>
          </a:xfrm>
          <a:prstGeom prst="rect">
            <a:avLst/>
          </a:prstGeom>
          <a:noFill/>
          <a:ln/>
        </p:spPr>
        <p:txBody>
          <a:bodyPr wrap="square" lIns="0" tIns="0" rIns="0" bIns="0" rtlCol="0" anchor="ctr"/>
          <a:lstStyle/>
          <a:p>
            <a:pPr algn="ctr" indent="0" marL="0">
              <a:buNone/>
            </a:pPr>
            <a:r>
              <a:rPr lang="en-US" sz="4800" b="1" dirty="0">
                <a:solidFill>
                  <a:schemeClr val="accent2"/>
                </a:solidFill>
                <a:latin typeface="Cambria" pitchFamily="34" charset="0"/>
                <a:ea typeface="Cambria" pitchFamily="34" charset="-122"/>
                <a:cs typeface="Cambria" pitchFamily="34" charset="-120"/>
              </a:rPr>
              <a:t>0</a:t>
            </a:r>
            <a:endParaRPr lang="en-US" sz="4800" dirty="0"/>
          </a:p>
        </p:txBody>
      </p:sp>
      <p:sp>
        <p:nvSpPr>
          <p:cNvPr id="8" name="Text 6"/>
          <p:cNvSpPr txBox="1"/>
          <p:nvPr/>
        </p:nvSpPr>
        <p:spPr>
          <a:xfrm>
            <a:off x="2468880" y="2468880"/>
            <a:ext cx="1463040" cy="548640"/>
          </a:xfrm>
          <a:prstGeom prst="rect">
            <a:avLst/>
          </a:prstGeom>
          <a:noFill/>
          <a:ln/>
        </p:spPr>
        <p:txBody>
          <a:bodyPr wrap="square" lIns="0" tIns="0" rIns="0" bIns="0" rtlCol="0" anchor="t"/>
          <a:lstStyle/>
          <a:p>
            <a:pPr algn="ctr" indent="0" marL="0">
              <a:buNone/>
            </a:pPr>
            <a:r>
              <a:rPr lang="en-US" sz="1400" dirty="0">
                <a:solidFill>
                  <a:schemeClr val="tx2"/>
                </a:solidFill>
              </a:rPr>
              <a:t>fuite d'accès</a:t>
            </a:r>
            <a:endParaRPr lang="en-US" sz="1400" dirty="0"/>
          </a:p>
        </p:txBody>
      </p:sp>
      <p:sp>
        <p:nvSpPr>
          <p:cNvPr id="9" name="fiabilité chaîne interdite"/>
          <p:cNvSpPr/>
          <p:nvPr/>
        </p:nvSpPr>
        <p:spPr>
          <a:xfrm>
            <a:off x="4206240" y="1417320"/>
            <a:ext cx="1645920" cy="1737360"/>
          </a:xfrm>
          <a:prstGeom prst="roundRect">
            <a:avLst>
              <a:gd name="adj" fmla="val 4444"/>
            </a:avLst>
          </a:prstGeom>
          <a:solidFill>
            <a:schemeClr val="bg2"/>
          </a:solidFill>
          <a:ln w="12700">
            <a:solidFill>
              <a:schemeClr val="bg2"/>
            </a:solidFill>
            <a:prstDash val="solid"/>
          </a:ln>
        </p:spPr>
      </p:sp>
      <p:sp>
        <p:nvSpPr>
          <p:cNvPr id="10" name="Text 8"/>
          <p:cNvSpPr txBox="1"/>
          <p:nvPr/>
        </p:nvSpPr>
        <p:spPr>
          <a:xfrm>
            <a:off x="4206240" y="1554480"/>
            <a:ext cx="1645920" cy="868680"/>
          </a:xfrm>
          <a:prstGeom prst="rect">
            <a:avLst/>
          </a:prstGeom>
          <a:noFill/>
          <a:ln/>
        </p:spPr>
        <p:txBody>
          <a:bodyPr wrap="square" lIns="0" tIns="0" rIns="0" bIns="0" rtlCol="0" anchor="ctr"/>
          <a:lstStyle/>
          <a:p>
            <a:pPr algn="ctr" indent="0" marL="0">
              <a:buNone/>
            </a:pPr>
            <a:r>
              <a:rPr lang="en-US" sz="4800" b="1" dirty="0">
                <a:solidFill>
                  <a:schemeClr val="accent2"/>
                </a:solidFill>
                <a:latin typeface="Cambria" pitchFamily="34" charset="0"/>
                <a:ea typeface="Cambria" pitchFamily="34" charset="-122"/>
                <a:cs typeface="Cambria" pitchFamily="34" charset="-120"/>
              </a:rPr>
              <a:t>0</a:t>
            </a:r>
            <a:endParaRPr lang="en-US" sz="4800" dirty="0"/>
          </a:p>
        </p:txBody>
      </p:sp>
      <p:sp>
        <p:nvSpPr>
          <p:cNvPr id="11" name="Text 9"/>
          <p:cNvSpPr txBox="1"/>
          <p:nvPr/>
        </p:nvSpPr>
        <p:spPr>
          <a:xfrm>
            <a:off x="4297680" y="2468880"/>
            <a:ext cx="1463040" cy="548640"/>
          </a:xfrm>
          <a:prstGeom prst="rect">
            <a:avLst/>
          </a:prstGeom>
          <a:noFill/>
          <a:ln/>
        </p:spPr>
        <p:txBody>
          <a:bodyPr wrap="square" lIns="0" tIns="0" rIns="0" bIns="0" rtlCol="0" anchor="t"/>
          <a:lstStyle/>
          <a:p>
            <a:pPr algn="ctr" indent="0" marL="0">
              <a:buNone/>
            </a:pPr>
            <a:r>
              <a:rPr lang="en-US" sz="1400" dirty="0">
                <a:solidFill>
                  <a:schemeClr val="tx2"/>
                </a:solidFill>
              </a:rPr>
              <a:t>chaîne interdite</a:t>
            </a:r>
            <a:endParaRPr lang="en-US" sz="1400" dirty="0"/>
          </a:p>
        </p:txBody>
      </p:sp>
      <p:sp>
        <p:nvSpPr>
          <p:cNvPr id="12" name="Text 10"/>
          <p:cNvSpPr txBox="1"/>
          <p:nvPr/>
        </p:nvSpPr>
        <p:spPr>
          <a:xfrm>
            <a:off x="548640" y="3474720"/>
            <a:ext cx="5303520" cy="1188720"/>
          </a:xfrm>
          <a:prstGeom prst="rect">
            <a:avLst/>
          </a:prstGeom>
          <a:noFill/>
          <a:ln/>
        </p:spPr>
        <p:txBody>
          <a:bodyPr wrap="square" lIns="0" tIns="0" rIns="0" bIns="0" rtlCol="0" anchor="t"/>
          <a:lstStyle/>
          <a:p>
            <a:pPr indent="0" marL="0">
              <a:buNone/>
            </a:pPr>
            <a:r>
              <a:rPr lang="en-US" sz="1500" b="1" dirty="0">
                <a:solidFill>
                  <a:schemeClr val="tx1"/>
                </a:solidFill>
              </a:rPr>
              <a:t>Abstention (final) : </a:t>
            </a:r>
            <a:pPr indent="0" marL="0">
              <a:buNone/>
            </a:pPr>
            <a:r>
              <a:rPr lang="en-US" sz="1500" dirty="0">
                <a:solidFill>
                  <a:schemeClr val="tx1"/>
                </a:solidFill>
              </a:rPr>
              <a:t>rappel 0,909 (10 sur 11), précision 0,5, </a:t>
            </a:r>
            <a:pPr indent="0" marL="0">
              <a:buNone/>
            </a:pPr>
            <a:r>
              <a:rPr lang="en-US" sz="1500" b="1" dirty="0">
                <a:solidFill>
                  <a:schemeClr val="accent6"/>
                </a:solidFill>
              </a:rPr>
              <a:t>18 % d'abstentions abusives</a:t>
            </a:r>
            <a:pPr indent="0" marL="0">
              <a:buNone/>
            </a:pPr>
            <a:r>
              <a:rPr lang="en-US" sz="1500" dirty="0">
                <a:solidFill>
                  <a:schemeClr val="tx1"/>
                </a:solidFill>
              </a:rPr>
              <a:t> : le contrôle lexical est sensible aux paraphrases.</a:t>
            </a:r>
            <a:endParaRPr lang="en-US" sz="1500" dirty="0"/>
          </a:p>
        </p:txBody>
      </p:sp>
      <p:sp>
        <p:nvSpPr>
          <p:cNvPr id="13" name="Text 11"/>
          <p:cNvSpPr txBox="1"/>
          <p:nvPr/>
        </p:nvSpPr>
        <p:spPr>
          <a:xfrm>
            <a:off x="548640" y="4754880"/>
            <a:ext cx="5303520" cy="822960"/>
          </a:xfrm>
          <a:prstGeom prst="rect">
            <a:avLst/>
          </a:prstGeom>
          <a:noFill/>
          <a:ln/>
        </p:spPr>
        <p:txBody>
          <a:bodyPr wrap="square" lIns="0" tIns="0" rIns="0" bIns="0" rtlCol="0" anchor="t"/>
          <a:lstStyle/>
          <a:p>
            <a:pPr indent="0" marL="0">
              <a:buNone/>
            </a:pPr>
            <a:r>
              <a:rPr lang="en-US" sz="1400" i="1" dirty="0">
                <a:solidFill>
                  <a:schemeClr val="tx2"/>
                </a:solidFill>
              </a:rPr>
              <a:t>Le seuil règle un compromis métier : coût d'une réponse fausse contre coût d'une non-réponse.</a:t>
            </a:r>
            <a:endParaRPr lang="en-US" sz="1400" dirty="0"/>
          </a:p>
        </p:txBody>
      </p:sp>
      <p:graphicFrame>
        <p:nvGraphicFramePr>
          <p:cNvPr id="14" name="graphique sensibilité au seuil" descr=""/>
          <p:cNvGraphicFramePr/>
          <p:nvPr/>
        </p:nvGraphicFramePr>
        <p:xfrm>
          <a:off x="6172200" y="1325880"/>
          <a:ext cx="5440680" cy="452628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txBox="1"/>
          <p:nvPr/>
        </p:nvSpPr>
        <p:spPr>
          <a:xfrm>
            <a:off x="548640" y="6053328"/>
            <a:ext cx="11094415" cy="274320"/>
          </a:xfrm>
          <a:prstGeom prst="rect">
            <a:avLst/>
          </a:prstGeom>
          <a:noFill/>
          <a:ln/>
        </p:spPr>
        <p:txBody>
          <a:bodyPr wrap="square" lIns="0" tIns="0" rIns="0" bIns="0" rtlCol="0" anchor="t"/>
          <a:lstStyle/>
          <a:p>
            <a:pPr indent="0" marL="0">
              <a:buNone/>
            </a:pPr>
            <a:r>
              <a:rPr lang="en-US" sz="1000" i="1" dirty="0">
                <a:solidFill>
                  <a:schemeClr val="tx2"/>
                </a:solidFill>
              </a:rPr>
              <a:t>Source : RESULTATS.md — sections 5 et 6 ; vérification des citations et filtrage des droits appliqués à toutes les architectures.</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Experts et recommandations : le graphe apporte la justification</a:t>
            </a:r>
            <a:endParaRPr lang="en-US" sz="3000" dirty="0"/>
          </a:p>
        </p:txBody>
      </p:sp>
      <p:graphicFrame>
        <p:nvGraphicFramePr>
          <p:cNvPr id="3" name="graphique experts" descr=""/>
          <p:cNvGraphicFramePr/>
          <p:nvPr/>
        </p:nvGraphicFramePr>
        <p:xfrm>
          <a:off x="548640" y="1325880"/>
          <a:ext cx="5394960" cy="356616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graphique recommandations" descr=""/>
          <p:cNvGraphicFramePr/>
          <p:nvPr/>
        </p:nvGraphicFramePr>
        <p:xfrm>
          <a:off x="6217920" y="1325880"/>
          <a:ext cx="5394960" cy="356616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548640" y="5029200"/>
            <a:ext cx="5394960" cy="822960"/>
          </a:xfrm>
          <a:prstGeom prst="rect">
            <a:avLst/>
          </a:prstGeom>
          <a:noFill/>
          <a:ln/>
        </p:spPr>
        <p:txBody>
          <a:bodyPr wrap="square" lIns="0" tIns="0" rIns="0" bIns="0" rtlCol="0" anchor="t"/>
          <a:lstStyle/>
          <a:p>
            <a:pPr indent="0" marL="0">
              <a:buNone/>
            </a:pPr>
            <a:r>
              <a:rPr lang="en-US" sz="1500" b="1" dirty="0">
                <a:solidFill>
                  <a:schemeClr val="tx1"/>
                </a:solidFill>
              </a:rPr>
              <a:t>H4 non démontrée : </a:t>
            </a:r>
            <a:pPr indent="0" marL="0">
              <a:buNone/>
            </a:pPr>
            <a:r>
              <a:rPr lang="en-US" sz="1500" dirty="0">
                <a:solidFill>
                  <a:schemeClr val="tx1"/>
                </a:solidFill>
              </a:rPr>
              <a:t>écart de +0,064, p = 0,375 ; l'apport tient aux preuves affichées.</a:t>
            </a:r>
            <a:endParaRPr lang="en-US" sz="1500" dirty="0"/>
          </a:p>
        </p:txBody>
      </p:sp>
      <p:sp>
        <p:nvSpPr>
          <p:cNvPr id="6" name="Text 2"/>
          <p:cNvSpPr txBox="1"/>
          <p:nvPr/>
        </p:nvSpPr>
        <p:spPr>
          <a:xfrm>
            <a:off x="6217920" y="5029200"/>
            <a:ext cx="5394960" cy="822960"/>
          </a:xfrm>
          <a:prstGeom prst="rect">
            <a:avLst/>
          </a:prstGeom>
          <a:noFill/>
          <a:ln/>
        </p:spPr>
        <p:txBody>
          <a:bodyPr wrap="square" lIns="0" tIns="0" rIns="0" bIns="0" rtlCol="0" anchor="t"/>
          <a:lstStyle/>
          <a:p>
            <a:pPr indent="0" marL="0">
              <a:buNone/>
            </a:pPr>
            <a:r>
              <a:rPr lang="en-US" sz="1500" b="1" dirty="0">
                <a:solidFill>
                  <a:schemeClr val="tx1"/>
                </a:solidFill>
              </a:rPr>
              <a:t>H5 validée : </a:t>
            </a:r>
            <a:pPr indent="0" marL="0">
              <a:buNone/>
            </a:pPr>
            <a:r>
              <a:rPr lang="en-US" sz="1500" dirty="0">
                <a:solidFill>
                  <a:schemeClr val="tx1"/>
                </a:solidFill>
              </a:rPr>
              <a:t>+0,261 sur le contenu seul, p = 0,004 ; aucun doublon recommandé.</a:t>
            </a:r>
            <a:endParaRPr lang="en-US" sz="1500" dirty="0"/>
          </a:p>
        </p:txBody>
      </p:sp>
      <p:sp>
        <p:nvSpPr>
          <p:cNvPr id="7" name="Text 3"/>
          <p:cNvSpPr txBox="1"/>
          <p:nvPr/>
        </p:nvSpPr>
        <p:spPr>
          <a:xfrm>
            <a:off x="548640" y="6053328"/>
            <a:ext cx="11094415" cy="274320"/>
          </a:xfrm>
          <a:prstGeom prst="rect">
            <a:avLst/>
          </a:prstGeom>
          <a:noFill/>
          <a:ln/>
        </p:spPr>
        <p:txBody>
          <a:bodyPr wrap="square" lIns="0" tIns="0" rIns="0" bIns="0" rtlCol="0" anchor="t"/>
          <a:lstStyle/>
          <a:p>
            <a:pPr indent="0" marL="0">
              <a:buNone/>
            </a:pPr>
            <a:r>
              <a:rPr lang="en-US" sz="1000" i="1" dirty="0">
                <a:solidFill>
                  <a:schemeClr val="tx2"/>
                </a:solidFill>
              </a:rPr>
              <a:t>Source : RESULTATS.md — sections 7 et 8 ; test exact des signes apparié.</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Bilan des hypothèses de recherche</a:t>
            </a:r>
            <a:endParaRPr lang="en-US" sz="3000" dirty="0"/>
          </a:p>
        </p:txBody>
      </p:sp>
      <p:graphicFrame>
        <p:nvGraphicFramePr>
          <p:cNvPr id="18" name="table des hypothèses"/>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840480"/>
                <a:gridCol w="5394960"/>
                <a:gridCol w="1856232"/>
              </a:tblGrid>
              <a:tr h="64008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Hypothèse</a:t>
                      </a:r>
                      <a:endParaRPr lang="en-US" sz="1500" dirty="0">
                        <a:latin typeface="Calibri" charset="0"/>
                        <a:ea typeface="Calibri" charset="0"/>
                        <a:cs typeface="Calibri" charset="0"/>
                      </a:endParaRPr>
                    </a:p>
                  </a:txBody>
                  <a:tcPr marL="91440" marR="91440" marT="45720" marB="45720" anchor="ctr">
                    <a:lnL w="6350" cap="flat" cmpd="sng" algn="ctr">
                      <a:solidFill>
                        <a:srgbClr val="C9D2DB"/>
                      </a:solidFill>
                      <a:prstDash val="solid"/>
                      <a:round/>
                      <a:headEnd type="none" w="med" len="med"/>
                      <a:tailEnd type="none" w="med" len="med"/>
                    </a:lnL>
                    <a:lnR w="6350" cap="flat" cmpd="sng" algn="ctr">
                      <a:solidFill>
                        <a:srgbClr val="C9D2DB"/>
                      </a:solidFill>
                      <a:prstDash val="solid"/>
                      <a:round/>
                      <a:headEnd type="none" w="med" len="med"/>
                      <a:tailEnd type="none" w="med" len="med"/>
                    </a:lnR>
                    <a:lnT w="6350" cap="flat" cmpd="sng" algn="ctr">
                      <a:solidFill>
                        <a:srgbClr val="C9D2DB"/>
                      </a:solidFill>
                      <a:prstDash val="solid"/>
                      <a:round/>
                      <a:headEnd type="none" w="med" len="med"/>
                      <a:tailEnd type="none" w="med" len="med"/>
                    </a:lnT>
                    <a:lnB w="6350" cap="flat" cmpd="sng" algn="ctr">
                      <a:solidFill>
                        <a:srgbClr val="C9D2DB"/>
                      </a:solidFill>
                      <a:prstDash val="solid"/>
                      <a:round/>
                      <a:headEnd type="none" w="med" len="med"/>
                      <a:tailEnd type="none" w="med" len="med"/>
                    </a:lnB>
                    <a:solidFill>
                      <a:srgbClr val="1D2B3A"/>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Constat mesuré</a:t>
                      </a:r>
                      <a:endParaRPr lang="en-US" sz="1500" dirty="0">
                        <a:latin typeface="Calibri" charset="0"/>
                        <a:ea typeface="Calibri" charset="0"/>
                        <a:cs typeface="Calibri" charset="0"/>
                      </a:endParaRPr>
                    </a:p>
                  </a:txBody>
                  <a:tcPr marL="91440" marR="91440" marT="45720" marB="45720" anchor="ctr">
                    <a:lnL w="6350" cap="flat" cmpd="sng" algn="ctr">
                      <a:solidFill>
                        <a:srgbClr val="C9D2DB"/>
                      </a:solidFill>
                      <a:prstDash val="solid"/>
                      <a:round/>
                      <a:headEnd type="none" w="med" len="med"/>
                      <a:tailEnd type="none" w="med" len="med"/>
                    </a:lnL>
                    <a:lnR w="6350" cap="flat" cmpd="sng" algn="ctr">
                      <a:solidFill>
                        <a:srgbClr val="C9D2DB"/>
                      </a:solidFill>
                      <a:prstDash val="solid"/>
                      <a:round/>
                      <a:headEnd type="none" w="med" len="med"/>
                      <a:tailEnd type="none" w="med" len="med"/>
                    </a:lnR>
                    <a:lnT w="6350" cap="flat" cmpd="sng" algn="ctr">
                      <a:solidFill>
                        <a:srgbClr val="C9D2DB"/>
                      </a:solidFill>
                      <a:prstDash val="solid"/>
                      <a:round/>
                      <a:headEnd type="none" w="med" len="med"/>
                      <a:tailEnd type="none" w="med" len="med"/>
                    </a:lnT>
                    <a:lnB w="6350" cap="flat" cmpd="sng" algn="ctr">
                      <a:solidFill>
                        <a:srgbClr val="C9D2DB"/>
                      </a:solidFill>
                      <a:prstDash val="solid"/>
                      <a:round/>
                      <a:headEnd type="none" w="med" len="med"/>
                      <a:tailEnd type="none" w="med" len="med"/>
                    </a:lnB>
                    <a:solidFill>
                      <a:srgbClr val="1D2B3A"/>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Verdict</a:t>
                      </a:r>
                      <a:endParaRPr lang="en-US" sz="1500" dirty="0">
                        <a:latin typeface="Calibri" charset="0"/>
                        <a:ea typeface="Calibri" charset="0"/>
                        <a:cs typeface="Calibri" charset="0"/>
                      </a:endParaRPr>
                    </a:p>
                  </a:txBody>
                  <a:tcPr marL="91440" marR="91440" marT="45720" marB="45720" anchor="ctr">
                    <a:lnL w="6350" cap="flat" cmpd="sng" algn="ctr">
                      <a:solidFill>
                        <a:srgbClr val="C9D2DB"/>
                      </a:solidFill>
                      <a:prstDash val="solid"/>
                      <a:round/>
                      <a:headEnd type="none" w="med" len="med"/>
                      <a:tailEnd type="none" w="med" len="med"/>
                    </a:lnL>
                    <a:lnR w="6350" cap="flat" cmpd="sng" algn="ctr">
                      <a:solidFill>
                        <a:srgbClr val="C9D2DB"/>
                      </a:solidFill>
                      <a:prstDash val="solid"/>
                      <a:round/>
                      <a:headEnd type="none" w="med" len="med"/>
                      <a:tailEnd type="none" w="med" len="med"/>
                    </a:lnR>
                    <a:lnT w="6350" cap="flat" cmpd="sng" algn="ctr">
                      <a:solidFill>
                        <a:srgbClr val="C9D2DB"/>
                      </a:solidFill>
                      <a:prstDash val="solid"/>
                      <a:round/>
                      <a:headEnd type="none" w="med" len="med"/>
                      <a:tailEnd type="none" w="med" len="med"/>
                    </a:lnT>
                    <a:lnB w="6350" cap="flat" cmpd="sng" algn="ctr">
                      <a:solidFill>
                        <a:srgbClr val="C9D2DB"/>
                      </a:solidFill>
                      <a:prstDash val="solid"/>
                      <a:round/>
                      <a:headEnd type="none" w="med" len="med"/>
                      <a:tailEnd type="none" w="med" len="med"/>
                    </a:lnB>
                    <a:solidFill>
                      <a:srgbClr val="1D2B3A"/>
                    </a:solidFill>
                  </a:tcPr>
                </a:tc>
              </a:tr>
              <a:tr h="640080">
                <a:tc>
                  <a:txBody>
                    <a:bodyPr/>
                    <a:lstStyle/>
                    <a:p>
                      <a:pPr indent="0" marL="0">
                        <a:buNone/>
                      </a:pPr>
                      <a:r>
                        <a:rPr lang="en-US" sz="1500" dirty="0">
                          <a:solidFill>
                            <a:srgbClr val="1D2B3A"/>
                          </a:solidFill>
                          <a:latin typeface="Calibri" pitchFamily="34" charset="0"/>
                          <a:ea typeface="Calibri" pitchFamily="34" charset="-122"/>
                          <a:cs typeface="Calibri" pitchFamily="34" charset="-120"/>
                        </a:rPr>
                        <a:t>H1 — le graphe aide le relationnel et le multi-sauts</a:t>
                      </a:r>
                      <a:endParaRPr lang="en-US" sz="1500" dirty="0">
                        <a:latin typeface="Calibri" charset="0"/>
                        <a:ea typeface="Calibri" charset="0"/>
                        <a:cs typeface="Calibri" charset="0"/>
                      </a:endParaRPr>
                    </a:p>
                  </a:txBody>
                  <a:tcPr marL="91440" marR="91440" marT="45720" marB="45720" anchor="ctr">
                    <a:lnL w="6350" cap="flat" cmpd="sng" algn="ctr">
                      <a:solidFill>
                        <a:srgbClr val="C9D2DB"/>
                      </a:solidFill>
                      <a:prstDash val="solid"/>
                      <a:round/>
                      <a:headEnd type="none" w="med" len="med"/>
                      <a:tailEnd type="none" w="med" len="med"/>
                    </a:lnL>
                    <a:lnR w="6350" cap="flat" cmpd="sng" algn="ctr">
                      <a:solidFill>
                        <a:srgbClr val="C9D2DB"/>
                      </a:solidFill>
                      <a:prstDash val="solid"/>
                      <a:round/>
                      <a:headEnd type="none" w="med" len="med"/>
                      <a:tailEnd type="none" w="med" len="med"/>
                    </a:lnR>
                    <a:lnT w="6350" cap="flat" cmpd="sng" algn="ctr">
                      <a:solidFill>
                        <a:srgbClr val="C9D2DB"/>
                      </a:solidFill>
                      <a:prstDash val="solid"/>
                      <a:round/>
                      <a:headEnd type="none" w="med" len="med"/>
                      <a:tailEnd type="none" w="med" len="med"/>
                    </a:lnT>
                    <a:lnB w="6350" cap="flat" cmpd="sng" algn="ctr">
                      <a:solidFill>
                        <a:srgbClr val="C9D2DB"/>
                      </a:solidFill>
                      <a:prstDash val="solid"/>
                      <a:round/>
                      <a:headEnd type="none" w="med" len="med"/>
                      <a:tailEnd type="none" w="med" len="med"/>
                    </a:lnB>
                  </a:tcPr>
                </a:tc>
                <a:tc>
                  <a:txBody>
                    <a:bodyPr/>
                    <a:lstStyle/>
                    <a:p>
                      <a:pPr indent="0" marL="0">
                        <a:buNone/>
                      </a:pPr>
                      <a:r>
                        <a:rPr lang="en-US" sz="1500" dirty="0">
                          <a:solidFill>
                            <a:srgbClr val="1D2B3A"/>
                          </a:solidFill>
                          <a:latin typeface="Calibri" pitchFamily="34" charset="0"/>
                          <a:ea typeface="Calibri" pitchFamily="34" charset="-122"/>
                          <a:cs typeface="Calibri" pitchFamily="34" charset="-120"/>
                        </a:rPr>
                        <a:t>exactitude 0,12 → 0,62 et 0,30 → 0,60 ; en recherche, égal à l'hybride sur le relationnel</a:t>
                      </a:r>
                      <a:endParaRPr lang="en-US" sz="1500" dirty="0">
                        <a:latin typeface="Calibri" charset="0"/>
                        <a:ea typeface="Calibri" charset="0"/>
                        <a:cs typeface="Calibri" charset="0"/>
                      </a:endParaRPr>
                    </a:p>
                  </a:txBody>
                  <a:tcPr marL="91440" marR="91440" marT="45720" marB="45720" anchor="ctr">
                    <a:lnL w="6350" cap="flat" cmpd="sng" algn="ctr">
                      <a:solidFill>
                        <a:srgbClr val="C9D2DB"/>
                      </a:solidFill>
                      <a:prstDash val="solid"/>
                      <a:round/>
                      <a:headEnd type="none" w="med" len="med"/>
                      <a:tailEnd type="none" w="med" len="med"/>
                    </a:lnL>
                    <a:lnR w="6350" cap="flat" cmpd="sng" algn="ctr">
                      <a:solidFill>
                        <a:srgbClr val="C9D2DB"/>
                      </a:solidFill>
                      <a:prstDash val="solid"/>
                      <a:round/>
                      <a:headEnd type="none" w="med" len="med"/>
                      <a:tailEnd type="none" w="med" len="med"/>
                    </a:lnR>
                    <a:lnT w="6350" cap="flat" cmpd="sng" algn="ctr">
                      <a:solidFill>
                        <a:srgbClr val="C9D2DB"/>
                      </a:solidFill>
                      <a:prstDash val="solid"/>
                      <a:round/>
                      <a:headEnd type="none" w="med" len="med"/>
                      <a:tailEnd type="none" w="med" len="med"/>
                    </a:lnT>
                    <a:lnB w="6350" cap="flat" cmpd="sng" algn="ctr">
                      <a:solidFill>
                        <a:srgbClr val="C9D2DB"/>
                      </a:solidFill>
                      <a:prstDash val="solid"/>
                      <a:round/>
                      <a:headEnd type="none" w="med" len="med"/>
                      <a:tailEnd type="none" w="med" len="med"/>
                    </a:lnB>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Partiellement</a:t>
                      </a:r>
                      <a:endParaRPr lang="en-US" sz="1500" dirty="0">
                        <a:latin typeface="Calibri" charset="0"/>
                        <a:ea typeface="Calibri" charset="0"/>
                        <a:cs typeface="Calibri" charset="0"/>
                      </a:endParaRPr>
                    </a:p>
                  </a:txBody>
                  <a:tcPr marL="91440" marR="91440" marT="45720" marB="45720" anchor="ctr">
                    <a:lnL w="6350" cap="flat" cmpd="sng" algn="ctr">
                      <a:solidFill>
                        <a:srgbClr val="C9D2DB"/>
                      </a:solidFill>
                      <a:prstDash val="solid"/>
                      <a:round/>
                      <a:headEnd type="none" w="med" len="med"/>
                      <a:tailEnd type="none" w="med" len="med"/>
                    </a:lnL>
                    <a:lnR w="6350" cap="flat" cmpd="sng" algn="ctr">
                      <a:solidFill>
                        <a:srgbClr val="C9D2DB"/>
                      </a:solidFill>
                      <a:prstDash val="solid"/>
                      <a:round/>
                      <a:headEnd type="none" w="med" len="med"/>
                      <a:tailEnd type="none" w="med" len="med"/>
                    </a:lnR>
                    <a:lnT w="6350" cap="flat" cmpd="sng" algn="ctr">
                      <a:solidFill>
                        <a:srgbClr val="C9D2DB"/>
                      </a:solidFill>
                      <a:prstDash val="solid"/>
                      <a:round/>
                      <a:headEnd type="none" w="med" len="med"/>
                      <a:tailEnd type="none" w="med" len="med"/>
                    </a:lnT>
                    <a:lnB w="6350" cap="flat" cmpd="sng" algn="ctr">
                      <a:solidFill>
                        <a:srgbClr val="C9D2DB"/>
                      </a:solidFill>
                      <a:prstDash val="solid"/>
                      <a:round/>
                      <a:headEnd type="none" w="med" len="med"/>
                      <a:tailEnd type="none" w="med" len="med"/>
                    </a:lnB>
                    <a:solidFill>
                      <a:srgbClr val="D9A441"/>
                    </a:solidFill>
                  </a:tcPr>
                </a:tc>
              </a:tr>
              <a:tr h="640080">
                <a:tc>
                  <a:txBody>
                    <a:bodyPr/>
                    <a:lstStyle/>
                    <a:p>
                      <a:pPr indent="0" marL="0">
                        <a:buNone/>
                      </a:pPr>
                      <a:r>
                        <a:rPr lang="en-US" sz="1500" dirty="0">
                          <a:solidFill>
                            <a:srgbClr val="1D2B3A"/>
                          </a:solidFill>
                          <a:latin typeface="Calibri" pitchFamily="34" charset="0"/>
                          <a:ea typeface="Calibri" pitchFamily="34" charset="-122"/>
                          <a:cs typeface="Calibri" pitchFamily="34" charset="-120"/>
                        </a:rPr>
                        <a:t>H2 — pas de dégradation du factuel</a:t>
                      </a:r>
                      <a:endParaRPr lang="en-US" sz="1500" dirty="0">
                        <a:latin typeface="Calibri" charset="0"/>
                        <a:ea typeface="Calibri" charset="0"/>
                        <a:cs typeface="Calibri" charset="0"/>
                      </a:endParaRPr>
                    </a:p>
                  </a:txBody>
                  <a:tcPr marL="91440" marR="91440" marT="45720" marB="45720" anchor="ctr">
                    <a:lnL w="6350" cap="flat" cmpd="sng" algn="ctr">
                      <a:solidFill>
                        <a:srgbClr val="C9D2DB"/>
                      </a:solidFill>
                      <a:prstDash val="solid"/>
                      <a:round/>
                      <a:headEnd type="none" w="med" len="med"/>
                      <a:tailEnd type="none" w="med" len="med"/>
                    </a:lnL>
                    <a:lnR w="6350" cap="flat" cmpd="sng" algn="ctr">
                      <a:solidFill>
                        <a:srgbClr val="C9D2DB"/>
                      </a:solidFill>
                      <a:prstDash val="solid"/>
                      <a:round/>
                      <a:headEnd type="none" w="med" len="med"/>
                      <a:tailEnd type="none" w="med" len="med"/>
                    </a:lnR>
                    <a:lnT w="6350" cap="flat" cmpd="sng" algn="ctr">
                      <a:solidFill>
                        <a:srgbClr val="C9D2DB"/>
                      </a:solidFill>
                      <a:prstDash val="solid"/>
                      <a:round/>
                      <a:headEnd type="none" w="med" len="med"/>
                      <a:tailEnd type="none" w="med" len="med"/>
                    </a:lnT>
                    <a:lnB w="6350" cap="flat" cmpd="sng" algn="ctr">
                      <a:solidFill>
                        <a:srgbClr val="C9D2DB"/>
                      </a:solidFill>
                      <a:prstDash val="solid"/>
                      <a:round/>
                      <a:headEnd type="none" w="med" len="med"/>
                      <a:tailEnd type="none" w="med" len="med"/>
                    </a:lnB>
                  </a:tcPr>
                </a:tc>
                <a:tc>
                  <a:txBody>
                    <a:bodyPr/>
                    <a:lstStyle/>
                    <a:p>
                      <a:pPr indent="0" marL="0">
                        <a:buNone/>
                      </a:pPr>
                      <a:r>
                        <a:rPr lang="en-US" sz="1500" dirty="0">
                          <a:solidFill>
                            <a:srgbClr val="1D2B3A"/>
                          </a:solidFill>
                          <a:latin typeface="Calibri" pitchFamily="34" charset="0"/>
                          <a:ea typeface="Calibri" pitchFamily="34" charset="-122"/>
                          <a:cs typeface="Calibri" pitchFamily="34" charset="-120"/>
                        </a:rPr>
                        <a:t>nDCG@5 0,99 et exactitude 0,92 grâce au routage</a:t>
                      </a:r>
                      <a:endParaRPr lang="en-US" sz="1500" dirty="0">
                        <a:latin typeface="Calibri" charset="0"/>
                        <a:ea typeface="Calibri" charset="0"/>
                        <a:cs typeface="Calibri" charset="0"/>
                      </a:endParaRPr>
                    </a:p>
                  </a:txBody>
                  <a:tcPr marL="91440" marR="91440" marT="45720" marB="45720" anchor="ctr">
                    <a:lnL w="6350" cap="flat" cmpd="sng" algn="ctr">
                      <a:solidFill>
                        <a:srgbClr val="C9D2DB"/>
                      </a:solidFill>
                      <a:prstDash val="solid"/>
                      <a:round/>
                      <a:headEnd type="none" w="med" len="med"/>
                      <a:tailEnd type="none" w="med" len="med"/>
                    </a:lnL>
                    <a:lnR w="6350" cap="flat" cmpd="sng" algn="ctr">
                      <a:solidFill>
                        <a:srgbClr val="C9D2DB"/>
                      </a:solidFill>
                      <a:prstDash val="solid"/>
                      <a:round/>
                      <a:headEnd type="none" w="med" len="med"/>
                      <a:tailEnd type="none" w="med" len="med"/>
                    </a:lnR>
                    <a:lnT w="6350" cap="flat" cmpd="sng" algn="ctr">
                      <a:solidFill>
                        <a:srgbClr val="C9D2DB"/>
                      </a:solidFill>
                      <a:prstDash val="solid"/>
                      <a:round/>
                      <a:headEnd type="none" w="med" len="med"/>
                      <a:tailEnd type="none" w="med" len="med"/>
                    </a:lnT>
                    <a:lnB w="6350" cap="flat" cmpd="sng" algn="ctr">
                      <a:solidFill>
                        <a:srgbClr val="C9D2DB"/>
                      </a:solidFill>
                      <a:prstDash val="solid"/>
                      <a:round/>
                      <a:headEnd type="none" w="med" len="med"/>
                      <a:tailEnd type="none" w="med" len="med"/>
                    </a:lnB>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Validée</a:t>
                      </a:r>
                      <a:endParaRPr lang="en-US" sz="1500" dirty="0">
                        <a:latin typeface="Calibri" charset="0"/>
                        <a:ea typeface="Calibri" charset="0"/>
                        <a:cs typeface="Calibri" charset="0"/>
                      </a:endParaRPr>
                    </a:p>
                  </a:txBody>
                  <a:tcPr marL="91440" marR="91440" marT="45720" marB="45720" anchor="ctr">
                    <a:lnL w="6350" cap="flat" cmpd="sng" algn="ctr">
                      <a:solidFill>
                        <a:srgbClr val="C9D2DB"/>
                      </a:solidFill>
                      <a:prstDash val="solid"/>
                      <a:round/>
                      <a:headEnd type="none" w="med" len="med"/>
                      <a:tailEnd type="none" w="med" len="med"/>
                    </a:lnL>
                    <a:lnR w="6350" cap="flat" cmpd="sng" algn="ctr">
                      <a:solidFill>
                        <a:srgbClr val="C9D2DB"/>
                      </a:solidFill>
                      <a:prstDash val="solid"/>
                      <a:round/>
                      <a:headEnd type="none" w="med" len="med"/>
                      <a:tailEnd type="none" w="med" len="med"/>
                    </a:lnR>
                    <a:lnT w="6350" cap="flat" cmpd="sng" algn="ctr">
                      <a:solidFill>
                        <a:srgbClr val="C9D2DB"/>
                      </a:solidFill>
                      <a:prstDash val="solid"/>
                      <a:round/>
                      <a:headEnd type="none" w="med" len="med"/>
                      <a:tailEnd type="none" w="med" len="med"/>
                    </a:lnT>
                    <a:lnB w="6350" cap="flat" cmpd="sng" algn="ctr">
                      <a:solidFill>
                        <a:srgbClr val="C9D2DB"/>
                      </a:solidFill>
                      <a:prstDash val="solid"/>
                      <a:round/>
                      <a:headEnd type="none" w="med" len="med"/>
                      <a:tailEnd type="none" w="med" len="med"/>
                    </a:lnB>
                    <a:solidFill>
                      <a:srgbClr val="2E7D7A"/>
                    </a:solidFill>
                  </a:tcPr>
                </a:tc>
              </a:tr>
              <a:tr h="640080">
                <a:tc>
                  <a:txBody>
                    <a:bodyPr/>
                    <a:lstStyle/>
                    <a:p>
                      <a:pPr indent="0" marL="0">
                        <a:buNone/>
                      </a:pPr>
                      <a:r>
                        <a:rPr lang="en-US" sz="1500" dirty="0">
                          <a:solidFill>
                            <a:srgbClr val="1D2B3A"/>
                          </a:solidFill>
                          <a:latin typeface="Calibri" pitchFamily="34" charset="0"/>
                          <a:ea typeface="Calibri" pitchFamily="34" charset="-122"/>
                          <a:cs typeface="Calibri" pitchFamily="34" charset="-120"/>
                        </a:rPr>
                        <a:t>H3 — abstention à bon escient</a:t>
                      </a:r>
                      <a:endParaRPr lang="en-US" sz="1500" dirty="0">
                        <a:latin typeface="Calibri" charset="0"/>
                        <a:ea typeface="Calibri" charset="0"/>
                        <a:cs typeface="Calibri" charset="0"/>
                      </a:endParaRPr>
                    </a:p>
                  </a:txBody>
                  <a:tcPr marL="91440" marR="91440" marT="45720" marB="45720" anchor="ctr">
                    <a:lnL w="6350" cap="flat" cmpd="sng" algn="ctr">
                      <a:solidFill>
                        <a:srgbClr val="C9D2DB"/>
                      </a:solidFill>
                      <a:prstDash val="solid"/>
                      <a:round/>
                      <a:headEnd type="none" w="med" len="med"/>
                      <a:tailEnd type="none" w="med" len="med"/>
                    </a:lnL>
                    <a:lnR w="6350" cap="flat" cmpd="sng" algn="ctr">
                      <a:solidFill>
                        <a:srgbClr val="C9D2DB"/>
                      </a:solidFill>
                      <a:prstDash val="solid"/>
                      <a:round/>
                      <a:headEnd type="none" w="med" len="med"/>
                      <a:tailEnd type="none" w="med" len="med"/>
                    </a:lnR>
                    <a:lnT w="6350" cap="flat" cmpd="sng" algn="ctr">
                      <a:solidFill>
                        <a:srgbClr val="C9D2DB"/>
                      </a:solidFill>
                      <a:prstDash val="solid"/>
                      <a:round/>
                      <a:headEnd type="none" w="med" len="med"/>
                      <a:tailEnd type="none" w="med" len="med"/>
                    </a:lnT>
                    <a:lnB w="6350" cap="flat" cmpd="sng" algn="ctr">
                      <a:solidFill>
                        <a:srgbClr val="C9D2DB"/>
                      </a:solidFill>
                      <a:prstDash val="solid"/>
                      <a:round/>
                      <a:headEnd type="none" w="med" len="med"/>
                      <a:tailEnd type="none" w="med" len="med"/>
                    </a:lnB>
                  </a:tcPr>
                </a:tc>
                <a:tc>
                  <a:txBody>
                    <a:bodyPr/>
                    <a:lstStyle/>
                    <a:p>
                      <a:pPr indent="0" marL="0">
                        <a:buNone/>
                      </a:pPr>
                      <a:r>
                        <a:rPr lang="en-US" sz="1500" dirty="0">
                          <a:solidFill>
                            <a:srgbClr val="1D2B3A"/>
                          </a:solidFill>
                          <a:latin typeface="Calibri" pitchFamily="34" charset="0"/>
                          <a:ea typeface="Calibri" pitchFamily="34" charset="-122"/>
                          <a:cs typeface="Calibri" pitchFamily="34" charset="-120"/>
                        </a:rPr>
                        <a:t>rappel 0,909 mais 18 % d'abstentions abusives</a:t>
                      </a:r>
                      <a:endParaRPr lang="en-US" sz="1500" dirty="0">
                        <a:latin typeface="Calibri" charset="0"/>
                        <a:ea typeface="Calibri" charset="0"/>
                        <a:cs typeface="Calibri" charset="0"/>
                      </a:endParaRPr>
                    </a:p>
                  </a:txBody>
                  <a:tcPr marL="91440" marR="91440" marT="45720" marB="45720" anchor="ctr">
                    <a:lnL w="6350" cap="flat" cmpd="sng" algn="ctr">
                      <a:solidFill>
                        <a:srgbClr val="C9D2DB"/>
                      </a:solidFill>
                      <a:prstDash val="solid"/>
                      <a:round/>
                      <a:headEnd type="none" w="med" len="med"/>
                      <a:tailEnd type="none" w="med" len="med"/>
                    </a:lnL>
                    <a:lnR w="6350" cap="flat" cmpd="sng" algn="ctr">
                      <a:solidFill>
                        <a:srgbClr val="C9D2DB"/>
                      </a:solidFill>
                      <a:prstDash val="solid"/>
                      <a:round/>
                      <a:headEnd type="none" w="med" len="med"/>
                      <a:tailEnd type="none" w="med" len="med"/>
                    </a:lnR>
                    <a:lnT w="6350" cap="flat" cmpd="sng" algn="ctr">
                      <a:solidFill>
                        <a:srgbClr val="C9D2DB"/>
                      </a:solidFill>
                      <a:prstDash val="solid"/>
                      <a:round/>
                      <a:headEnd type="none" w="med" len="med"/>
                      <a:tailEnd type="none" w="med" len="med"/>
                    </a:lnT>
                    <a:lnB w="6350" cap="flat" cmpd="sng" algn="ctr">
                      <a:solidFill>
                        <a:srgbClr val="C9D2DB"/>
                      </a:solidFill>
                      <a:prstDash val="solid"/>
                      <a:round/>
                      <a:headEnd type="none" w="med" len="med"/>
                      <a:tailEnd type="none" w="med" len="med"/>
                    </a:lnB>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Partiellement</a:t>
                      </a:r>
                      <a:endParaRPr lang="en-US" sz="1500" dirty="0">
                        <a:latin typeface="Calibri" charset="0"/>
                        <a:ea typeface="Calibri" charset="0"/>
                        <a:cs typeface="Calibri" charset="0"/>
                      </a:endParaRPr>
                    </a:p>
                  </a:txBody>
                  <a:tcPr marL="91440" marR="91440" marT="45720" marB="45720" anchor="ctr">
                    <a:lnL w="6350" cap="flat" cmpd="sng" algn="ctr">
                      <a:solidFill>
                        <a:srgbClr val="C9D2DB"/>
                      </a:solidFill>
                      <a:prstDash val="solid"/>
                      <a:round/>
                      <a:headEnd type="none" w="med" len="med"/>
                      <a:tailEnd type="none" w="med" len="med"/>
                    </a:lnL>
                    <a:lnR w="6350" cap="flat" cmpd="sng" algn="ctr">
                      <a:solidFill>
                        <a:srgbClr val="C9D2DB"/>
                      </a:solidFill>
                      <a:prstDash val="solid"/>
                      <a:round/>
                      <a:headEnd type="none" w="med" len="med"/>
                      <a:tailEnd type="none" w="med" len="med"/>
                    </a:lnR>
                    <a:lnT w="6350" cap="flat" cmpd="sng" algn="ctr">
                      <a:solidFill>
                        <a:srgbClr val="C9D2DB"/>
                      </a:solidFill>
                      <a:prstDash val="solid"/>
                      <a:round/>
                      <a:headEnd type="none" w="med" len="med"/>
                      <a:tailEnd type="none" w="med" len="med"/>
                    </a:lnT>
                    <a:lnB w="6350" cap="flat" cmpd="sng" algn="ctr">
                      <a:solidFill>
                        <a:srgbClr val="C9D2DB"/>
                      </a:solidFill>
                      <a:prstDash val="solid"/>
                      <a:round/>
                      <a:headEnd type="none" w="med" len="med"/>
                      <a:tailEnd type="none" w="med" len="med"/>
                    </a:lnB>
                    <a:solidFill>
                      <a:srgbClr val="D9A441"/>
                    </a:solidFill>
                  </a:tcPr>
                </a:tc>
              </a:tr>
              <a:tr h="640080">
                <a:tc>
                  <a:txBody>
                    <a:bodyPr/>
                    <a:lstStyle/>
                    <a:p>
                      <a:pPr indent="0" marL="0">
                        <a:buNone/>
                      </a:pPr>
                      <a:r>
                        <a:rPr lang="en-US" sz="1500" dirty="0">
                          <a:solidFill>
                            <a:srgbClr val="1D2B3A"/>
                          </a:solidFill>
                          <a:latin typeface="Calibri" pitchFamily="34" charset="0"/>
                          <a:ea typeface="Calibri" pitchFamily="34" charset="-122"/>
                          <a:cs typeface="Calibri" pitchFamily="34" charset="-120"/>
                        </a:rPr>
                        <a:t>H4 — experts par preuves typées</a:t>
                      </a:r>
                      <a:endParaRPr lang="en-US" sz="1500" dirty="0">
                        <a:latin typeface="Calibri" charset="0"/>
                        <a:ea typeface="Calibri" charset="0"/>
                        <a:cs typeface="Calibri" charset="0"/>
                      </a:endParaRPr>
                    </a:p>
                  </a:txBody>
                  <a:tcPr marL="91440" marR="91440" marT="45720" marB="45720" anchor="ctr">
                    <a:lnL w="6350" cap="flat" cmpd="sng" algn="ctr">
                      <a:solidFill>
                        <a:srgbClr val="C9D2DB"/>
                      </a:solidFill>
                      <a:prstDash val="solid"/>
                      <a:round/>
                      <a:headEnd type="none" w="med" len="med"/>
                      <a:tailEnd type="none" w="med" len="med"/>
                    </a:lnL>
                    <a:lnR w="6350" cap="flat" cmpd="sng" algn="ctr">
                      <a:solidFill>
                        <a:srgbClr val="C9D2DB"/>
                      </a:solidFill>
                      <a:prstDash val="solid"/>
                      <a:round/>
                      <a:headEnd type="none" w="med" len="med"/>
                      <a:tailEnd type="none" w="med" len="med"/>
                    </a:lnR>
                    <a:lnT w="6350" cap="flat" cmpd="sng" algn="ctr">
                      <a:solidFill>
                        <a:srgbClr val="C9D2DB"/>
                      </a:solidFill>
                      <a:prstDash val="solid"/>
                      <a:round/>
                      <a:headEnd type="none" w="med" len="med"/>
                      <a:tailEnd type="none" w="med" len="med"/>
                    </a:lnT>
                    <a:lnB w="6350" cap="flat" cmpd="sng" algn="ctr">
                      <a:solidFill>
                        <a:srgbClr val="C9D2DB"/>
                      </a:solidFill>
                      <a:prstDash val="solid"/>
                      <a:round/>
                      <a:headEnd type="none" w="med" len="med"/>
                      <a:tailEnd type="none" w="med" len="med"/>
                    </a:lnB>
                  </a:tcPr>
                </a:tc>
                <a:tc>
                  <a:txBody>
                    <a:bodyPr/>
                    <a:lstStyle/>
                    <a:p>
                      <a:pPr indent="0" marL="0">
                        <a:buNone/>
                      </a:pPr>
                      <a:r>
                        <a:rPr lang="en-US" sz="1500" dirty="0">
                          <a:solidFill>
                            <a:srgbClr val="1D2B3A"/>
                          </a:solidFill>
                          <a:latin typeface="Calibri" pitchFamily="34" charset="0"/>
                          <a:ea typeface="Calibri" pitchFamily="34" charset="-122"/>
                          <a:cs typeface="Calibri" pitchFamily="34" charset="-120"/>
                        </a:rPr>
                        <a:t>nDCG@3 0,975 contre 0,911, p = 0,375</a:t>
                      </a:r>
                      <a:endParaRPr lang="en-US" sz="1500" dirty="0">
                        <a:latin typeface="Calibri" charset="0"/>
                        <a:ea typeface="Calibri" charset="0"/>
                        <a:cs typeface="Calibri" charset="0"/>
                      </a:endParaRPr>
                    </a:p>
                  </a:txBody>
                  <a:tcPr marL="91440" marR="91440" marT="45720" marB="45720" anchor="ctr">
                    <a:lnL w="6350" cap="flat" cmpd="sng" algn="ctr">
                      <a:solidFill>
                        <a:srgbClr val="C9D2DB"/>
                      </a:solidFill>
                      <a:prstDash val="solid"/>
                      <a:round/>
                      <a:headEnd type="none" w="med" len="med"/>
                      <a:tailEnd type="none" w="med" len="med"/>
                    </a:lnL>
                    <a:lnR w="6350" cap="flat" cmpd="sng" algn="ctr">
                      <a:solidFill>
                        <a:srgbClr val="C9D2DB"/>
                      </a:solidFill>
                      <a:prstDash val="solid"/>
                      <a:round/>
                      <a:headEnd type="none" w="med" len="med"/>
                      <a:tailEnd type="none" w="med" len="med"/>
                    </a:lnR>
                    <a:lnT w="6350" cap="flat" cmpd="sng" algn="ctr">
                      <a:solidFill>
                        <a:srgbClr val="C9D2DB"/>
                      </a:solidFill>
                      <a:prstDash val="solid"/>
                      <a:round/>
                      <a:headEnd type="none" w="med" len="med"/>
                      <a:tailEnd type="none" w="med" len="med"/>
                    </a:lnT>
                    <a:lnB w="6350" cap="flat" cmpd="sng" algn="ctr">
                      <a:solidFill>
                        <a:srgbClr val="C9D2DB"/>
                      </a:solidFill>
                      <a:prstDash val="solid"/>
                      <a:round/>
                      <a:headEnd type="none" w="med" len="med"/>
                      <a:tailEnd type="none" w="med" len="med"/>
                    </a:lnB>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Non démontrée</a:t>
                      </a:r>
                      <a:endParaRPr lang="en-US" sz="1500" dirty="0">
                        <a:latin typeface="Calibri" charset="0"/>
                        <a:ea typeface="Calibri" charset="0"/>
                        <a:cs typeface="Calibri" charset="0"/>
                      </a:endParaRPr>
                    </a:p>
                  </a:txBody>
                  <a:tcPr marL="91440" marR="91440" marT="45720" marB="45720" anchor="ctr">
                    <a:lnL w="6350" cap="flat" cmpd="sng" algn="ctr">
                      <a:solidFill>
                        <a:srgbClr val="C9D2DB"/>
                      </a:solidFill>
                      <a:prstDash val="solid"/>
                      <a:round/>
                      <a:headEnd type="none" w="med" len="med"/>
                      <a:tailEnd type="none" w="med" len="med"/>
                    </a:lnL>
                    <a:lnR w="6350" cap="flat" cmpd="sng" algn="ctr">
                      <a:solidFill>
                        <a:srgbClr val="C9D2DB"/>
                      </a:solidFill>
                      <a:prstDash val="solid"/>
                      <a:round/>
                      <a:headEnd type="none" w="med" len="med"/>
                      <a:tailEnd type="none" w="med" len="med"/>
                    </a:lnR>
                    <a:lnT w="6350" cap="flat" cmpd="sng" algn="ctr">
                      <a:solidFill>
                        <a:srgbClr val="C9D2DB"/>
                      </a:solidFill>
                      <a:prstDash val="solid"/>
                      <a:round/>
                      <a:headEnd type="none" w="med" len="med"/>
                      <a:tailEnd type="none" w="med" len="med"/>
                    </a:lnT>
                    <a:lnB w="6350" cap="flat" cmpd="sng" algn="ctr">
                      <a:solidFill>
                        <a:srgbClr val="C9D2DB"/>
                      </a:solidFill>
                      <a:prstDash val="solid"/>
                      <a:round/>
                      <a:headEnd type="none" w="med" len="med"/>
                      <a:tailEnd type="none" w="med" len="med"/>
                    </a:lnB>
                    <a:solidFill>
                      <a:srgbClr val="B23A48"/>
                    </a:solidFill>
                  </a:tcPr>
                </a:tc>
              </a:tr>
              <a:tr h="640080">
                <a:tc>
                  <a:txBody>
                    <a:bodyPr/>
                    <a:lstStyle/>
                    <a:p>
                      <a:pPr indent="0" marL="0">
                        <a:buNone/>
                      </a:pPr>
                      <a:r>
                        <a:rPr lang="en-US" sz="1500" dirty="0">
                          <a:solidFill>
                            <a:srgbClr val="1D2B3A"/>
                          </a:solidFill>
                          <a:latin typeface="Calibri" pitchFamily="34" charset="0"/>
                          <a:ea typeface="Calibri" pitchFamily="34" charset="-122"/>
                          <a:cs typeface="Calibri" pitchFamily="34" charset="-120"/>
                        </a:rPr>
                        <a:t>H5 — recommandations hybrides</a:t>
                      </a:r>
                      <a:endParaRPr lang="en-US" sz="1500" dirty="0">
                        <a:latin typeface="Calibri" charset="0"/>
                        <a:ea typeface="Calibri" charset="0"/>
                        <a:cs typeface="Calibri" charset="0"/>
                      </a:endParaRPr>
                    </a:p>
                  </a:txBody>
                  <a:tcPr marL="91440" marR="91440" marT="45720" marB="45720" anchor="ctr">
                    <a:lnL w="6350" cap="flat" cmpd="sng" algn="ctr">
                      <a:solidFill>
                        <a:srgbClr val="C9D2DB"/>
                      </a:solidFill>
                      <a:prstDash val="solid"/>
                      <a:round/>
                      <a:headEnd type="none" w="med" len="med"/>
                      <a:tailEnd type="none" w="med" len="med"/>
                    </a:lnL>
                    <a:lnR w="6350" cap="flat" cmpd="sng" algn="ctr">
                      <a:solidFill>
                        <a:srgbClr val="C9D2DB"/>
                      </a:solidFill>
                      <a:prstDash val="solid"/>
                      <a:round/>
                      <a:headEnd type="none" w="med" len="med"/>
                      <a:tailEnd type="none" w="med" len="med"/>
                    </a:lnR>
                    <a:lnT w="6350" cap="flat" cmpd="sng" algn="ctr">
                      <a:solidFill>
                        <a:srgbClr val="C9D2DB"/>
                      </a:solidFill>
                      <a:prstDash val="solid"/>
                      <a:round/>
                      <a:headEnd type="none" w="med" len="med"/>
                      <a:tailEnd type="none" w="med" len="med"/>
                    </a:lnT>
                    <a:lnB w="6350" cap="flat" cmpd="sng" algn="ctr">
                      <a:solidFill>
                        <a:srgbClr val="C9D2DB"/>
                      </a:solidFill>
                      <a:prstDash val="solid"/>
                      <a:round/>
                      <a:headEnd type="none" w="med" len="med"/>
                      <a:tailEnd type="none" w="med" len="med"/>
                    </a:lnB>
                  </a:tcPr>
                </a:tc>
                <a:tc>
                  <a:txBody>
                    <a:bodyPr/>
                    <a:lstStyle/>
                    <a:p>
                      <a:pPr indent="0" marL="0">
                        <a:buNone/>
                      </a:pPr>
                      <a:r>
                        <a:rPr lang="en-US" sz="1500" dirty="0">
                          <a:solidFill>
                            <a:srgbClr val="1D2B3A"/>
                          </a:solidFill>
                          <a:latin typeface="Calibri" pitchFamily="34" charset="0"/>
                          <a:ea typeface="Calibri" pitchFamily="34" charset="-122"/>
                          <a:cs typeface="Calibri" pitchFamily="34" charset="-120"/>
                        </a:rPr>
                        <a:t>nDCG@5 0,908 contre 0,648, p = 0,004</a:t>
                      </a:r>
                      <a:endParaRPr lang="en-US" sz="1500" dirty="0">
                        <a:latin typeface="Calibri" charset="0"/>
                        <a:ea typeface="Calibri" charset="0"/>
                        <a:cs typeface="Calibri" charset="0"/>
                      </a:endParaRPr>
                    </a:p>
                  </a:txBody>
                  <a:tcPr marL="91440" marR="91440" marT="45720" marB="45720" anchor="ctr">
                    <a:lnL w="6350" cap="flat" cmpd="sng" algn="ctr">
                      <a:solidFill>
                        <a:srgbClr val="C9D2DB"/>
                      </a:solidFill>
                      <a:prstDash val="solid"/>
                      <a:round/>
                      <a:headEnd type="none" w="med" len="med"/>
                      <a:tailEnd type="none" w="med" len="med"/>
                    </a:lnL>
                    <a:lnR w="6350" cap="flat" cmpd="sng" algn="ctr">
                      <a:solidFill>
                        <a:srgbClr val="C9D2DB"/>
                      </a:solidFill>
                      <a:prstDash val="solid"/>
                      <a:round/>
                      <a:headEnd type="none" w="med" len="med"/>
                      <a:tailEnd type="none" w="med" len="med"/>
                    </a:lnR>
                    <a:lnT w="6350" cap="flat" cmpd="sng" algn="ctr">
                      <a:solidFill>
                        <a:srgbClr val="C9D2DB"/>
                      </a:solidFill>
                      <a:prstDash val="solid"/>
                      <a:round/>
                      <a:headEnd type="none" w="med" len="med"/>
                      <a:tailEnd type="none" w="med" len="med"/>
                    </a:lnT>
                    <a:lnB w="6350" cap="flat" cmpd="sng" algn="ctr">
                      <a:solidFill>
                        <a:srgbClr val="C9D2DB"/>
                      </a:solidFill>
                      <a:prstDash val="solid"/>
                      <a:round/>
                      <a:headEnd type="none" w="med" len="med"/>
                      <a:tailEnd type="none" w="med" len="med"/>
                    </a:lnB>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Validée</a:t>
                      </a:r>
                      <a:endParaRPr lang="en-US" sz="1500" dirty="0">
                        <a:latin typeface="Calibri" charset="0"/>
                        <a:ea typeface="Calibri" charset="0"/>
                        <a:cs typeface="Calibri" charset="0"/>
                      </a:endParaRPr>
                    </a:p>
                  </a:txBody>
                  <a:tcPr marL="91440" marR="91440" marT="45720" marB="45720" anchor="ctr">
                    <a:lnL w="6350" cap="flat" cmpd="sng" algn="ctr">
                      <a:solidFill>
                        <a:srgbClr val="C9D2DB"/>
                      </a:solidFill>
                      <a:prstDash val="solid"/>
                      <a:round/>
                      <a:headEnd type="none" w="med" len="med"/>
                      <a:tailEnd type="none" w="med" len="med"/>
                    </a:lnL>
                    <a:lnR w="6350" cap="flat" cmpd="sng" algn="ctr">
                      <a:solidFill>
                        <a:srgbClr val="C9D2DB"/>
                      </a:solidFill>
                      <a:prstDash val="solid"/>
                      <a:round/>
                      <a:headEnd type="none" w="med" len="med"/>
                      <a:tailEnd type="none" w="med" len="med"/>
                    </a:lnR>
                    <a:lnT w="6350" cap="flat" cmpd="sng" algn="ctr">
                      <a:solidFill>
                        <a:srgbClr val="C9D2DB"/>
                      </a:solidFill>
                      <a:prstDash val="solid"/>
                      <a:round/>
                      <a:headEnd type="none" w="med" len="med"/>
                      <a:tailEnd type="none" w="med" len="med"/>
                    </a:lnT>
                    <a:lnB w="6350" cap="flat" cmpd="sng" algn="ctr">
                      <a:solidFill>
                        <a:srgbClr val="C9D2DB"/>
                      </a:solidFill>
                      <a:prstDash val="solid"/>
                      <a:round/>
                      <a:headEnd type="none" w="med" len="med"/>
                      <a:tailEnd type="none" w="med" len="med"/>
                    </a:lnB>
                    <a:solidFill>
                      <a:srgbClr val="2E7D7A"/>
                    </a:solidFill>
                  </a:tcPr>
                </a:tc>
              </a:tr>
            </a:tbl>
          </a:graphicData>
        </a:graphic>
      </p:graphicFrame>
      <p:sp>
        <p:nvSpPr>
          <p:cNvPr id="4" name="Text 1"/>
          <p:cNvSpPr txBox="1"/>
          <p:nvPr/>
        </p:nvSpPr>
        <p:spPr>
          <a:xfrm>
            <a:off x="548640" y="5623560"/>
            <a:ext cx="11094415" cy="502920"/>
          </a:xfrm>
          <a:prstGeom prst="rect">
            <a:avLst/>
          </a:prstGeom>
          <a:noFill/>
          <a:ln/>
        </p:spPr>
        <p:txBody>
          <a:bodyPr wrap="square" lIns="0" tIns="0" rIns="0" bIns="0" rtlCol="0" anchor="t"/>
          <a:lstStyle/>
          <a:p>
            <a:pPr indent="0" marL="0">
              <a:buNone/>
            </a:pPr>
            <a:r>
              <a:rPr lang="en-US" sz="1400" i="1" dirty="0">
                <a:solidFill>
                  <a:schemeClr val="tx2"/>
                </a:solidFill>
              </a:rPr>
              <a:t>Menaces à la validité : corpus et questions conçus par la même personne, corpus synthétique et petit, 66 questions, mesures lexicales, encodeurs légers.</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Déployer en banque : une trajectoire et une gouvernance</a:t>
            </a:r>
            <a:endParaRPr lang="en-US" sz="3000" dirty="0"/>
          </a:p>
        </p:txBody>
      </p:sp>
      <p:sp>
        <p:nvSpPr>
          <p:cNvPr id="3" name="étape trajectoire 1"/>
          <p:cNvSpPr/>
          <p:nvPr/>
        </p:nvSpPr>
        <p:spPr>
          <a:xfrm>
            <a:off x="548640" y="1417320"/>
            <a:ext cx="2697480" cy="868680"/>
          </a:xfrm>
          <a:prstGeom prst="chevron">
            <a:avLst/>
          </a:prstGeom>
          <a:solidFill>
            <a:schemeClr val="accent2"/>
          </a:solidFill>
          <a:ln w="12700">
            <a:solidFill>
              <a:schemeClr val="accent2"/>
            </a:solidFill>
            <a:prstDash val="solid"/>
          </a:ln>
        </p:spPr>
      </p:sp>
      <p:sp>
        <p:nvSpPr>
          <p:cNvPr id="4" name="Text 2"/>
          <p:cNvSpPr txBox="1"/>
          <p:nvPr/>
        </p:nvSpPr>
        <p:spPr>
          <a:xfrm>
            <a:off x="960120" y="1417320"/>
            <a:ext cx="1920240" cy="868680"/>
          </a:xfrm>
          <a:prstGeom prst="rect">
            <a:avLst/>
          </a:prstGeom>
          <a:noFill/>
          <a:ln/>
        </p:spPr>
        <p:txBody>
          <a:bodyPr wrap="square" lIns="0" tIns="0" rIns="0" bIns="0" rtlCol="0" anchor="ctr"/>
          <a:lstStyle/>
          <a:p>
            <a:pPr algn="ctr" indent="0" marL="0">
              <a:buNone/>
            </a:pPr>
            <a:r>
              <a:rPr lang="en-US" sz="1400" b="1" dirty="0">
                <a:solidFill>
                  <a:schemeClr val="bg1"/>
                </a:solidFill>
              </a:rPr>
              <a:t>Cadrage et homologation</a:t>
            </a:r>
            <a:endParaRPr lang="en-US" sz="1400" dirty="0"/>
          </a:p>
        </p:txBody>
      </p:sp>
      <p:sp>
        <p:nvSpPr>
          <p:cNvPr id="5" name="Text 3"/>
          <p:cNvSpPr txBox="1"/>
          <p:nvPr/>
        </p:nvSpPr>
        <p:spPr>
          <a:xfrm>
            <a:off x="685800" y="2423160"/>
            <a:ext cx="2468880" cy="731520"/>
          </a:xfrm>
          <a:prstGeom prst="rect">
            <a:avLst/>
          </a:prstGeom>
          <a:noFill/>
          <a:ln/>
        </p:spPr>
        <p:txBody>
          <a:bodyPr wrap="square" lIns="0" tIns="0" rIns="0" bIns="0" rtlCol="0" anchor="t"/>
          <a:lstStyle/>
          <a:p>
            <a:pPr algn="ctr" indent="0" marL="0">
              <a:buNone/>
            </a:pPr>
            <a:r>
              <a:rPr lang="en-US" sz="1300" dirty="0">
                <a:solidFill>
                  <a:schemeClr val="tx2"/>
                </a:solidFill>
              </a:rPr>
              <a:t>analyse de risques, sécurité, DPO</a:t>
            </a:r>
            <a:endParaRPr lang="en-US" sz="1300" dirty="0"/>
          </a:p>
        </p:txBody>
      </p:sp>
      <p:sp>
        <p:nvSpPr>
          <p:cNvPr id="6" name="étape trajectoire 2"/>
          <p:cNvSpPr/>
          <p:nvPr/>
        </p:nvSpPr>
        <p:spPr>
          <a:xfrm>
            <a:off x="3364992" y="1417320"/>
            <a:ext cx="2697480" cy="868680"/>
          </a:xfrm>
          <a:prstGeom prst="chevron">
            <a:avLst/>
          </a:prstGeom>
          <a:solidFill>
            <a:schemeClr val="accent1"/>
          </a:solidFill>
          <a:ln w="12700">
            <a:solidFill>
              <a:schemeClr val="accent1"/>
            </a:solidFill>
            <a:prstDash val="solid"/>
          </a:ln>
        </p:spPr>
      </p:sp>
      <p:sp>
        <p:nvSpPr>
          <p:cNvPr id="7" name="Text 5"/>
          <p:cNvSpPr txBox="1"/>
          <p:nvPr/>
        </p:nvSpPr>
        <p:spPr>
          <a:xfrm>
            <a:off x="3776472" y="1417320"/>
            <a:ext cx="1920240" cy="868680"/>
          </a:xfrm>
          <a:prstGeom prst="rect">
            <a:avLst/>
          </a:prstGeom>
          <a:noFill/>
          <a:ln/>
        </p:spPr>
        <p:txBody>
          <a:bodyPr wrap="square" lIns="0" tIns="0" rIns="0" bIns="0" rtlCol="0" anchor="ctr"/>
          <a:lstStyle/>
          <a:p>
            <a:pPr algn="ctr" indent="0" marL="0">
              <a:buNone/>
            </a:pPr>
            <a:r>
              <a:rPr lang="en-US" sz="1400" b="1" dirty="0">
                <a:solidFill>
                  <a:schemeClr val="bg1"/>
                </a:solidFill>
              </a:rPr>
              <a:t>Pilote</a:t>
            </a:r>
            <a:endParaRPr lang="en-US" sz="1400" dirty="0"/>
          </a:p>
        </p:txBody>
      </p:sp>
      <p:sp>
        <p:nvSpPr>
          <p:cNvPr id="8" name="Text 6"/>
          <p:cNvSpPr txBox="1"/>
          <p:nvPr/>
        </p:nvSpPr>
        <p:spPr>
          <a:xfrm>
            <a:off x="3502152" y="2423160"/>
            <a:ext cx="2468880" cy="731520"/>
          </a:xfrm>
          <a:prstGeom prst="rect">
            <a:avLst/>
          </a:prstGeom>
          <a:noFill/>
          <a:ln/>
        </p:spPr>
        <p:txBody>
          <a:bodyPr wrap="square" lIns="0" tIns="0" rIns="0" bIns="0" rtlCol="0" anchor="t"/>
          <a:lstStyle/>
          <a:p>
            <a:pPr algn="ctr" indent="0" marL="0">
              <a:buNone/>
            </a:pPr>
            <a:r>
              <a:rPr lang="en-US" sz="1300" dirty="0">
                <a:solidFill>
                  <a:schemeClr val="tx2"/>
                </a:solidFill>
              </a:rPr>
              <a:t>un domaine, questions réelles annotées par les métiers</a:t>
            </a:r>
            <a:endParaRPr lang="en-US" sz="1300" dirty="0"/>
          </a:p>
        </p:txBody>
      </p:sp>
      <p:sp>
        <p:nvSpPr>
          <p:cNvPr id="9" name="étape trajectoire 3"/>
          <p:cNvSpPr/>
          <p:nvPr/>
        </p:nvSpPr>
        <p:spPr>
          <a:xfrm>
            <a:off x="6181344" y="1417320"/>
            <a:ext cx="2697480" cy="868680"/>
          </a:xfrm>
          <a:prstGeom prst="chevron">
            <a:avLst/>
          </a:prstGeom>
          <a:solidFill>
            <a:schemeClr val="accent2"/>
          </a:solidFill>
          <a:ln w="12700">
            <a:solidFill>
              <a:schemeClr val="accent2"/>
            </a:solidFill>
            <a:prstDash val="solid"/>
          </a:ln>
        </p:spPr>
      </p:sp>
      <p:sp>
        <p:nvSpPr>
          <p:cNvPr id="10" name="Text 8"/>
          <p:cNvSpPr txBox="1"/>
          <p:nvPr/>
        </p:nvSpPr>
        <p:spPr>
          <a:xfrm>
            <a:off x="6592824" y="1417320"/>
            <a:ext cx="1920240" cy="868680"/>
          </a:xfrm>
          <a:prstGeom prst="rect">
            <a:avLst/>
          </a:prstGeom>
          <a:noFill/>
          <a:ln/>
        </p:spPr>
        <p:txBody>
          <a:bodyPr wrap="square" lIns="0" tIns="0" rIns="0" bIns="0" rtlCol="0" anchor="ctr"/>
          <a:lstStyle/>
          <a:p>
            <a:pPr algn="ctr" indent="0" marL="0">
              <a:buNone/>
            </a:pPr>
            <a:r>
              <a:rPr lang="en-US" sz="1400" b="1" dirty="0">
                <a:solidFill>
                  <a:schemeClr val="bg1"/>
                </a:solidFill>
              </a:rPr>
              <a:t>Industrialisation</a:t>
            </a:r>
            <a:endParaRPr lang="en-US" sz="1400" dirty="0"/>
          </a:p>
        </p:txBody>
      </p:sp>
      <p:sp>
        <p:nvSpPr>
          <p:cNvPr id="11" name="Text 9"/>
          <p:cNvSpPr txBox="1"/>
          <p:nvPr/>
        </p:nvSpPr>
        <p:spPr>
          <a:xfrm>
            <a:off x="6318504" y="2423160"/>
            <a:ext cx="2468880" cy="731520"/>
          </a:xfrm>
          <a:prstGeom prst="rect">
            <a:avLst/>
          </a:prstGeom>
          <a:noFill/>
          <a:ln/>
        </p:spPr>
        <p:txBody>
          <a:bodyPr wrap="square" lIns="0" tIns="0" rIns="0" bIns="0" rtlCol="0" anchor="t"/>
          <a:lstStyle/>
          <a:p>
            <a:pPr algn="ctr" indent="0" marL="0">
              <a:buNone/>
            </a:pPr>
            <a:r>
              <a:rPr lang="en-US" sz="1300" dirty="0">
                <a:solidFill>
                  <a:schemeClr val="tx2"/>
                </a:solidFill>
              </a:rPr>
              <a:t>SSO, supervision, sauvegardes automatisées</a:t>
            </a:r>
            <a:endParaRPr lang="en-US" sz="1300" dirty="0"/>
          </a:p>
        </p:txBody>
      </p:sp>
      <p:sp>
        <p:nvSpPr>
          <p:cNvPr id="12" name="étape trajectoire 4"/>
          <p:cNvSpPr/>
          <p:nvPr/>
        </p:nvSpPr>
        <p:spPr>
          <a:xfrm>
            <a:off x="8997696" y="1417320"/>
            <a:ext cx="2697480" cy="868680"/>
          </a:xfrm>
          <a:prstGeom prst="chevron">
            <a:avLst/>
          </a:prstGeom>
          <a:solidFill>
            <a:schemeClr val="accent2"/>
          </a:solidFill>
          <a:ln w="12700">
            <a:solidFill>
              <a:schemeClr val="accent2"/>
            </a:solidFill>
            <a:prstDash val="solid"/>
          </a:ln>
        </p:spPr>
      </p:sp>
      <p:sp>
        <p:nvSpPr>
          <p:cNvPr id="13" name="Text 11"/>
          <p:cNvSpPr txBox="1"/>
          <p:nvPr/>
        </p:nvSpPr>
        <p:spPr>
          <a:xfrm>
            <a:off x="9409176" y="1417320"/>
            <a:ext cx="1920240" cy="868680"/>
          </a:xfrm>
          <a:prstGeom prst="rect">
            <a:avLst/>
          </a:prstGeom>
          <a:noFill/>
          <a:ln/>
        </p:spPr>
        <p:txBody>
          <a:bodyPr wrap="square" lIns="0" tIns="0" rIns="0" bIns="0" rtlCol="0" anchor="ctr"/>
          <a:lstStyle/>
          <a:p>
            <a:pPr algn="ctr" indent="0" marL="0">
              <a:buNone/>
            </a:pPr>
            <a:r>
              <a:rPr lang="en-US" sz="1400" b="1" dirty="0">
                <a:solidFill>
                  <a:schemeClr val="bg1"/>
                </a:solidFill>
              </a:rPr>
              <a:t>Extension</a:t>
            </a:r>
            <a:endParaRPr lang="en-US" sz="1400" dirty="0"/>
          </a:p>
        </p:txBody>
      </p:sp>
      <p:sp>
        <p:nvSpPr>
          <p:cNvPr id="14" name="Text 12"/>
          <p:cNvSpPr txBox="1"/>
          <p:nvPr/>
        </p:nvSpPr>
        <p:spPr>
          <a:xfrm>
            <a:off x="9134856" y="2423160"/>
            <a:ext cx="2468880" cy="731520"/>
          </a:xfrm>
          <a:prstGeom prst="rect">
            <a:avLst/>
          </a:prstGeom>
          <a:noFill/>
          <a:ln/>
        </p:spPr>
        <p:txBody>
          <a:bodyPr wrap="square" lIns="0" tIns="0" rIns="0" bIns="0" rtlCol="0" anchor="t"/>
          <a:lstStyle/>
          <a:p>
            <a:pPr algn="ctr" indent="0" marL="0">
              <a:buNone/>
            </a:pPr>
            <a:r>
              <a:rPr lang="en-US" sz="1300" dirty="0">
                <a:solidFill>
                  <a:schemeClr val="tx2"/>
                </a:solidFill>
              </a:rPr>
              <a:t>domaine par domaine, gouvernance en place</a:t>
            </a:r>
            <a:endParaRPr lang="en-US" sz="1300" dirty="0"/>
          </a:p>
        </p:txBody>
      </p:sp>
      <p:sp>
        <p:nvSpPr>
          <p:cNvPr id="15" name="Gestionnaire des connaissances cercle"/>
          <p:cNvSpPr/>
          <p:nvPr/>
        </p:nvSpPr>
        <p:spPr>
          <a:xfrm>
            <a:off x="548640" y="3429000"/>
            <a:ext cx="566928" cy="566928"/>
          </a:xfrm>
          <a:prstGeom prst="ellipse">
            <a:avLst/>
          </a:prstGeom>
          <a:solidFill>
            <a:schemeClr val="accent2"/>
          </a:solidFill>
          <a:ln w="12700">
            <a:solidFill>
              <a:schemeClr val="accent2"/>
            </a:solidFill>
            <a:prstDash val="solid"/>
          </a:ln>
        </p:spPr>
      </p:sp>
      <p:pic>
        <p:nvPicPr>
          <p:cNvPr id="16" name="Gestionnaire des connaissances icône" descr="Gestionnaire des connaissances">    </p:cNvPr>
          <p:cNvPicPr>
            <a:picLocks noChangeAspect="1"/>
          </p:cNvPicPr>
          <p:nvPr/>
        </p:nvPicPr>
        <p:blipFill>
          <a:blip r:embed="rId1"/>
          <a:stretch>
            <a:fillRect/>
          </a:stretch>
        </p:blipFill>
        <p:spPr>
          <a:xfrm>
            <a:off x="690372" y="3570732"/>
            <a:ext cx="283464" cy="283464"/>
          </a:xfrm>
          <a:prstGeom prst="rect">
            <a:avLst/>
          </a:prstGeom>
        </p:spPr>
      </p:pic>
      <p:sp>
        <p:nvSpPr>
          <p:cNvPr id="17" name="Text 14"/>
          <p:cNvSpPr txBox="1"/>
          <p:nvPr/>
        </p:nvSpPr>
        <p:spPr>
          <a:xfrm>
            <a:off x="1280160" y="3429000"/>
            <a:ext cx="4663440" cy="384048"/>
          </a:xfrm>
          <a:prstGeom prst="rect">
            <a:avLst/>
          </a:prstGeom>
          <a:noFill/>
          <a:ln/>
        </p:spPr>
        <p:txBody>
          <a:bodyPr wrap="square" lIns="0" tIns="0" rIns="0" bIns="0" rtlCol="0" anchor="t"/>
          <a:lstStyle/>
          <a:p>
            <a:pPr indent="0" marL="0">
              <a:buNone/>
            </a:pPr>
            <a:r>
              <a:rPr lang="en-US" sz="1600" b="1" dirty="0">
                <a:solidFill>
                  <a:schemeClr val="tx1"/>
                </a:solidFill>
              </a:rPr>
              <a:t>Gestionnaire des connaissances</a:t>
            </a:r>
            <a:endParaRPr lang="en-US" sz="1600" dirty="0"/>
          </a:p>
        </p:txBody>
      </p:sp>
      <p:sp>
        <p:nvSpPr>
          <p:cNvPr id="18" name="Text 15"/>
          <p:cNvSpPr txBox="1"/>
          <p:nvPr/>
        </p:nvSpPr>
        <p:spPr>
          <a:xfrm>
            <a:off x="1280160" y="3813048"/>
            <a:ext cx="4663440" cy="548640"/>
          </a:xfrm>
          <a:prstGeom prst="rect">
            <a:avLst/>
          </a:prstGeom>
          <a:noFill/>
          <a:ln/>
        </p:spPr>
        <p:txBody>
          <a:bodyPr wrap="square" lIns="0" tIns="0" rIns="0" bIns="0" rtlCol="0" anchor="t"/>
          <a:lstStyle/>
          <a:p>
            <a:pPr indent="0" marL="0">
              <a:buNone/>
            </a:pPr>
            <a:r>
              <a:rPr lang="en-US" sz="1400" dirty="0">
                <a:solidFill>
                  <a:schemeClr val="tx2"/>
                </a:solidFill>
              </a:rPr>
              <a:t>valide entités candidates et quarantaine</a:t>
            </a:r>
            <a:endParaRPr lang="en-US" sz="1400" dirty="0"/>
          </a:p>
        </p:txBody>
      </p:sp>
      <p:sp>
        <p:nvSpPr>
          <p:cNvPr id="19" name="Contrôle par échantillonnage cercle"/>
          <p:cNvSpPr/>
          <p:nvPr/>
        </p:nvSpPr>
        <p:spPr>
          <a:xfrm>
            <a:off x="6126480" y="3429000"/>
            <a:ext cx="566928" cy="566928"/>
          </a:xfrm>
          <a:prstGeom prst="ellipse">
            <a:avLst/>
          </a:prstGeom>
          <a:solidFill>
            <a:schemeClr val="accent2"/>
          </a:solidFill>
          <a:ln w="12700">
            <a:solidFill>
              <a:schemeClr val="accent2"/>
            </a:solidFill>
            <a:prstDash val="solid"/>
          </a:ln>
        </p:spPr>
      </p:sp>
      <p:pic>
        <p:nvPicPr>
          <p:cNvPr id="20" name="Contrôle par échantillonnage icône" descr="Contrôle par échantillonnage">    </p:cNvPr>
          <p:cNvPicPr>
            <a:picLocks noChangeAspect="1"/>
          </p:cNvPicPr>
          <p:nvPr/>
        </p:nvPicPr>
        <p:blipFill>
          <a:blip r:embed="rId2"/>
          <a:stretch>
            <a:fillRect/>
          </a:stretch>
        </p:blipFill>
        <p:spPr>
          <a:xfrm>
            <a:off x="6268212" y="3570732"/>
            <a:ext cx="283464" cy="283464"/>
          </a:xfrm>
          <a:prstGeom prst="rect">
            <a:avLst/>
          </a:prstGeom>
        </p:spPr>
      </p:pic>
      <p:sp>
        <p:nvSpPr>
          <p:cNvPr id="21" name="Text 17"/>
          <p:cNvSpPr txBox="1"/>
          <p:nvPr/>
        </p:nvSpPr>
        <p:spPr>
          <a:xfrm>
            <a:off x="6858000" y="3429000"/>
            <a:ext cx="4663440" cy="384048"/>
          </a:xfrm>
          <a:prstGeom prst="rect">
            <a:avLst/>
          </a:prstGeom>
          <a:noFill/>
          <a:ln/>
        </p:spPr>
        <p:txBody>
          <a:bodyPr wrap="square" lIns="0" tIns="0" rIns="0" bIns="0" rtlCol="0" anchor="t"/>
          <a:lstStyle/>
          <a:p>
            <a:pPr indent="0" marL="0">
              <a:buNone/>
            </a:pPr>
            <a:r>
              <a:rPr lang="en-US" sz="1600" b="1" dirty="0">
                <a:solidFill>
                  <a:schemeClr val="tx1"/>
                </a:solidFill>
              </a:rPr>
              <a:t>Contrôle par échantillonnage</a:t>
            </a:r>
            <a:endParaRPr lang="en-US" sz="1600" dirty="0"/>
          </a:p>
        </p:txBody>
      </p:sp>
      <p:sp>
        <p:nvSpPr>
          <p:cNvPr id="22" name="Text 18"/>
          <p:cNvSpPr txBox="1"/>
          <p:nvPr/>
        </p:nvSpPr>
        <p:spPr>
          <a:xfrm>
            <a:off x="6858000" y="3813048"/>
            <a:ext cx="4663440" cy="548640"/>
          </a:xfrm>
          <a:prstGeom prst="rect">
            <a:avLst/>
          </a:prstGeom>
          <a:noFill/>
          <a:ln/>
        </p:spPr>
        <p:txBody>
          <a:bodyPr wrap="square" lIns="0" tIns="0" rIns="0" bIns="0" rtlCol="0" anchor="t"/>
          <a:lstStyle/>
          <a:p>
            <a:pPr indent="0" marL="0">
              <a:buNone/>
            </a:pPr>
            <a:r>
              <a:rPr lang="en-US" sz="1400" dirty="0">
                <a:solidFill>
                  <a:schemeClr val="tx2"/>
                </a:solidFill>
              </a:rPr>
              <a:t>la conformité relit un échantillon de réponses</a:t>
            </a:r>
            <a:endParaRPr lang="en-US" sz="1400" dirty="0"/>
          </a:p>
        </p:txBody>
      </p:sp>
      <p:sp>
        <p:nvSpPr>
          <p:cNvPr id="23" name="Experts : finalité limitée cercle"/>
          <p:cNvSpPr/>
          <p:nvPr/>
        </p:nvSpPr>
        <p:spPr>
          <a:xfrm>
            <a:off x="548640" y="4663440"/>
            <a:ext cx="566928" cy="566928"/>
          </a:xfrm>
          <a:prstGeom prst="ellipse">
            <a:avLst/>
          </a:prstGeom>
          <a:solidFill>
            <a:schemeClr val="accent2"/>
          </a:solidFill>
          <a:ln w="12700">
            <a:solidFill>
              <a:schemeClr val="accent2"/>
            </a:solidFill>
            <a:prstDash val="solid"/>
          </a:ln>
        </p:spPr>
      </p:sp>
      <p:pic>
        <p:nvPicPr>
          <p:cNvPr id="24" name="Experts : finalité limitée icône" descr="Experts : finalité limitée">    </p:cNvPr>
          <p:cNvPicPr>
            <a:picLocks noChangeAspect="1"/>
          </p:cNvPicPr>
          <p:nvPr/>
        </p:nvPicPr>
        <p:blipFill>
          <a:blip r:embed="rId3"/>
          <a:stretch>
            <a:fillRect/>
          </a:stretch>
        </p:blipFill>
        <p:spPr>
          <a:xfrm>
            <a:off x="690372" y="4805172"/>
            <a:ext cx="283464" cy="283464"/>
          </a:xfrm>
          <a:prstGeom prst="rect">
            <a:avLst/>
          </a:prstGeom>
        </p:spPr>
      </p:pic>
      <p:sp>
        <p:nvSpPr>
          <p:cNvPr id="25" name="Text 20"/>
          <p:cNvSpPr txBox="1"/>
          <p:nvPr/>
        </p:nvSpPr>
        <p:spPr>
          <a:xfrm>
            <a:off x="1280160" y="4663440"/>
            <a:ext cx="4663440" cy="384048"/>
          </a:xfrm>
          <a:prstGeom prst="rect">
            <a:avLst/>
          </a:prstGeom>
          <a:noFill/>
          <a:ln/>
        </p:spPr>
        <p:txBody>
          <a:bodyPr wrap="square" lIns="0" tIns="0" rIns="0" bIns="0" rtlCol="0" anchor="t"/>
          <a:lstStyle/>
          <a:p>
            <a:pPr indent="0" marL="0">
              <a:buNone/>
            </a:pPr>
            <a:r>
              <a:rPr lang="en-US" sz="1600" b="1" dirty="0">
                <a:solidFill>
                  <a:schemeClr val="tx1"/>
                </a:solidFill>
              </a:rPr>
              <a:t>Experts : finalité limitée</a:t>
            </a:r>
            <a:endParaRPr lang="en-US" sz="1600" dirty="0"/>
          </a:p>
        </p:txBody>
      </p:sp>
      <p:sp>
        <p:nvSpPr>
          <p:cNvPr id="26" name="Text 21"/>
          <p:cNvSpPr txBox="1"/>
          <p:nvPr/>
        </p:nvSpPr>
        <p:spPr>
          <a:xfrm>
            <a:off x="1280160" y="5047488"/>
            <a:ext cx="4663440" cy="548640"/>
          </a:xfrm>
          <a:prstGeom prst="rect">
            <a:avLst/>
          </a:prstGeom>
          <a:noFill/>
          <a:ln/>
        </p:spPr>
        <p:txBody>
          <a:bodyPr wrap="square" lIns="0" tIns="0" rIns="0" bIns="0" rtlCol="0" anchor="t"/>
          <a:lstStyle/>
          <a:p>
            <a:pPr indent="0" marL="0">
              <a:buNone/>
            </a:pPr>
            <a:r>
              <a:rPr lang="en-US" sz="1400" dirty="0">
                <a:solidFill>
                  <a:schemeClr val="tx2"/>
                </a:solidFill>
              </a:rPr>
              <a:t>orienter, jamais évaluer ; avis du DPO</a:t>
            </a:r>
            <a:endParaRPr lang="en-US" sz="1400" dirty="0"/>
          </a:p>
        </p:txBody>
      </p:sp>
      <p:sp>
        <p:nvSpPr>
          <p:cNvPr id="27" name="Décision formelle sur le LLM cercle"/>
          <p:cNvSpPr/>
          <p:nvPr/>
        </p:nvSpPr>
        <p:spPr>
          <a:xfrm>
            <a:off x="6126480" y="4663440"/>
            <a:ext cx="566928" cy="566928"/>
          </a:xfrm>
          <a:prstGeom prst="ellipse">
            <a:avLst/>
          </a:prstGeom>
          <a:solidFill>
            <a:schemeClr val="accent2"/>
          </a:solidFill>
          <a:ln w="12700">
            <a:solidFill>
              <a:schemeClr val="accent2"/>
            </a:solidFill>
            <a:prstDash val="solid"/>
          </a:ln>
        </p:spPr>
      </p:sp>
      <p:pic>
        <p:nvPicPr>
          <p:cNvPr id="28" name="Décision formelle sur le LLM icône" descr="Décision formelle sur le LLM">    </p:cNvPr>
          <p:cNvPicPr>
            <a:picLocks noChangeAspect="1"/>
          </p:cNvPicPr>
          <p:nvPr/>
        </p:nvPicPr>
        <p:blipFill>
          <a:blip r:embed="rId4"/>
          <a:stretch>
            <a:fillRect/>
          </a:stretch>
        </p:blipFill>
        <p:spPr>
          <a:xfrm>
            <a:off x="6268212" y="4805172"/>
            <a:ext cx="283464" cy="283464"/>
          </a:xfrm>
          <a:prstGeom prst="rect">
            <a:avLst/>
          </a:prstGeom>
        </p:spPr>
      </p:pic>
      <p:sp>
        <p:nvSpPr>
          <p:cNvPr id="29" name="Text 23"/>
          <p:cNvSpPr txBox="1"/>
          <p:nvPr/>
        </p:nvSpPr>
        <p:spPr>
          <a:xfrm>
            <a:off x="6858000" y="4663440"/>
            <a:ext cx="4663440" cy="384048"/>
          </a:xfrm>
          <a:prstGeom prst="rect">
            <a:avLst/>
          </a:prstGeom>
          <a:noFill/>
          <a:ln/>
        </p:spPr>
        <p:txBody>
          <a:bodyPr wrap="square" lIns="0" tIns="0" rIns="0" bIns="0" rtlCol="0" anchor="t"/>
          <a:lstStyle/>
          <a:p>
            <a:pPr indent="0" marL="0">
              <a:buNone/>
            </a:pPr>
            <a:r>
              <a:rPr lang="en-US" sz="1600" b="1" dirty="0">
                <a:solidFill>
                  <a:schemeClr val="tx1"/>
                </a:solidFill>
              </a:rPr>
              <a:t>Décision formelle sur le LLM</a:t>
            </a:r>
            <a:endParaRPr lang="en-US" sz="1600" dirty="0"/>
          </a:p>
        </p:txBody>
      </p:sp>
      <p:sp>
        <p:nvSpPr>
          <p:cNvPr id="30" name="Text 24"/>
          <p:cNvSpPr txBox="1"/>
          <p:nvPr/>
        </p:nvSpPr>
        <p:spPr>
          <a:xfrm>
            <a:off x="6858000" y="5047488"/>
            <a:ext cx="4663440" cy="548640"/>
          </a:xfrm>
          <a:prstGeom prst="rect">
            <a:avLst/>
          </a:prstGeom>
          <a:noFill/>
          <a:ln/>
        </p:spPr>
        <p:txBody>
          <a:bodyPr wrap="square" lIns="0" tIns="0" rIns="0" bIns="0" rtlCol="0" anchor="t"/>
          <a:lstStyle/>
          <a:p>
            <a:pPr indent="0" marL="0">
              <a:buNone/>
            </a:pPr>
            <a:r>
              <a:rPr lang="en-US" sz="1400" dirty="0">
                <a:solidFill>
                  <a:schemeClr val="tx2"/>
                </a:solidFill>
              </a:rPr>
              <a:t>classification des données, contrat, réévaluation</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Limites assumées et perspectives</a:t>
            </a:r>
            <a:endParaRPr lang="en-US" sz="3000" dirty="0"/>
          </a:p>
        </p:txBody>
      </p:sp>
      <p:sp>
        <p:nvSpPr>
          <p:cNvPr id="3" name="colonne limites"/>
          <p:cNvSpPr/>
          <p:nvPr/>
        </p:nvSpPr>
        <p:spPr>
          <a:xfrm>
            <a:off x="548640" y="1371600"/>
            <a:ext cx="5394960" cy="4526280"/>
          </a:xfrm>
          <a:prstGeom prst="roundRect">
            <a:avLst>
              <a:gd name="adj" fmla="val 1616"/>
            </a:avLst>
          </a:prstGeom>
          <a:solidFill>
            <a:schemeClr val="bg2"/>
          </a:solidFill>
          <a:ln w="12700">
            <a:solidFill>
              <a:schemeClr val="bg2"/>
            </a:solidFill>
            <a:prstDash val="solid"/>
          </a:ln>
        </p:spPr>
      </p:sp>
      <p:sp>
        <p:nvSpPr>
          <p:cNvPr id="4" name="colonne perspectives"/>
          <p:cNvSpPr/>
          <p:nvPr/>
        </p:nvSpPr>
        <p:spPr>
          <a:xfrm>
            <a:off x="6245352" y="1371600"/>
            <a:ext cx="5394960" cy="4526280"/>
          </a:xfrm>
          <a:prstGeom prst="roundRect">
            <a:avLst>
              <a:gd name="adj" fmla="val 1616"/>
            </a:avLst>
          </a:prstGeom>
          <a:solidFill>
            <a:schemeClr val="bg2"/>
          </a:solidFill>
          <a:ln w="12700">
            <a:solidFill>
              <a:schemeClr val="bg2"/>
            </a:solidFill>
            <a:prstDash val="solid"/>
          </a:ln>
        </p:spPr>
      </p:sp>
      <p:sp>
        <p:nvSpPr>
          <p:cNvPr id="5" name="limites cercle"/>
          <p:cNvSpPr/>
          <p:nvPr/>
        </p:nvSpPr>
        <p:spPr>
          <a:xfrm>
            <a:off x="822960" y="1600200"/>
            <a:ext cx="548640" cy="548640"/>
          </a:xfrm>
          <a:prstGeom prst="ellipse">
            <a:avLst/>
          </a:prstGeom>
          <a:solidFill>
            <a:schemeClr val="accent6"/>
          </a:solidFill>
          <a:ln w="12700">
            <a:solidFill>
              <a:schemeClr val="accent6"/>
            </a:solidFill>
            <a:prstDash val="solid"/>
          </a:ln>
        </p:spPr>
      </p:sp>
      <p:pic>
        <p:nvPicPr>
          <p:cNvPr id="6" name="limites icône" descr="limites">    </p:cNvPr>
          <p:cNvPicPr>
            <a:picLocks noChangeAspect="1"/>
          </p:cNvPicPr>
          <p:nvPr/>
        </p:nvPicPr>
        <p:blipFill>
          <a:blip r:embed="rId1"/>
          <a:stretch>
            <a:fillRect/>
          </a:stretch>
        </p:blipFill>
        <p:spPr>
          <a:xfrm>
            <a:off x="960120" y="1737360"/>
            <a:ext cx="274320" cy="274320"/>
          </a:xfrm>
          <a:prstGeom prst="rect">
            <a:avLst/>
          </a:prstGeom>
        </p:spPr>
      </p:pic>
      <p:sp>
        <p:nvSpPr>
          <p:cNvPr id="7" name="Text 4"/>
          <p:cNvSpPr txBox="1"/>
          <p:nvPr/>
        </p:nvSpPr>
        <p:spPr>
          <a:xfrm>
            <a:off x="1508760" y="1600200"/>
            <a:ext cx="4114800" cy="548640"/>
          </a:xfrm>
          <a:prstGeom prst="rect">
            <a:avLst/>
          </a:prstGeom>
          <a:noFill/>
          <a:ln/>
        </p:spPr>
        <p:txBody>
          <a:bodyPr wrap="square" lIns="0" tIns="0" rIns="0" bIns="0" rtlCol="0" anchor="ctr"/>
          <a:lstStyle/>
          <a:p>
            <a:pPr indent="0" marL="0">
              <a:buNone/>
            </a:pPr>
            <a:r>
              <a:rPr lang="en-US" sz="2000" b="1" dirty="0">
                <a:solidFill>
                  <a:schemeClr val="tx1"/>
                </a:solidFill>
              </a:rPr>
              <a:t>Limites</a:t>
            </a:r>
            <a:endParaRPr lang="en-US" sz="2000" dirty="0"/>
          </a:p>
        </p:txBody>
      </p:sp>
      <p:sp>
        <p:nvSpPr>
          <p:cNvPr id="8" name="Text 5"/>
          <p:cNvSpPr txBox="1"/>
          <p:nvPr/>
        </p:nvSpPr>
        <p:spPr>
          <a:xfrm>
            <a:off x="822960" y="2423160"/>
            <a:ext cx="4846320" cy="3291840"/>
          </a:xfrm>
          <a:prstGeom prst="rect">
            <a:avLst/>
          </a:prstGeom>
          <a:noFill/>
          <a:ln/>
        </p:spPr>
        <p:txBody>
          <a:bodyPr wrap="square" lIns="0" tIns="0" rIns="0" bIns="0" rtlCol="0" anchor="t"/>
          <a:lstStyle/>
          <a:p>
            <a:pPr marL="342900" indent="-342900">
              <a:spcAft>
                <a:spcPts val="1400"/>
              </a:spcAft>
              <a:buSzPct val="100000"/>
              <a:buChar char="•"/>
            </a:pPr>
            <a:r>
              <a:rPr lang="en-US" sz="1700" dirty="0">
                <a:solidFill>
                  <a:schemeClr val="tx1"/>
                </a:solidFill>
              </a:rPr>
              <a:t>Aucun LLM évalué : aucune clé disponible</a:t>
            </a:r>
            <a:endParaRPr lang="en-US" sz="1700" dirty="0"/>
          </a:p>
          <a:p>
            <a:pPr marL="342900" indent="-342900">
              <a:spcAft>
                <a:spcPts val="1400"/>
              </a:spcAft>
              <a:buSzPct val="100000"/>
              <a:buChar char="•"/>
            </a:pPr>
            <a:r>
              <a:rPr lang="en-US" sz="1700" dirty="0">
                <a:solidFill>
                  <a:schemeClr val="tx1"/>
                </a:solidFill>
              </a:rPr>
              <a:t>Corpus synthétique, conçu par l'auteure</a:t>
            </a:r>
            <a:endParaRPr lang="en-US" sz="1700" dirty="0"/>
          </a:p>
          <a:p>
            <a:pPr marL="342900" indent="-342900">
              <a:spcAft>
                <a:spcPts val="1400"/>
              </a:spcAft>
              <a:buSzPct val="100000"/>
              <a:buChar char="•"/>
            </a:pPr>
            <a:r>
              <a:rPr lang="en-US" sz="1700" dirty="0">
                <a:solidFill>
                  <a:schemeClr val="tx1"/>
                </a:solidFill>
              </a:rPr>
              <a:t>Encodeurs légers, hors-ligne</a:t>
            </a:r>
            <a:endParaRPr lang="en-US" sz="1700" dirty="0"/>
          </a:p>
          <a:p>
            <a:pPr marL="342900" indent="-342900">
              <a:spcAft>
                <a:spcPts val="1400"/>
              </a:spcAft>
              <a:buSzPct val="100000"/>
              <a:buChar char="•"/>
            </a:pPr>
            <a:r>
              <a:rPr lang="en-US" sz="1700" dirty="0">
                <a:solidFill>
                  <a:schemeClr val="tx1"/>
                </a:solidFill>
              </a:rPr>
              <a:t>Suffisance lexicale : 18 % d'abstentions abusives</a:t>
            </a:r>
            <a:endParaRPr lang="en-US" sz="1700" dirty="0"/>
          </a:p>
          <a:p>
            <a:pPr marL="342900" indent="-342900">
              <a:spcAft>
                <a:spcPts val="1400"/>
              </a:spcAft>
              <a:buSzPct val="100000"/>
              <a:buChar char="•"/>
            </a:pPr>
            <a:r>
              <a:rPr lang="en-US" sz="1700" dirty="0">
                <a:solidFill>
                  <a:schemeClr val="tx1"/>
                </a:solidFill>
              </a:rPr>
              <a:t>Rappel des règles 0,717 sur les documents de test</a:t>
            </a:r>
            <a:endParaRPr lang="en-US" sz="1700" dirty="0"/>
          </a:p>
          <a:p>
            <a:pPr marL="342900" indent="-342900">
              <a:spcAft>
                <a:spcPts val="1400"/>
              </a:spcAft>
              <a:buSzPct val="100000"/>
              <a:buChar char="•"/>
            </a:pPr>
            <a:r>
              <a:rPr lang="en-US" sz="1700" dirty="0">
                <a:solidFill>
                  <a:schemeClr val="tx1"/>
                </a:solidFill>
              </a:rPr>
              <a:t>Aucun déploiement distant ; pas prête pour la production</a:t>
            </a:r>
            <a:endParaRPr lang="en-US" sz="1700" dirty="0"/>
          </a:p>
        </p:txBody>
      </p:sp>
      <p:sp>
        <p:nvSpPr>
          <p:cNvPr id="9" name="perspectives cercle"/>
          <p:cNvSpPr/>
          <p:nvPr/>
        </p:nvSpPr>
        <p:spPr>
          <a:xfrm>
            <a:off x="6519672" y="1600200"/>
            <a:ext cx="548640" cy="548640"/>
          </a:xfrm>
          <a:prstGeom prst="ellipse">
            <a:avLst/>
          </a:prstGeom>
          <a:solidFill>
            <a:schemeClr val="accent1"/>
          </a:solidFill>
          <a:ln w="12700">
            <a:solidFill>
              <a:schemeClr val="accent1"/>
            </a:solidFill>
            <a:prstDash val="solid"/>
          </a:ln>
        </p:spPr>
      </p:sp>
      <p:pic>
        <p:nvPicPr>
          <p:cNvPr id="10" name="perspectives icône" descr="perspectives">    </p:cNvPr>
          <p:cNvPicPr>
            <a:picLocks noChangeAspect="1"/>
          </p:cNvPicPr>
          <p:nvPr/>
        </p:nvPicPr>
        <p:blipFill>
          <a:blip r:embed="rId2"/>
          <a:stretch>
            <a:fillRect/>
          </a:stretch>
        </p:blipFill>
        <p:spPr>
          <a:xfrm>
            <a:off x="6656832" y="1737360"/>
            <a:ext cx="274320" cy="274320"/>
          </a:xfrm>
          <a:prstGeom prst="rect">
            <a:avLst/>
          </a:prstGeom>
        </p:spPr>
      </p:pic>
      <p:sp>
        <p:nvSpPr>
          <p:cNvPr id="11" name="Text 7"/>
          <p:cNvSpPr txBox="1"/>
          <p:nvPr/>
        </p:nvSpPr>
        <p:spPr>
          <a:xfrm>
            <a:off x="7205472" y="1600200"/>
            <a:ext cx="4114800" cy="548640"/>
          </a:xfrm>
          <a:prstGeom prst="rect">
            <a:avLst/>
          </a:prstGeom>
          <a:noFill/>
          <a:ln/>
        </p:spPr>
        <p:txBody>
          <a:bodyPr wrap="square" lIns="0" tIns="0" rIns="0" bIns="0" rtlCol="0" anchor="ctr"/>
          <a:lstStyle/>
          <a:p>
            <a:pPr indent="0" marL="0">
              <a:buNone/>
            </a:pPr>
            <a:r>
              <a:rPr lang="en-US" sz="2000" b="1" dirty="0">
                <a:solidFill>
                  <a:schemeClr val="tx1"/>
                </a:solidFill>
              </a:rPr>
              <a:t>Perspectives</a:t>
            </a:r>
            <a:endParaRPr lang="en-US" sz="2000" dirty="0"/>
          </a:p>
        </p:txBody>
      </p:sp>
      <p:sp>
        <p:nvSpPr>
          <p:cNvPr id="12" name="Text 8"/>
          <p:cNvSpPr txBox="1"/>
          <p:nvPr/>
        </p:nvSpPr>
        <p:spPr>
          <a:xfrm>
            <a:off x="6519672" y="2423160"/>
            <a:ext cx="4846320" cy="3291840"/>
          </a:xfrm>
          <a:prstGeom prst="rect">
            <a:avLst/>
          </a:prstGeom>
          <a:noFill/>
          <a:ln/>
        </p:spPr>
        <p:txBody>
          <a:bodyPr wrap="square" lIns="0" tIns="0" rIns="0" bIns="0" rtlCol="0" anchor="t"/>
          <a:lstStyle/>
          <a:p>
            <a:pPr marL="342900" indent="-342900">
              <a:spcAft>
                <a:spcPts val="1400"/>
              </a:spcAft>
              <a:buSzPct val="100000"/>
              <a:buChar char="•"/>
            </a:pPr>
            <a:r>
              <a:rPr lang="en-US" sz="1700" dirty="0">
                <a:solidFill>
                  <a:schemeClr val="tx1"/>
                </a:solidFill>
              </a:rPr>
              <a:t>Rejouer la campagne avec un LLM, plus une relecture humaine</a:t>
            </a:r>
            <a:endParaRPr lang="en-US" sz="1700" dirty="0"/>
          </a:p>
          <a:p>
            <a:pPr marL="342900" indent="-342900">
              <a:spcAft>
                <a:spcPts val="1400"/>
              </a:spcAft>
              <a:buSzPct val="100000"/>
              <a:buChar char="•"/>
            </a:pPr>
            <a:r>
              <a:rPr lang="en-US" sz="1700" dirty="0">
                <a:solidFill>
                  <a:schemeClr val="tx1"/>
                </a:solidFill>
              </a:rPr>
              <a:t>Pilote sur documents réels, questions des métiers</a:t>
            </a:r>
            <a:endParaRPr lang="en-US" sz="1700" dirty="0"/>
          </a:p>
          <a:p>
            <a:pPr marL="342900" indent="-342900">
              <a:spcAft>
                <a:spcPts val="1400"/>
              </a:spcAft>
              <a:buSzPct val="100000"/>
              <a:buChar char="•"/>
            </a:pPr>
            <a:r>
              <a:rPr lang="en-US" sz="1700" dirty="0">
                <a:solidFill>
                  <a:schemeClr val="tx1"/>
                </a:solidFill>
              </a:rPr>
              <a:t>Encodeur neuronal multilingue</a:t>
            </a:r>
            <a:endParaRPr lang="en-US" sz="1700" dirty="0"/>
          </a:p>
          <a:p>
            <a:pPr marL="342900" indent="-342900">
              <a:spcAft>
                <a:spcPts val="1400"/>
              </a:spcAft>
              <a:buSzPct val="100000"/>
              <a:buChar char="•"/>
            </a:pPr>
            <a:r>
              <a:rPr lang="en-US" sz="1700" dirty="0">
                <a:solidFill>
                  <a:schemeClr val="tx1"/>
                </a:solidFill>
              </a:rPr>
              <a:t>Contrôle de suffisance sémantique</a:t>
            </a:r>
            <a:endParaRPr lang="en-US" sz="1700" dirty="0"/>
          </a:p>
          <a:p>
            <a:pPr marL="342900" indent="-342900">
              <a:spcAft>
                <a:spcPts val="1400"/>
              </a:spcAft>
              <a:buSzPct val="100000"/>
              <a:buChar char="•"/>
            </a:pPr>
            <a:r>
              <a:rPr lang="en-US" sz="1700" dirty="0">
                <a:solidFill>
                  <a:schemeClr val="tx1"/>
                </a:solidFill>
              </a:rPr>
              <a:t>Écran de validation des entités candidates</a:t>
            </a:r>
            <a:endParaRPr lang="en-US" sz="1700" dirty="0"/>
          </a:p>
          <a:p>
            <a:pPr marL="342900" indent="-342900">
              <a:spcAft>
                <a:spcPts val="1400"/>
              </a:spcAft>
              <a:buSzPct val="100000"/>
              <a:buChar char="•"/>
            </a:pPr>
            <a:r>
              <a:rPr lang="en-US" sz="1700" dirty="0">
                <a:solidFill>
                  <a:schemeClr val="tx1"/>
                </a:solidFill>
              </a:rPr>
              <a:t>GraphRAG global : résumés de communautés</a:t>
            </a:r>
            <a:endParaRPr lang="en-US" sz="17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7498080" cy="2011680"/>
          </a:xfrm>
          <a:prstGeom prst="rect">
            <a:avLst/>
          </a:prstGeom>
          <a:noFill/>
          <a:ln/>
        </p:spPr>
        <p:txBody>
          <a:bodyPr wrap="square" lIns="0" tIns="0" rIns="0" bIns="0" rtlCol="0" anchor="b"/>
          <a:lstStyle/>
          <a:p>
            <a:pPr algn="l" indent="0" marL="0">
              <a:buNone/>
            </a:pPr>
            <a:r>
              <a:rPr lang="en-US" sz="3800" b="1" dirty="0">
                <a:solidFill>
                  <a:schemeClr val="bg1"/>
                </a:solidFill>
                <a:latin typeface="Cambria" pitchFamily="34" charset="0"/>
                <a:ea typeface="Cambria" pitchFamily="34" charset="-122"/>
                <a:cs typeface="Cambria" pitchFamily="34" charset="-120"/>
              </a:rPr>
              <a:t>Ce qui fait la valeur d'un assistant documentaire en banque</a:t>
            </a:r>
            <a:endParaRPr lang="en-US" sz="3800" dirty="0"/>
          </a:p>
        </p:txBody>
      </p:sp>
      <p:sp>
        <p:nvSpPr>
          <p:cNvPr id="3" name="Text 0"/>
          <p:cNvSpPr/>
          <p:nvPr>
            <p:ph idx="101" type="body" hasCustomPrompt="1"/>
          </p:nvPr>
        </p:nvSpPr>
        <p:spPr>
          <a:xfrm>
            <a:off x="548640" y="3703320"/>
            <a:ext cx="7498080" cy="1005840"/>
          </a:xfrm>
          <a:prstGeom prst="rect">
            <a:avLst/>
          </a:prstGeom>
          <a:noFill/>
          <a:ln/>
        </p:spPr>
        <p:txBody>
          <a:bodyPr wrap="square" lIns="0" tIns="0" rIns="0" bIns="0" rtlCol="0" anchor="t"/>
          <a:lstStyle/>
          <a:p>
            <a:pPr algn="l" marL="342900" indent="-342900">
              <a:buSzPct val="100000"/>
              <a:buChar char="•"/>
            </a:pPr>
            <a:r>
              <a:rPr lang="en-US" sz="1800" dirty="0">
                <a:solidFill>
                  <a:schemeClr val="bg2"/>
                </a:solidFill>
              </a:rPr>
              <a:t>Une plateforme complète, du fichier brut à la réponse citée</a:t>
            </a:r>
            <a:endParaRPr lang="en-US" sz="1800" dirty="0"/>
          </a:p>
          <a:p>
            <a:pPr algn="l" marL="342900" indent="-342900">
              <a:buSzPct val="100000"/>
              <a:buChar char="•"/>
            </a:pPr>
            <a:r>
              <a:rPr lang="en-US" sz="1800" dirty="0">
                <a:solidFill>
                  <a:schemeClr val="bg2"/>
                </a:solidFill>
              </a:rPr>
              <a:t>Une évaluation honnête : le graphe aide là où on l'attend</a:t>
            </a:r>
            <a:endParaRPr lang="en-US" sz="1800" dirty="0"/>
          </a:p>
          <a:p>
            <a:pPr algn="l" marL="342900" indent="-342900">
              <a:buSzPct val="100000"/>
              <a:buChar char="•"/>
            </a:pPr>
            <a:r>
              <a:rPr lang="en-US" sz="1800" dirty="0">
                <a:solidFill>
                  <a:schemeClr val="bg2"/>
                </a:solidFill>
              </a:rPr>
              <a:t>Des droits, une provenance et une gouvernance pensés dès la conception</a:t>
            </a:r>
            <a:endParaRPr lang="en-US" sz="1800" dirty="0"/>
          </a:p>
        </p:txBody>
      </p:sp>
      <p:sp>
        <p:nvSpPr>
          <p:cNvPr id="4" name="Text 0"/>
          <p:cNvSpPr/>
          <p:nvPr>
            <p:ph idx="102" type="body" hasCustomPrompt="1"/>
          </p:nvPr>
        </p:nvSpPr>
        <p:spPr>
          <a:xfrm>
            <a:off x="548640" y="5577840"/>
            <a:ext cx="8686800" cy="731520"/>
          </a:xfrm>
          <a:prstGeom prst="rect">
            <a:avLst/>
          </a:prstGeom>
          <a:noFill/>
          <a:ln/>
        </p:spPr>
        <p:txBody>
          <a:bodyPr wrap="square" lIns="0" tIns="0" rIns="0" bIns="0" rtlCol="0" anchor="t"/>
          <a:lstStyle/>
          <a:p>
            <a:pPr algn="l" indent="0" marL="0">
              <a:buNone/>
            </a:pPr>
            <a:r>
              <a:rPr lang="en-US" sz="2400" b="1" dirty="0">
                <a:solidFill>
                  <a:schemeClr val="bg1"/>
                </a:solidFill>
              </a:rPr>
              <a:t>Merci de votre attention</a:t>
            </a:r>
            <a:endParaRPr lang="en-US" sz="1300" dirty="0"/>
          </a:p>
        </p:txBody>
      </p:sp>
      <p:sp>
        <p:nvSpPr>
          <p:cNvPr id="5" name="motif final 0"/>
          <p:cNvSpPr/>
          <p:nvPr/>
        </p:nvSpPr>
        <p:spPr>
          <a:xfrm>
            <a:off x="9418320" y="1463040"/>
            <a:ext cx="502920" cy="502920"/>
          </a:xfrm>
          <a:prstGeom prst="ellipse">
            <a:avLst/>
          </a:prstGeom>
          <a:solidFill>
            <a:schemeClr val="accent1"/>
          </a:solidFill>
          <a:ln w="19050">
            <a:solidFill>
              <a:schemeClr val="bg1"/>
            </a:solidFill>
            <a:prstDash val="solid"/>
          </a:ln>
        </p:spPr>
      </p:sp>
      <p:sp>
        <p:nvSpPr>
          <p:cNvPr id="6" name="motif final 1"/>
          <p:cNvSpPr/>
          <p:nvPr/>
        </p:nvSpPr>
        <p:spPr>
          <a:xfrm>
            <a:off x="10881360" y="2103120"/>
            <a:ext cx="384048" cy="384048"/>
          </a:xfrm>
          <a:prstGeom prst="ellipse">
            <a:avLst/>
          </a:prstGeom>
          <a:solidFill>
            <a:schemeClr val="accent2"/>
          </a:solidFill>
          <a:ln w="19050">
            <a:solidFill>
              <a:schemeClr val="bg1"/>
            </a:solidFill>
            <a:prstDash val="solid"/>
          </a:ln>
        </p:spPr>
      </p:sp>
      <p:sp>
        <p:nvSpPr>
          <p:cNvPr id="7" name="motif final 2"/>
          <p:cNvSpPr/>
          <p:nvPr/>
        </p:nvSpPr>
        <p:spPr>
          <a:xfrm>
            <a:off x="9966960" y="3108960"/>
            <a:ext cx="640080" cy="640080"/>
          </a:xfrm>
          <a:prstGeom prst="ellipse">
            <a:avLst/>
          </a:prstGeom>
          <a:solidFill>
            <a:schemeClr val="accent2"/>
          </a:solidFill>
          <a:ln w="19050">
            <a:solidFill>
              <a:schemeClr val="bg1"/>
            </a:solidFill>
            <a:prstDash val="solid"/>
          </a:ln>
        </p:spPr>
      </p:sp>
      <p:sp>
        <p:nvSpPr>
          <p:cNvPr id="8" name="motif final 3"/>
          <p:cNvSpPr/>
          <p:nvPr/>
        </p:nvSpPr>
        <p:spPr>
          <a:xfrm>
            <a:off x="11155680" y="3840480"/>
            <a:ext cx="347472" cy="347472"/>
          </a:xfrm>
          <a:prstGeom prst="ellipse">
            <a:avLst/>
          </a:prstGeom>
          <a:solidFill>
            <a:schemeClr val="accent4"/>
          </a:solidFill>
          <a:ln w="19050">
            <a:solidFill>
              <a:schemeClr val="bg1"/>
            </a:solidFill>
            <a:prstDash val="solid"/>
          </a:ln>
        </p:spPr>
      </p:sp>
      <p:sp>
        <p:nvSpPr>
          <p:cNvPr id="9" name="motif final 4"/>
          <p:cNvSpPr/>
          <p:nvPr/>
        </p:nvSpPr>
        <p:spPr>
          <a:xfrm>
            <a:off x="8778240" y="4114800"/>
            <a:ext cx="411480" cy="411480"/>
          </a:xfrm>
          <a:prstGeom prst="ellipse">
            <a:avLst/>
          </a:prstGeom>
          <a:solidFill>
            <a:schemeClr val="accent3"/>
          </a:solidFill>
          <a:ln w="19050">
            <a:solidFill>
              <a:schemeClr val="bg1"/>
            </a:solidFill>
            <a:prstDash val="solid"/>
          </a:ln>
        </p:spPr>
      </p:sp>
      <p:sp>
        <p:nvSpPr>
          <p:cNvPr id="10" name="motif final 5"/>
          <p:cNvSpPr/>
          <p:nvPr/>
        </p:nvSpPr>
        <p:spPr>
          <a:xfrm>
            <a:off x="10241280" y="4754880"/>
            <a:ext cx="457200" cy="457200"/>
          </a:xfrm>
          <a:prstGeom prst="ellipse">
            <a:avLst/>
          </a:prstGeom>
          <a:solidFill>
            <a:schemeClr val="accent1"/>
          </a:solidFill>
          <a:ln w="19050">
            <a:solidFill>
              <a:schemeClr val="bg1"/>
            </a:solidFill>
            <a:prstDash val="solid"/>
          </a:ln>
        </p:spPr>
      </p:sp>
    </p:spTree>
  </p:cSld>
  <p:clrMapOvr>
    <a:masterClrMapping/>
  </p:clrMapOvr>
</p:sld>
</file>

<file path=ppt/theme/theme1.xml><?xml version="1.0" encoding="utf-8"?>
<a:theme xmlns:a="http://schemas.openxmlformats.org/drawingml/2006/main" name="Orizia Encre et Cuivre">
  <a:themeElements>
    <a:clrScheme name="Orizia Encre et Cuivre">
      <a:dk1>
        <a:srgbClr val="1D2B3A"/>
      </a:dk1>
      <a:lt1>
        <a:srgbClr val="FFFFFF"/>
      </a:lt1>
      <a:dk2>
        <a:srgbClr val="45576A"/>
      </a:dk2>
      <a:lt2>
        <a:srgbClr val="EEF2F5"/>
      </a:lt2>
      <a:accent1>
        <a:srgbClr val="C2643B"/>
      </a:accent1>
      <a:accent2>
        <a:srgbClr val="2E7D7A"/>
      </a:accent2>
      <a:accent3>
        <a:srgbClr val="8A9BAE"/>
      </a:accent3>
      <a:accent4>
        <a:srgbClr val="D9A441"/>
      </a:accent4>
      <a:accent5>
        <a:srgbClr val="5B7FA6"/>
      </a:accent5>
      <a:accent6>
        <a:srgbClr val="B23A48"/>
      </a:accent6>
      <a:hlink>
        <a:srgbClr val="2E7D7A"/>
      </a:hlink>
      <a:folHlink>
        <a:srgbClr val="5B7FA6"/>
      </a:folHlink>
    </a:clrScheme>
    <a:fontScheme name="Orizia Encre et Cuivr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Plateforme de gestion des connaissances fondée sur un Knowledge Graph enrichi par un LLM</dc:title>
  <dc:subject>Soutenance de projet de fin d'études, Master Data Engineering</dc:subject>
  <dc:creator>[Prénom NOM — à compléter]</dc:creator>
  <cp:lastModifiedBy>[Prénom NOM — à compléter]</cp:lastModifiedBy>
  <cp:revision>1</cp:revision>
  <dcterms:created xsi:type="dcterms:W3CDTF">2026-10-15T00:40:00Z</dcterms:created>
  <dcterms:modified xsi:type="dcterms:W3CDTF">2026-10-15T00:40:00Z</dcterms:modified>
</cp:coreProperties>
</file>